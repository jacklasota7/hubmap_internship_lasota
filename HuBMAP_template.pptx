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20"/>
  </p:notesMasterIdLst>
  <p:sldIdLst>
    <p:sldId id="256" r:id="rId3"/>
    <p:sldId id="257" r:id="rId4"/>
    <p:sldId id="265" r:id="rId5"/>
    <p:sldId id="258" r:id="rId6"/>
    <p:sldId id="262" r:id="rId7"/>
    <p:sldId id="270" r:id="rId8"/>
    <p:sldId id="261" r:id="rId9"/>
    <p:sldId id="272" r:id="rId10"/>
    <p:sldId id="260" r:id="rId11"/>
    <p:sldId id="263" r:id="rId12"/>
    <p:sldId id="271" r:id="rId13"/>
    <p:sldId id="266" r:id="rId14"/>
    <p:sldId id="264" r:id="rId15"/>
    <p:sldId id="267" r:id="rId16"/>
    <p:sldId id="274" r:id="rId17"/>
    <p:sldId id="259" r:id="rId18"/>
    <p:sldId id="273" r:id="rId19"/>
  </p:sldIdLst>
  <p:sldSz cx="9144000" cy="5143500" type="screen16x9"/>
  <p:notesSz cx="6858000" cy="9144000"/>
  <p:embeddedFontLst>
    <p:embeddedFont>
      <p:font typeface="Inter" panose="02000503000000020004" pitchFamily="2" charset="0"/>
      <p:regular r:id="rId21"/>
      <p:bold r:id="rId22"/>
      <p:italic r:id="rId23"/>
      <p:boldItalic r:id="rId24"/>
    </p:embeddedFont>
    <p:embeddedFont>
      <p:font typeface="Lato" panose="020F0502020204030203" pitchFamily="34" charset="0"/>
      <p:regular r:id="rId25"/>
      <p:bold r:id="rId26"/>
      <p:italic r:id="rId27"/>
      <p:boldItalic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  <p:embeddedFont>
      <p:font typeface="Open Sans SemiBold" panose="020F0502020204030204" pitchFamily="3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sota, Jack J" initials="LJJ" lastIdx="1" clrIdx="0">
    <p:extLst>
      <p:ext uri="{19B8F6BF-5375-455C-9EA6-DF929625EA0E}">
        <p15:presenceInfo xmlns:p15="http://schemas.microsoft.com/office/powerpoint/2012/main" userId="S::JJL120@pitt.edu::cede5063-ddde-4282-b262-6a766c3c94a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42"/>
    <p:restoredTop sz="94385"/>
  </p:normalViewPr>
  <p:slideViewPr>
    <p:cSldViewPr snapToGrid="0">
      <p:cViewPr>
        <p:scale>
          <a:sx n="143" d="100"/>
          <a:sy n="143" d="100"/>
        </p:scale>
        <p:origin x="1000" y="5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39" Type="http://schemas.openxmlformats.org/officeDocument/2006/relationships/viewProps" Target="viewProps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d5cedad05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g33d5cedad05_0_1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900" b="0" i="1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d5cedad05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g33d5cedad05_0_16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>
          <a:extLst>
            <a:ext uri="{FF2B5EF4-FFF2-40B4-BE49-F238E27FC236}">
              <a16:creationId xmlns:a16="http://schemas.microsoft.com/office/drawing/2014/main" id="{62F2FBC4-C6B3-BA00-62A1-6BA14E994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>
            <a:extLst>
              <a:ext uri="{FF2B5EF4-FFF2-40B4-BE49-F238E27FC236}">
                <a16:creationId xmlns:a16="http://schemas.microsoft.com/office/drawing/2014/main" id="{49A7EF86-A5A6-DE75-2A22-1617DD005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>
            <a:extLst>
              <a:ext uri="{FF2B5EF4-FFF2-40B4-BE49-F238E27FC236}">
                <a16:creationId xmlns:a16="http://schemas.microsoft.com/office/drawing/2014/main" id="{E1420E12-A1C9-C9E3-B57A-0A0E6A5D6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45392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>
          <a:extLst>
            <a:ext uri="{FF2B5EF4-FFF2-40B4-BE49-F238E27FC236}">
              <a16:creationId xmlns:a16="http://schemas.microsoft.com/office/drawing/2014/main" id="{CCD21855-ED44-7263-3777-BC5157E9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>
            <a:extLst>
              <a:ext uri="{FF2B5EF4-FFF2-40B4-BE49-F238E27FC236}">
                <a16:creationId xmlns:a16="http://schemas.microsoft.com/office/drawing/2014/main" id="{2522F1C4-4402-26D6-14E1-21F0863BD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>
            <a:extLst>
              <a:ext uri="{FF2B5EF4-FFF2-40B4-BE49-F238E27FC236}">
                <a16:creationId xmlns:a16="http://schemas.microsoft.com/office/drawing/2014/main" id="{8C5FBDD0-E902-F3E3-C638-EEE1699FA6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2670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2240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3d5cedad05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3d5cedad05_0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>
          <a:extLst>
            <a:ext uri="{FF2B5EF4-FFF2-40B4-BE49-F238E27FC236}">
              <a16:creationId xmlns:a16="http://schemas.microsoft.com/office/drawing/2014/main" id="{EA9D361E-E0B8-9CD8-F79B-9FB021BFF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>
            <a:extLst>
              <a:ext uri="{FF2B5EF4-FFF2-40B4-BE49-F238E27FC236}">
                <a16:creationId xmlns:a16="http://schemas.microsoft.com/office/drawing/2014/main" id="{BC95FE02-76CB-3F4F-CDC0-D7E9B3567B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>
            <a:extLst>
              <a:ext uri="{FF2B5EF4-FFF2-40B4-BE49-F238E27FC236}">
                <a16:creationId xmlns:a16="http://schemas.microsoft.com/office/drawing/2014/main" id="{86D0BDBF-D04B-EC4C-0759-785D390695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5433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44A65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8" name="Google Shape;5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8955329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4" name="Google Shape;64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444A65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8" name="Google Shape;68;p16"/>
          <p:cNvPicPr preferRelativeResize="0"/>
          <p:nvPr/>
        </p:nvPicPr>
        <p:blipFill rotWithShape="1">
          <a:blip r:embed="rId2">
            <a:alphaModFix/>
          </a:blip>
          <a:srcRect r="40419" b="1370"/>
          <a:stretch/>
        </p:blipFill>
        <p:spPr>
          <a:xfrm rot="-5400000">
            <a:off x="4466612" y="-4476012"/>
            <a:ext cx="210775" cy="9143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6"/>
          <p:cNvPicPr preferRelativeResize="0"/>
          <p:nvPr/>
        </p:nvPicPr>
        <p:blipFill rotWithShape="1">
          <a:blip r:embed="rId2">
            <a:alphaModFix/>
          </a:blip>
          <a:srcRect r="43191" b="1370"/>
          <a:stretch/>
        </p:blipFill>
        <p:spPr>
          <a:xfrm rot="5400000">
            <a:off x="4471513" y="482763"/>
            <a:ext cx="200975" cy="9143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uBMAP Portal Style" type="tx">
  <p:cSld name="TITLE_AND_BOD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>
            <a:spLocks noGrp="1"/>
          </p:cNvSpPr>
          <p:nvPr>
            <p:ph type="title"/>
          </p:nvPr>
        </p:nvSpPr>
        <p:spPr>
          <a:xfrm>
            <a:off x="1638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body" idx="1"/>
          </p:nvPr>
        </p:nvSpPr>
        <p:spPr>
          <a:xfrm>
            <a:off x="1648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4" name="Google Shape;74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9400" y="0"/>
            <a:ext cx="196275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8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8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(dark)">
  <p:cSld name="TITLE_ONLY_1">
    <p:bg>
      <p:bgPr>
        <a:solidFill>
          <a:srgbClr val="000000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rgbClr val="444A6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22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5" name="Google Shape;95;p22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" name="Google Shape;9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3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00" name="Google Shape;100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4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" name="Google Shape;107;p25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5" name="Google Shape;115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>
            <a:spLocks noGrp="1"/>
          </p:cNvSpPr>
          <p:nvPr>
            <p:ph type="pic" idx="2"/>
          </p:nvPr>
        </p:nvSpPr>
        <p:spPr>
          <a:xfrm>
            <a:off x="6090761" y="2576036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8"/>
          <p:cNvSpPr>
            <a:spLocks noGrp="1"/>
          </p:cNvSpPr>
          <p:nvPr>
            <p:ph type="pic" idx="3"/>
          </p:nvPr>
        </p:nvSpPr>
        <p:spPr>
          <a:xfrm>
            <a:off x="-8122" y="2576035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28"/>
          <p:cNvSpPr>
            <a:spLocks noGrp="1"/>
          </p:cNvSpPr>
          <p:nvPr>
            <p:ph type="pic" idx="4"/>
          </p:nvPr>
        </p:nvSpPr>
        <p:spPr>
          <a:xfrm>
            <a:off x="3040381" y="2855"/>
            <a:ext cx="3050400" cy="2560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Confidential">
  <p:cSld name="Title - Confidential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1800" y="35775"/>
            <a:ext cx="1995575" cy="798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" name="Google Shape;123;p29"/>
          <p:cNvSpPr txBox="1">
            <a:spLocks noGrp="1"/>
          </p:cNvSpPr>
          <p:nvPr>
            <p:ph type="title"/>
          </p:nvPr>
        </p:nvSpPr>
        <p:spPr>
          <a:xfrm>
            <a:off x="457200" y="222885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4" name="Google Shape;124;p29"/>
          <p:cNvSpPr/>
          <p:nvPr/>
        </p:nvSpPr>
        <p:spPr>
          <a:xfrm>
            <a:off x="7367620" y="4791863"/>
            <a:ext cx="1776300" cy="35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pen Sans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29"/>
          <p:cNvSpPr/>
          <p:nvPr/>
        </p:nvSpPr>
        <p:spPr>
          <a:xfrm>
            <a:off x="4564242" y="4828127"/>
            <a:ext cx="4287900" cy="12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Open Sans SemiBold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6" name="Google Shape;12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800" y="889476"/>
            <a:ext cx="2032225" cy="18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22038" y="37550"/>
            <a:ext cx="4521986" cy="79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Alternative">
  <p:cSld name="Title - Alternativ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60301" y="4804157"/>
            <a:ext cx="983201" cy="206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32188" y="4762526"/>
            <a:ext cx="1641834" cy="28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08280" y="4846354"/>
            <a:ext cx="1363334" cy="122178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0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Open Sans"/>
              <a:buNone/>
              <a:defRPr sz="27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4" name="Google Shape;134;p30"/>
          <p:cNvSpPr txBox="1">
            <a:spLocks noGrp="1"/>
          </p:cNvSpPr>
          <p:nvPr>
            <p:ph type="body" idx="1"/>
          </p:nvPr>
        </p:nvSpPr>
        <p:spPr>
          <a:xfrm>
            <a:off x="457200" y="1028701"/>
            <a:ext cx="82296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nter"/>
              <a:buChar char="●"/>
              <a:defRPr sz="18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/>
          <p:nvPr/>
        </p:nvSpPr>
        <p:spPr>
          <a:xfrm>
            <a:off x="3181091" y="3340431"/>
            <a:ext cx="3479400" cy="15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endParaRPr lang="en" dirty="0"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dirty="0">
                <a:latin typeface="Open Sans SemiBold"/>
                <a:ea typeface="Open Sans SemiBold"/>
                <a:cs typeface="Open Sans SemiBold"/>
                <a:sym typeface="Open Sans SemiBold"/>
              </a:rPr>
              <a:t>Jack Lasota</a:t>
            </a:r>
            <a:endParaRPr sz="1400" b="0" i="0" u="none" strike="noStrike" cap="none" dirty="0">
              <a:solidFill>
                <a:srgbClr val="000000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Pittsburgh Supercomputing Center (PSC)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Carnegie Mellon University / University of Pittsburgh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31"/>
          <p:cNvSpPr txBox="1">
            <a:spLocks noGrp="1"/>
          </p:cNvSpPr>
          <p:nvPr>
            <p:ph type="title"/>
          </p:nvPr>
        </p:nvSpPr>
        <p:spPr>
          <a:xfrm>
            <a:off x="999241" y="1371818"/>
            <a:ext cx="7843100" cy="16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280"/>
              <a:buFont typeface="Open Sans"/>
              <a:buNone/>
            </a:pPr>
            <a:br>
              <a:rPr lang="en" sz="3800" dirty="0">
                <a:solidFill>
                  <a:srgbClr val="BB002A"/>
                </a:solidFill>
              </a:rPr>
            </a:br>
            <a:r>
              <a:rPr lang="en" sz="3800" dirty="0" err="1">
                <a:solidFill>
                  <a:srgbClr val="BB002A"/>
                </a:solidFill>
              </a:rPr>
              <a:t>HuBMAP</a:t>
            </a:r>
            <a:r>
              <a:rPr lang="en" sz="3800" dirty="0">
                <a:solidFill>
                  <a:srgbClr val="BB002A"/>
                </a:solidFill>
              </a:rPr>
              <a:t> Data Processing Pipelines</a:t>
            </a:r>
            <a:endParaRPr b="0" i="1" u="none" strike="noStrike" cap="none" dirty="0">
              <a:solidFill>
                <a:srgbClr val="BB002A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31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pic>
        <p:nvPicPr>
          <p:cNvPr id="143" name="Google Shape;143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138106"/>
            <a:ext cx="1430850" cy="36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>
            <a:spLocks noGrp="1"/>
          </p:cNvSpPr>
          <p:nvPr>
            <p:ph type="title"/>
          </p:nvPr>
        </p:nvSpPr>
        <p:spPr>
          <a:xfrm>
            <a:off x="3628045" y="2254050"/>
            <a:ext cx="1887909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b="1" dirty="0">
                <a:latin typeface=""/>
              </a:rPr>
              <a:t>Overview</a:t>
            </a:r>
            <a:endParaRPr b="1" dirty="0">
              <a:latin typeface="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DC1A-BADD-CF90-9A1A-1CA771AB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Pittsburgh Supercomputing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D0A49-1DEB-AD0F-AE9B-B0BC510BF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1365" y="771449"/>
            <a:ext cx="5204011" cy="3827446"/>
          </a:xfrm>
        </p:spPr>
        <p:txBody>
          <a:bodyPr/>
          <a:lstStyle/>
          <a:p>
            <a:r>
              <a:rPr lang="en-US" sz="1700" dirty="0">
                <a:solidFill>
                  <a:schemeClr val="bg2"/>
                </a:solidFill>
              </a:rPr>
              <a:t>Jointly operated by </a:t>
            </a:r>
            <a:r>
              <a:rPr lang="en-US" sz="1700" b="1" dirty="0">
                <a:solidFill>
                  <a:schemeClr val="bg2"/>
                </a:solidFill>
              </a:rPr>
              <a:t>Carnegie Mellon University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University of Pittsburgh.</a:t>
            </a:r>
            <a:endParaRPr lang="en-US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Provides high-performance computing and networking for university, government, and industry researchers.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Powers computation-heavy research in: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Data analytics, machine learning, AI &amp; deep learning.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Biomolecular simulation and scientific discovery.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Premier supercomputers include </a:t>
            </a:r>
            <a:r>
              <a:rPr lang="en-US" sz="1700" b="1" dirty="0">
                <a:solidFill>
                  <a:schemeClr val="bg2"/>
                </a:solidFill>
              </a:rPr>
              <a:t>Bridges-2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Anton.</a:t>
            </a:r>
            <a:endParaRPr lang="en-US" sz="1700" dirty="0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3272A-CD5B-CE46-1926-0715167792B8}"/>
              </a:ext>
            </a:extLst>
          </p:cNvPr>
          <p:cNvSpPr/>
          <p:nvPr/>
        </p:nvSpPr>
        <p:spPr>
          <a:xfrm>
            <a:off x="5583140" y="1417786"/>
            <a:ext cx="3211235" cy="2299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D0BEE6-023C-2F88-8D37-48C89C6D3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400" y="1525363"/>
            <a:ext cx="3086879" cy="2092773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098428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 dirty="0"/>
              <a:t>Project Introduction</a:t>
            </a:r>
            <a:endParaRPr dirty="0"/>
          </a:p>
        </p:txBody>
      </p:sp>
      <p:sp>
        <p:nvSpPr>
          <p:cNvPr id="156" name="Google Shape;156;p33"/>
          <p:cNvSpPr txBox="1">
            <a:spLocks noGrp="1"/>
          </p:cNvSpPr>
          <p:nvPr>
            <p:ph type="body" idx="1"/>
          </p:nvPr>
        </p:nvSpPr>
        <p:spPr>
          <a:xfrm>
            <a:off x="87119" y="639817"/>
            <a:ext cx="8969762" cy="38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solidFill>
                  <a:schemeClr val="bg2"/>
                </a:solidFill>
              </a:rPr>
              <a:t>Objective:</a:t>
            </a:r>
            <a:r>
              <a:rPr lang="en-US" sz="1800" dirty="0">
                <a:solidFill>
                  <a:schemeClr val="bg2"/>
                </a:solidFill>
              </a:rPr>
              <a:t> Develop pipelines for large-scale biological data and provide accessible tools with spatial maps.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Standardization:</a:t>
            </a:r>
            <a:r>
              <a:rPr lang="en-US" sz="1800" dirty="0">
                <a:solidFill>
                  <a:schemeClr val="bg2"/>
                </a:solidFill>
              </a:rPr>
              <a:t> Uniformly process multimodal data from all tissue mapping centers.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Tools:</a:t>
            </a:r>
            <a:r>
              <a:rPr lang="en-US" sz="1800" dirty="0">
                <a:solidFill>
                  <a:schemeClr val="bg2"/>
                </a:solidFill>
              </a:rPr>
              <a:t> Use Python (</a:t>
            </a:r>
            <a:r>
              <a:rPr lang="en-US" sz="1800" dirty="0" err="1">
                <a:solidFill>
                  <a:schemeClr val="bg2"/>
                </a:solidFill>
              </a:rPr>
              <a:t>Jupyter</a:t>
            </a:r>
            <a:r>
              <a:rPr lang="en-US" sz="1800" dirty="0">
                <a:solidFill>
                  <a:schemeClr val="bg2"/>
                </a:solidFill>
              </a:rPr>
              <a:t>) and domain-specific libraries for analysis.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Environment:</a:t>
            </a:r>
            <a:r>
              <a:rPr lang="en-US" sz="1800" dirty="0">
                <a:solidFill>
                  <a:schemeClr val="bg2"/>
                </a:solidFill>
              </a:rPr>
              <a:t> Run pipelines on UNIX systems for high-throughput processing.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Data Products:</a:t>
            </a:r>
            <a:r>
              <a:rPr lang="en-US" sz="1800" dirty="0">
                <a:solidFill>
                  <a:schemeClr val="bg2"/>
                </a:solidFill>
              </a:rPr>
              <a:t> Combine all datasets by assay and tissue.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132D9B-C05B-0465-C587-A2DDA1BF3ADA}"/>
              </a:ext>
            </a:extLst>
          </p:cNvPr>
          <p:cNvSpPr/>
          <p:nvPr/>
        </p:nvSpPr>
        <p:spPr>
          <a:xfrm>
            <a:off x="3485271" y="799244"/>
            <a:ext cx="5564460" cy="35450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8FDAE75-81CD-0D9A-C4C5-A3D410E2D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261" y="887145"/>
            <a:ext cx="5246410" cy="2742069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3FDEF0-0E9E-89FE-9528-247524E87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HuBMAP</a:t>
            </a:r>
            <a:r>
              <a:rPr lang="en-US" dirty="0"/>
              <a:t> Consortium Data Portal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7383-628D-B6F7-86C1-EB41F28BEB35}"/>
              </a:ext>
            </a:extLst>
          </p:cNvPr>
          <p:cNvSpPr txBox="1"/>
          <p:nvPr/>
        </p:nvSpPr>
        <p:spPr>
          <a:xfrm>
            <a:off x="94269" y="799244"/>
            <a:ext cx="3391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Data Portal:</a:t>
            </a:r>
            <a:r>
              <a:rPr lang="en-US" sz="1600" dirty="0">
                <a:latin typeface=""/>
              </a:rPr>
              <a:t> Centralized access to datasets with tools for analysis and visualization.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Discovery:</a:t>
            </a:r>
            <a:r>
              <a:rPr lang="en-US" sz="1600" dirty="0">
                <a:latin typeface=""/>
              </a:rPr>
              <a:t> Search or browse by organ, cell type, or molecule.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Visualization:</a:t>
            </a:r>
            <a:r>
              <a:rPr lang="en-US" sz="1600" dirty="0">
                <a:latin typeface=""/>
              </a:rPr>
              <a:t> Interactive tools for spatial and single-cell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Access:</a:t>
            </a:r>
            <a:r>
              <a:rPr lang="en-US" sz="1600" dirty="0">
                <a:latin typeface=""/>
              </a:rPr>
              <a:t> Download raw and processed datasets.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3BE830-49FD-7739-F496-9FDFA3CF5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262" y="3629214"/>
            <a:ext cx="5246411" cy="514354"/>
          </a:xfrm>
          <a:prstGeom prst="rect">
            <a:avLst/>
          </a:prstGeom>
          <a:effectLst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3295762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A56A5B44-32E4-20E1-DA63-C1672EB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>
            <a:extLst>
              <a:ext uri="{FF2B5EF4-FFF2-40B4-BE49-F238E27FC236}">
                <a16:creationId xmlns:a16="http://schemas.microsoft.com/office/drawing/2014/main" id="{6890CAFF-B524-28D6-D00E-CDEC69D1B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016" y="1869975"/>
            <a:ext cx="7073967" cy="140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b="1" dirty="0">
                <a:latin typeface=""/>
              </a:rPr>
              <a:t>Data Interpretation and Sequencing Pipelines </a:t>
            </a:r>
            <a:endParaRPr b="1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411541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1F9-028C-E2EC-772C-06B23465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0" y="6545"/>
            <a:ext cx="9144000" cy="601500"/>
          </a:xfrm>
        </p:spPr>
        <p:txBody>
          <a:bodyPr/>
          <a:lstStyle/>
          <a:p>
            <a:r>
              <a:rPr lang="en-US" dirty="0"/>
              <a:t>Raw Heart Data - </a:t>
            </a:r>
            <a:r>
              <a:rPr lang="en-US" dirty="0" err="1"/>
              <a:t>scRNAseq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6C64C8-C76C-B86B-D5DD-AEBEAF017869}"/>
              </a:ext>
            </a:extLst>
          </p:cNvPr>
          <p:cNvSpPr/>
          <p:nvPr/>
        </p:nvSpPr>
        <p:spPr>
          <a:xfrm>
            <a:off x="108466" y="912710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746E78-4921-1425-1910-B448A9B74A93}"/>
              </a:ext>
            </a:extLst>
          </p:cNvPr>
          <p:cNvSpPr/>
          <p:nvPr/>
        </p:nvSpPr>
        <p:spPr>
          <a:xfrm>
            <a:off x="4938462" y="912711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8C8665-D41C-8027-0B8D-5FF21F99E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43" y="1190883"/>
            <a:ext cx="3830131" cy="1793654"/>
          </a:xfrm>
          <a:prstGeom prst="rect">
            <a:avLst/>
          </a:prstGeom>
          <a:effectLst>
            <a:softEdge rad="56070"/>
          </a:effectLst>
        </p:spPr>
      </p:pic>
      <p:pic>
        <p:nvPicPr>
          <p:cNvPr id="15" name="Picture 1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4AF36DA-ED82-58D2-AA11-3FE1A565C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662" y="1206573"/>
            <a:ext cx="1994084" cy="1931475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BD5B26C-B633-C406-0CBF-C2B7ED6B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9" y="1008412"/>
            <a:ext cx="1603812" cy="2189047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CF00EB-EC3A-2936-6486-86A0EF59346B}"/>
              </a:ext>
            </a:extLst>
          </p:cNvPr>
          <p:cNvSpPr txBox="1"/>
          <p:nvPr/>
        </p:nvSpPr>
        <p:spPr>
          <a:xfrm>
            <a:off x="124272" y="3536021"/>
            <a:ext cx="889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"/>
              </a:rPr>
              <a:t>HuBMAP</a:t>
            </a:r>
            <a:r>
              <a:rPr lang="en-US" sz="1800" dirty="0">
                <a:latin typeface=""/>
              </a:rPr>
              <a:t> raw heart data was read using the </a:t>
            </a:r>
            <a:r>
              <a:rPr lang="en-US" sz="1800" dirty="0" err="1">
                <a:latin typeface=""/>
              </a:rPr>
              <a:t>AnnData</a:t>
            </a:r>
            <a:r>
              <a:rPr lang="en-US" sz="1800" dirty="0">
                <a:latin typeface=""/>
              </a:rPr>
              <a:t> Python package, which provides tools for interpreting and working with complex biological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The pandas library enables targeted analysis of specific data points.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52EFF39-B3DB-848E-7871-C4B1AFBC0F48}"/>
              </a:ext>
            </a:extLst>
          </p:cNvPr>
          <p:cNvSpPr/>
          <p:nvPr/>
        </p:nvSpPr>
        <p:spPr>
          <a:xfrm>
            <a:off x="4219534" y="2014837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652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B811-EF18-FD6E-3E02-A7ECDEEAF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Operation</a:t>
            </a:r>
          </a:p>
        </p:txBody>
      </p:sp>
      <p:pic>
        <p:nvPicPr>
          <p:cNvPr id="7" name="Picture 6" descr="A diagram of a company's process&#10;&#10;AI-generated content may be incorrect.">
            <a:extLst>
              <a:ext uri="{FF2B5EF4-FFF2-40B4-BE49-F238E27FC236}">
                <a16:creationId xmlns:a16="http://schemas.microsoft.com/office/drawing/2014/main" id="{82164E4C-99E4-4C5D-D042-DB23B4A95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80" y="721137"/>
            <a:ext cx="5118265" cy="2634384"/>
          </a:xfrm>
          <a:prstGeom prst="rect">
            <a:avLst/>
          </a:prstGeom>
          <a:ln w="25400">
            <a:solidFill>
              <a:schemeClr val="bg2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1EBAEE-A056-8F8E-4826-7C9414722497}"/>
              </a:ext>
            </a:extLst>
          </p:cNvPr>
          <p:cNvSpPr txBox="1"/>
          <p:nvPr/>
        </p:nvSpPr>
        <p:spPr>
          <a:xfrm>
            <a:off x="2090057" y="597328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9" name="Picture 8" descr="A diagram of a network&#10;&#10;AI-generated content may be incorrect.">
            <a:extLst>
              <a:ext uri="{FF2B5EF4-FFF2-40B4-BE49-F238E27FC236}">
                <a16:creationId xmlns:a16="http://schemas.microsoft.com/office/drawing/2014/main" id="{A107F448-C9E5-6118-F5EE-5CB44280F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149" y="1024326"/>
            <a:ext cx="3574471" cy="1986300"/>
          </a:xfrm>
          <a:prstGeom prst="rect">
            <a:avLst/>
          </a:prstGeom>
          <a:ln w="25400">
            <a:solidFill>
              <a:schemeClr val="bg2"/>
            </a:solidFill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B548FF-4863-D3A9-01F4-C709605EE0E8}"/>
              </a:ext>
            </a:extLst>
          </p:cNvPr>
          <p:cNvSpPr/>
          <p:nvPr/>
        </p:nvSpPr>
        <p:spPr>
          <a:xfrm>
            <a:off x="917214" y="770627"/>
            <a:ext cx="2530415" cy="414068"/>
          </a:xfrm>
          <a:prstGeom prst="rect">
            <a:avLst/>
          </a:prstGeom>
          <a:solidFill>
            <a:srgbClr val="FFFF00">
              <a:alpha val="4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F73654-5E31-621C-B81A-77E00F95977C}"/>
              </a:ext>
            </a:extLst>
          </p:cNvPr>
          <p:cNvSpPr txBox="1"/>
          <p:nvPr/>
        </p:nvSpPr>
        <p:spPr>
          <a:xfrm>
            <a:off x="154380" y="3457454"/>
            <a:ext cx="88352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heart data was processed using Salmon-Alevin for rapid single-cell RNA quantification, followed by filtering to remove low-quality cells and genes. This produced a clean, high-quality dataset ready for integration and analysis.</a:t>
            </a:r>
          </a:p>
        </p:txBody>
      </p:sp>
    </p:spTree>
    <p:extLst>
      <p:ext uri="{BB962C8B-B14F-4D97-AF65-F5344CB8AC3E}">
        <p14:creationId xmlns:p14="http://schemas.microsoft.com/office/powerpoint/2010/main" val="1138277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79CFD-F975-8A6D-0633-A0038388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Processed Heart Data – Pipeline Results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EF5D1-0974-BD74-BAE3-9C7DFBAE3112}"/>
              </a:ext>
            </a:extLst>
          </p:cNvPr>
          <p:cNvSpPr/>
          <p:nvPr/>
        </p:nvSpPr>
        <p:spPr>
          <a:xfrm>
            <a:off x="474491" y="3389515"/>
            <a:ext cx="4547425" cy="1223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49BE27-3939-FFA1-4921-41B172AEE078}"/>
              </a:ext>
            </a:extLst>
          </p:cNvPr>
          <p:cNvSpPr/>
          <p:nvPr/>
        </p:nvSpPr>
        <p:spPr>
          <a:xfrm>
            <a:off x="507452" y="660939"/>
            <a:ext cx="3637621" cy="25728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5CC84C-E73B-84D9-DE95-250F9DB6AD98}"/>
              </a:ext>
            </a:extLst>
          </p:cNvPr>
          <p:cNvSpPr/>
          <p:nvPr/>
        </p:nvSpPr>
        <p:spPr>
          <a:xfrm>
            <a:off x="5021917" y="671003"/>
            <a:ext cx="3126004" cy="2572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ECB104-444A-6533-BF6D-3CD5EEBE7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25" y="3492460"/>
            <a:ext cx="4451155" cy="1017377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DE5F52-C0EE-AA73-7FFC-7967D43A9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97" y="755921"/>
            <a:ext cx="3423530" cy="2425473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398F55-D517-C99B-BF2A-2157979A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050" y="733489"/>
            <a:ext cx="2903738" cy="2447905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D32D7E-5780-63F2-22F2-9D878B8963DF}"/>
              </a:ext>
            </a:extLst>
          </p:cNvPr>
          <p:cNvSpPr txBox="1"/>
          <p:nvPr/>
        </p:nvSpPr>
        <p:spPr>
          <a:xfrm>
            <a:off x="5133050" y="3270044"/>
            <a:ext cx="366602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After processing, about 99% of cells and 75% of genes were filtered out.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Pipeline utilizes Leiden clustering, viewed with UMAPs plotted by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. Another valuable tool in the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 kit (more on </a:t>
            </a:r>
            <a:r>
              <a:rPr lang="en-US" sz="1200" dirty="0" err="1">
                <a:latin typeface=""/>
              </a:rPr>
              <a:t>scanp</a:t>
            </a:r>
            <a:r>
              <a:rPr lang="en-US" sz="1200" dirty="0">
                <a:latin typeface="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Metadata gives an overview of the data 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5FBE6874-E904-6744-3A34-0F91115D1594}"/>
              </a:ext>
            </a:extLst>
          </p:cNvPr>
          <p:cNvSpPr/>
          <p:nvPr/>
        </p:nvSpPr>
        <p:spPr>
          <a:xfrm rot="18883916">
            <a:off x="33735" y="2940831"/>
            <a:ext cx="553327" cy="652144"/>
          </a:xfrm>
          <a:prstGeom prst="ben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A18DB5E4-7940-6917-0A4E-0CE23C83D4AA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79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9578-7F69-701A-95ED-47B5D118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B76799-8B39-6F21-EFEC-3A8E6BA947D6}"/>
              </a:ext>
            </a:extLst>
          </p:cNvPr>
          <p:cNvSpPr/>
          <p:nvPr/>
        </p:nvSpPr>
        <p:spPr>
          <a:xfrm>
            <a:off x="86264" y="688259"/>
            <a:ext cx="4070555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9CF1F942-7EFD-9EEA-697C-AA83934D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8" y="812990"/>
            <a:ext cx="3918722" cy="2042021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4B5B5A-7BA9-E2AE-4501-76F39E862769}"/>
              </a:ext>
            </a:extLst>
          </p:cNvPr>
          <p:cNvSpPr/>
          <p:nvPr/>
        </p:nvSpPr>
        <p:spPr>
          <a:xfrm>
            <a:off x="155358" y="2391755"/>
            <a:ext cx="3918722" cy="223100"/>
          </a:xfrm>
          <a:prstGeom prst="rect">
            <a:avLst/>
          </a:prstGeom>
          <a:solidFill>
            <a:srgbClr val="FFFF00">
              <a:alpha val="45592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A954B2-D664-F146-DC77-E6D2556962F8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8B18E9-6A35-2DA2-A0F6-E8F0058753CE}"/>
              </a:ext>
            </a:extLst>
          </p:cNvPr>
          <p:cNvSpPr/>
          <p:nvPr/>
        </p:nvSpPr>
        <p:spPr>
          <a:xfrm>
            <a:off x="4987181" y="688259"/>
            <a:ext cx="4001461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F282E-B41D-720C-EEBC-DF5ADD527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758" y="764245"/>
            <a:ext cx="3771057" cy="2090766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7" name="Right Arrow 16">
            <a:extLst>
              <a:ext uri="{FF2B5EF4-FFF2-40B4-BE49-F238E27FC236}">
                <a16:creationId xmlns:a16="http://schemas.microsoft.com/office/drawing/2014/main" id="{8D88E4EA-0ED9-7CF5-BC97-53E204A19A5D}"/>
              </a:ext>
            </a:extLst>
          </p:cNvPr>
          <p:cNvSpPr/>
          <p:nvPr/>
        </p:nvSpPr>
        <p:spPr>
          <a:xfrm rot="9183329">
            <a:off x="4235779" y="2981011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0892A1-DBCA-3D2E-0756-BE3905DCDC05}"/>
              </a:ext>
            </a:extLst>
          </p:cNvPr>
          <p:cNvSpPr/>
          <p:nvPr/>
        </p:nvSpPr>
        <p:spPr>
          <a:xfrm>
            <a:off x="86264" y="3094892"/>
            <a:ext cx="4070555" cy="16529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CF0B7C8-2FA6-8E66-62EC-3DACDDF34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523" y="3185336"/>
            <a:ext cx="3470031" cy="1472066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DD9DF45-44A2-1044-A0B0-5493D2AEC240}"/>
              </a:ext>
            </a:extLst>
          </p:cNvPr>
          <p:cNvSpPr txBox="1"/>
          <p:nvPr/>
        </p:nvSpPr>
        <p:spPr>
          <a:xfrm>
            <a:off x="4887794" y="3185336"/>
            <a:ext cx="40841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Metadata is integrated into the user interface, with tissue type overviews provided. Shiny app enables both gene and cell-level insights/comparisons.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EEFB31-4A54-501A-E4C8-950DAAD42B28}"/>
              </a:ext>
            </a:extLst>
          </p:cNvPr>
          <p:cNvSpPr/>
          <p:nvPr/>
        </p:nvSpPr>
        <p:spPr>
          <a:xfrm>
            <a:off x="6770760" y="1405784"/>
            <a:ext cx="431563" cy="115367"/>
          </a:xfrm>
          <a:prstGeom prst="rect">
            <a:avLst/>
          </a:prstGeom>
          <a:solidFill>
            <a:srgbClr val="FFFF00">
              <a:alpha val="46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296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A4F37D76-66D5-542D-E6A0-6567AE422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>
            <a:extLst>
              <a:ext uri="{FF2B5EF4-FFF2-40B4-BE49-F238E27FC236}">
                <a16:creationId xmlns:a16="http://schemas.microsoft.com/office/drawing/2014/main" id="{9979281D-DD56-2571-ADC3-E3EE884CCD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38481" y="2254050"/>
            <a:ext cx="5067037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b="1" dirty="0">
                <a:latin typeface=""/>
              </a:rPr>
              <a:t>Python Toolkit Utilization</a:t>
            </a:r>
            <a:endParaRPr b="1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216416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07D1D-372F-232A-B5DB-699B7EA2C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Scanpy</a:t>
            </a:r>
            <a:r>
              <a:rPr lang="en-US" dirty="0"/>
              <a:t>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2F891-925B-9095-9BD4-EDEDA331D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771449"/>
            <a:ext cx="8259288" cy="3753049"/>
          </a:xfrm>
        </p:spPr>
        <p:txBody>
          <a:bodyPr/>
          <a:lstStyle/>
          <a:p>
            <a:r>
              <a:rPr lang="en-US" sz="1800" b="1" dirty="0" err="1">
                <a:solidFill>
                  <a:schemeClr val="bg2"/>
                </a:solidFill>
              </a:rPr>
              <a:t>Scanpy</a:t>
            </a:r>
            <a:r>
              <a:rPr lang="en-US" sz="1800" b="1" dirty="0">
                <a:solidFill>
                  <a:schemeClr val="bg2"/>
                </a:solidFill>
              </a:rPr>
              <a:t>:</a:t>
            </a:r>
            <a:r>
              <a:rPr lang="en-US" sz="1800" dirty="0">
                <a:solidFill>
                  <a:schemeClr val="bg2"/>
                </a:solidFill>
              </a:rPr>
              <a:t> Python toolkit for analysis of large single-cell gene expression datasets. </a:t>
            </a:r>
          </a:p>
          <a:p>
            <a:r>
              <a:rPr lang="en-US" sz="1800" dirty="0">
                <a:solidFill>
                  <a:schemeClr val="bg2"/>
                </a:solidFill>
              </a:rPr>
              <a:t>Pre-processing data includes: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Filters low-quality cells and genes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Normalizes data and visualizes gene/cell counts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Identifies highly variable genes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Computes PCA to capture major variation</a:t>
            </a:r>
          </a:p>
          <a:p>
            <a:r>
              <a:rPr lang="en-US" sz="1800" dirty="0">
                <a:solidFill>
                  <a:schemeClr val="bg2"/>
                </a:solidFill>
              </a:rPr>
              <a:t>Integrating data: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Aligns multiple datasets in a shared feature space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Projects new cells into existing PCA/UMAP embeddings</a:t>
            </a:r>
          </a:p>
          <a:p>
            <a:pPr lvl="1"/>
            <a:r>
              <a:rPr lang="en-US" sz="1800" dirty="0">
                <a:solidFill>
                  <a:schemeClr val="bg2"/>
                </a:solidFill>
              </a:rPr>
              <a:t>Transfers annotations (e.g., cell types) from reference to new data</a:t>
            </a:r>
          </a:p>
        </p:txBody>
      </p:sp>
    </p:spTree>
    <p:extLst>
      <p:ext uri="{BB962C8B-B14F-4D97-AF65-F5344CB8AC3E}">
        <p14:creationId xmlns:p14="http://schemas.microsoft.com/office/powerpoint/2010/main" val="795554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138207B-8FEC-24EF-8D3A-7A15723DCF61}"/>
              </a:ext>
            </a:extLst>
          </p:cNvPr>
          <p:cNvSpPr/>
          <p:nvPr/>
        </p:nvSpPr>
        <p:spPr>
          <a:xfrm>
            <a:off x="58552" y="767810"/>
            <a:ext cx="1999224" cy="2039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3D45E-3DF2-336B-CD17-BC999D0AB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Pre-processing with </a:t>
            </a:r>
            <a:r>
              <a:rPr lang="en-US" dirty="0" err="1"/>
              <a:t>Scanpy</a:t>
            </a:r>
            <a:endParaRPr lang="en-US" dirty="0"/>
          </a:p>
        </p:txBody>
      </p:sp>
      <p:pic>
        <p:nvPicPr>
          <p:cNvPr id="5" name="Picture 4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BA81AF53-7067-28C4-204A-64616BE0F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7" y="1141178"/>
            <a:ext cx="1931313" cy="1601877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630A48-2F30-01E3-1107-F24D7D384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6" y="853406"/>
            <a:ext cx="1962594" cy="287772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701A205-FEA3-B77D-4021-A098A4DAB0F1}"/>
              </a:ext>
            </a:extLst>
          </p:cNvPr>
          <p:cNvSpPr/>
          <p:nvPr/>
        </p:nvSpPr>
        <p:spPr>
          <a:xfrm>
            <a:off x="2939840" y="767810"/>
            <a:ext cx="2256482" cy="2039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9EC87B-9892-EDAE-474E-1F4AB58EA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463" y="811194"/>
            <a:ext cx="2041236" cy="1945544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0E55BDC-063B-6352-56B0-42645E15A7BE}"/>
              </a:ext>
            </a:extLst>
          </p:cNvPr>
          <p:cNvSpPr/>
          <p:nvPr/>
        </p:nvSpPr>
        <p:spPr>
          <a:xfrm>
            <a:off x="6061097" y="820221"/>
            <a:ext cx="3024351" cy="19365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Picture 15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A553DA06-0665-0BFC-4E98-E4519FE32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3506" y="936569"/>
            <a:ext cx="2927887" cy="169389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E68DF03-721B-F144-4133-225399F21F01}"/>
              </a:ext>
            </a:extLst>
          </p:cNvPr>
          <p:cNvSpPr/>
          <p:nvPr/>
        </p:nvSpPr>
        <p:spPr>
          <a:xfrm>
            <a:off x="2123849" y="2923228"/>
            <a:ext cx="6849545" cy="1789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C84DCDC-E6A9-0CCD-29B2-D5262CBA5A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2679" y="2996672"/>
            <a:ext cx="6612471" cy="1649645"/>
          </a:xfrm>
          <a:prstGeom prst="rect">
            <a:avLst/>
          </a:prstGeom>
        </p:spPr>
      </p:pic>
      <p:sp>
        <p:nvSpPr>
          <p:cNvPr id="21" name="Plus 20">
            <a:extLst>
              <a:ext uri="{FF2B5EF4-FFF2-40B4-BE49-F238E27FC236}">
                <a16:creationId xmlns:a16="http://schemas.microsoft.com/office/drawing/2014/main" id="{BB9947BB-0195-D515-AB25-76C9C72EA490}"/>
              </a:ext>
            </a:extLst>
          </p:cNvPr>
          <p:cNvSpPr/>
          <p:nvPr/>
        </p:nvSpPr>
        <p:spPr>
          <a:xfrm>
            <a:off x="2100617" y="1496122"/>
            <a:ext cx="711181" cy="723482"/>
          </a:xfrm>
          <a:prstGeom prst="mathPlu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3" name="Equal 22">
            <a:extLst>
              <a:ext uri="{FF2B5EF4-FFF2-40B4-BE49-F238E27FC236}">
                <a16:creationId xmlns:a16="http://schemas.microsoft.com/office/drawing/2014/main" id="{101AEF14-F9E6-1F70-8967-E973AF967A87}"/>
              </a:ext>
            </a:extLst>
          </p:cNvPr>
          <p:cNvSpPr/>
          <p:nvPr/>
        </p:nvSpPr>
        <p:spPr>
          <a:xfrm>
            <a:off x="709864" y="3404935"/>
            <a:ext cx="733926" cy="788905"/>
          </a:xfrm>
          <a:prstGeom prst="mathEqual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Plus 23">
            <a:extLst>
              <a:ext uri="{FF2B5EF4-FFF2-40B4-BE49-F238E27FC236}">
                <a16:creationId xmlns:a16="http://schemas.microsoft.com/office/drawing/2014/main" id="{3699A3A1-8CB3-6627-1A75-929227700E3E}"/>
              </a:ext>
            </a:extLst>
          </p:cNvPr>
          <p:cNvSpPr/>
          <p:nvPr/>
        </p:nvSpPr>
        <p:spPr>
          <a:xfrm>
            <a:off x="5273119" y="1496122"/>
            <a:ext cx="711181" cy="723482"/>
          </a:xfrm>
          <a:prstGeom prst="mathPlu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97338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AD514-004F-8EF9-CBD0-B92ED9CE7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with </a:t>
            </a:r>
            <a:r>
              <a:rPr lang="en-US" dirty="0" err="1"/>
              <a:t>Scanpy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4F7570-C9AE-8B45-A068-FAE054778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a single batch of datasets you will regularly do analysis like this. To compare similar aspects of the two  </a:t>
            </a:r>
          </a:p>
        </p:txBody>
      </p:sp>
    </p:spTree>
    <p:extLst>
      <p:ext uri="{BB962C8B-B14F-4D97-AF65-F5344CB8AC3E}">
        <p14:creationId xmlns:p14="http://schemas.microsoft.com/office/powerpoint/2010/main" val="578502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97279-505C-05ED-E212-6FA4EC3F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Refrences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29DFA7-2625-BE8D-D1E6-11E3E2495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8640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4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162" name="Google Shape;162;p34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163" name="Google Shape;163;p34"/>
          <p:cNvSpPr txBox="1">
            <a:spLocks noGrp="1"/>
          </p:cNvSpPr>
          <p:nvPr>
            <p:ph type="body" idx="1"/>
          </p:nvPr>
        </p:nvSpPr>
        <p:spPr>
          <a:xfrm>
            <a:off x="285750" y="1009400"/>
            <a:ext cx="8675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chemeClr val="dk1"/>
                </a:solidFill>
              </a:rPr>
              <a:t>Nick Nystrom (PI, PSC): </a:t>
            </a:r>
            <a:r>
              <a:rPr lang="en" sz="1200">
                <a:solidFill>
                  <a:schemeClr val="dk1"/>
                </a:solidFill>
              </a:rPr>
              <a:t>PSC Chief Scientist  			</a:t>
            </a:r>
            <a:r>
              <a:rPr lang="en" sz="1200" b="1">
                <a:solidFill>
                  <a:schemeClr val="dk1"/>
                </a:solidFill>
              </a:rPr>
              <a:t>Jonathan C. Silverstein (PI, Pitt): </a:t>
            </a:r>
            <a:r>
              <a:rPr lang="en" sz="1200">
                <a:solidFill>
                  <a:schemeClr val="dk1"/>
                </a:solidFill>
              </a:rPr>
              <a:t>Professor and CRIO, DBMI</a:t>
            </a:r>
            <a:endParaRPr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46E758FA-1608-B96E-840B-BDBBB6C0F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>
            <a:extLst>
              <a:ext uri="{FF2B5EF4-FFF2-40B4-BE49-F238E27FC236}">
                <a16:creationId xmlns:a16="http://schemas.microsoft.com/office/drawing/2014/main" id="{6679DA46-0C85-354A-BB0E-E4E1309674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0243" y="2254050"/>
            <a:ext cx="2343514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b="1" dirty="0">
                <a:latin typeface=""/>
              </a:rPr>
              <a:t>Thank you!</a:t>
            </a:r>
            <a:endParaRPr b="1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6643312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wiss">
  <a:themeElements>
    <a:clrScheme name="Swiss">
      <a:dk1>
        <a:srgbClr val="444A65"/>
      </a:dk1>
      <a:lt1>
        <a:srgbClr val="FFFFFF"/>
      </a:lt1>
      <a:dk2>
        <a:srgbClr val="000000"/>
      </a:dk2>
      <a:lt2>
        <a:srgbClr val="757575"/>
      </a:lt2>
      <a:accent1>
        <a:srgbClr val="444A65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9A220B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2983</TotalTime>
  <Words>503</Words>
  <Application>Microsoft Macintosh PowerPoint</Application>
  <PresentationFormat>On-screen Show (16:9)</PresentationFormat>
  <Paragraphs>71</Paragraphs>
  <Slides>17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Calibri</vt:lpstr>
      <vt:lpstr>Lato</vt:lpstr>
      <vt:lpstr>Open Sans</vt:lpstr>
      <vt:lpstr>Arial</vt:lpstr>
      <vt:lpstr>Open Sans SemiBold</vt:lpstr>
      <vt:lpstr>Inter</vt:lpstr>
      <vt:lpstr>Simple Light</vt:lpstr>
      <vt:lpstr>Swiss</vt:lpstr>
      <vt:lpstr> HuBMAP Data Processing Pipelines</vt:lpstr>
      <vt:lpstr>Overview</vt:lpstr>
      <vt:lpstr>Pittsburgh Supercomputing Center</vt:lpstr>
      <vt:lpstr>Project Introduction</vt:lpstr>
      <vt:lpstr>HuBMAP Consortium Data Portal</vt:lpstr>
      <vt:lpstr>Data Interpretation and Sequencing Pipelines </vt:lpstr>
      <vt:lpstr>Raw Heart Data - scRNAseq</vt:lpstr>
      <vt:lpstr>Pipeline Operation</vt:lpstr>
      <vt:lpstr>Processed Heart Data – Pipeline Results </vt:lpstr>
      <vt:lpstr>User Interface</vt:lpstr>
      <vt:lpstr>Python Toolkit Utilization</vt:lpstr>
      <vt:lpstr>Scanpy toolkit</vt:lpstr>
      <vt:lpstr>Pre-processing with Scanpy</vt:lpstr>
      <vt:lpstr>Projection with Scanpy</vt:lpstr>
      <vt:lpstr>Refrences</vt:lpstr>
      <vt:lpstr>Team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Lasota, Jack J</cp:lastModifiedBy>
  <cp:revision>16</cp:revision>
  <dcterms:modified xsi:type="dcterms:W3CDTF">2025-07-22T17:46:09Z</dcterms:modified>
</cp:coreProperties>
</file>