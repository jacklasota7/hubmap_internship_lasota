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18"/>
  </p:notesMasterIdLst>
  <p:sldIdLst>
    <p:sldId id="256" r:id="rId3"/>
    <p:sldId id="257" r:id="rId4"/>
    <p:sldId id="265" r:id="rId5"/>
    <p:sldId id="258" r:id="rId6"/>
    <p:sldId id="262" r:id="rId7"/>
    <p:sldId id="270" r:id="rId8"/>
    <p:sldId id="261" r:id="rId9"/>
    <p:sldId id="272" r:id="rId10"/>
    <p:sldId id="260" r:id="rId11"/>
    <p:sldId id="263" r:id="rId12"/>
    <p:sldId id="271" r:id="rId13"/>
    <p:sldId id="266" r:id="rId14"/>
    <p:sldId id="264" r:id="rId15"/>
    <p:sldId id="267" r:id="rId16"/>
    <p:sldId id="259" r:id="rId17"/>
  </p:sldIdLst>
  <p:sldSz cx="9144000" cy="5143500" type="screen16x9"/>
  <p:notesSz cx="6858000" cy="9144000"/>
  <p:embeddedFontLst>
    <p:embeddedFont>
      <p:font typeface="Inter" panose="02000503000000020004" pitchFamily="2" charset="0"/>
      <p:regular r:id="rId19"/>
      <p:bold r:id="rId20"/>
      <p:italic r:id="rId21"/>
      <p:boldItalic r:id="rId22"/>
    </p:embeddedFont>
    <p:embeddedFont>
      <p:font typeface="Lato" panose="020F0502020204030203" pitchFamily="34" charset="0"/>
      <p:regular r:id="rId23"/>
      <p:bold r:id="rId24"/>
      <p:italic r:id="rId25"/>
      <p:boldItalic r:id="rId26"/>
    </p:embeddedFont>
    <p:embeddedFont>
      <p:font typeface="Open Sans" panose="020B0606030504020204" pitchFamily="34" charset="0"/>
      <p:regular r:id="rId27"/>
      <p:bold r:id="rId28"/>
      <p:italic r:id="rId29"/>
      <p:boldItalic r:id="rId30"/>
    </p:embeddedFont>
    <p:embeddedFont>
      <p:font typeface="Open Sans SemiBold" panose="020F0502020204030204" pitchFamily="34"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asota, Jack J" initials="LJJ" lastIdx="1" clrIdx="0">
    <p:extLst>
      <p:ext uri="{19B8F6BF-5375-455C-9EA6-DF929625EA0E}">
        <p15:presenceInfo xmlns:p15="http://schemas.microsoft.com/office/powerpoint/2012/main" userId="S::JJL120@pitt.edu::cede5063-ddde-4282-b262-6a766c3c94a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242"/>
    <p:restoredTop sz="84158"/>
  </p:normalViewPr>
  <p:slideViewPr>
    <p:cSldViewPr snapToGrid="0">
      <p:cViewPr varScale="1">
        <p:scale>
          <a:sx n="145" d="100"/>
          <a:sy n="145" d="100"/>
        </p:scale>
        <p:origin x="920"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tableStyles" Target="tableStyles.xml"/><Relationship Id="rId21" Type="http://schemas.openxmlformats.org/officeDocument/2006/relationships/font" Target="fonts/font3.fntdata"/><Relationship Id="rId34" Type="http://schemas.openxmlformats.org/officeDocument/2006/relationships/font" Target="fonts/font16.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commentAuthors" Target="commentAuthor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3d5cedad05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7" name="Google Shape;137;g33d5cedad05_0_16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sz="900" dirty="0"/>
              <a:t>Welcome! Today I’ll walk through how we process, analyze, and integrate single-cell RNA-seq data within the </a:t>
            </a:r>
            <a:r>
              <a:rPr lang="en-US" sz="900" dirty="0" err="1"/>
              <a:t>HuBMAP</a:t>
            </a:r>
            <a:r>
              <a:rPr lang="en-US" sz="900" dirty="0"/>
              <a:t> framework. This includes raw data handling, toolkits like </a:t>
            </a:r>
            <a:r>
              <a:rPr lang="en-US" sz="900" dirty="0" err="1"/>
              <a:t>Scanpy</a:t>
            </a:r>
            <a:r>
              <a:rPr lang="en-US" sz="900" dirty="0"/>
              <a:t>, and approaches to align and interpret datasets across samples.</a:t>
            </a:r>
          </a:p>
          <a:p>
            <a:pPr marL="0" marR="0" lvl="0" indent="0" algn="l" rtl="0">
              <a:lnSpc>
                <a:spcPct val="100000"/>
              </a:lnSpc>
              <a:spcBef>
                <a:spcPts val="0"/>
              </a:spcBef>
              <a:spcAft>
                <a:spcPts val="0"/>
              </a:spcAft>
              <a:buSzPts val="1400"/>
              <a:buNone/>
            </a:pPr>
            <a:endParaRPr sz="900" b="0" i="1" u="none" strike="noStrike" cap="none" dirty="0">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3d5cedad05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r>
              <a:rPr lang="en-US" dirty="0"/>
              <a:t>My work is supported by the Pittsburgh Supercomputing Center, where tools like Bridges-2 allow us to process large single-cell datasets quickly and reliably.</a:t>
            </a:r>
          </a:p>
        </p:txBody>
      </p:sp>
    </p:spTree>
    <p:extLst>
      <p:ext uri="{BB962C8B-B14F-4D97-AF65-F5344CB8AC3E}">
        <p14:creationId xmlns:p14="http://schemas.microsoft.com/office/powerpoint/2010/main" val="1185672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3d5cedad05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3d5cedad05_0_16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dirty="0"/>
              <a:t>My project’s goal is to make large biological datasets easier to analyze and interpret. This involves cleaning the data, using consistent processing across tissue types, and preparing everything for visualization or annotation.</a:t>
            </a:r>
          </a:p>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t>
            </a:r>
            <a:r>
              <a:rPr lang="en-US" dirty="0" err="1"/>
              <a:t>HuBMAP</a:t>
            </a:r>
            <a:r>
              <a:rPr lang="en-US" dirty="0"/>
              <a:t> Portal provides access to datasets across tissues and modalities. It lets researchers explore spatial and single-cell data, compare across organs, and download datasets in raw or processed form</a:t>
            </a:r>
          </a:p>
        </p:txBody>
      </p:sp>
    </p:spTree>
    <p:extLst>
      <p:ext uri="{BB962C8B-B14F-4D97-AF65-F5344CB8AC3E}">
        <p14:creationId xmlns:p14="http://schemas.microsoft.com/office/powerpoint/2010/main" val="34654011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62F2FBC4-C6B3-BA00-62A1-6BA14E99483C}"/>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49A7EF86-A5A6-DE75-2A22-1617DD0059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E1420E12-A1C9-C9E3-B57A-0A0E6A5D632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extLst>
      <p:ext uri="{BB962C8B-B14F-4D97-AF65-F5344CB8AC3E}">
        <p14:creationId xmlns:p14="http://schemas.microsoft.com/office/powerpoint/2010/main" val="3674539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we begin with raw heart data, processed from single-cell RNA sequencing. We load it into Python using </a:t>
            </a:r>
            <a:r>
              <a:rPr lang="en-US" dirty="0" err="1"/>
              <a:t>AnnData</a:t>
            </a:r>
            <a:r>
              <a:rPr lang="en-US" dirty="0"/>
              <a:t>, which helps us track metadata, counts, and analysis results together.</a:t>
            </a:r>
          </a:p>
        </p:txBody>
      </p:sp>
    </p:spTree>
    <p:extLst>
      <p:ext uri="{BB962C8B-B14F-4D97-AF65-F5344CB8AC3E}">
        <p14:creationId xmlns:p14="http://schemas.microsoft.com/office/powerpoint/2010/main" val="9883888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The pipeline starts with quantification using Salmon-Alevin, followed by quality filtering. This produces a clean dataset for integration and visualization.</a:t>
            </a:r>
          </a:p>
          <a:p>
            <a:endParaRPr lang="en-US" dirty="0"/>
          </a:p>
        </p:txBody>
      </p:sp>
    </p:spTree>
    <p:extLst>
      <p:ext uri="{BB962C8B-B14F-4D97-AF65-F5344CB8AC3E}">
        <p14:creationId xmlns:p14="http://schemas.microsoft.com/office/powerpoint/2010/main" val="27099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After filtering, we retain only high-quality data. We use </a:t>
            </a:r>
            <a:r>
              <a:rPr lang="en-US" dirty="0" err="1"/>
              <a:t>Scanpy</a:t>
            </a:r>
            <a:r>
              <a:rPr lang="en-US" dirty="0"/>
              <a:t> to perform dimensionality reduction(high amount of features to low, in this case cells and genes)  and clustering, (in this case with the Leiden algorithm) visualizing clusters using UMAP.</a:t>
            </a:r>
          </a:p>
        </p:txBody>
      </p:sp>
    </p:spTree>
    <p:extLst>
      <p:ext uri="{BB962C8B-B14F-4D97-AF65-F5344CB8AC3E}">
        <p14:creationId xmlns:p14="http://schemas.microsoft.com/office/powerpoint/2010/main" val="570610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user interface allows researchers to explore tissue types, gene expression levels, and cell-type-specific patterns. Tools like Shiny make this interactive and accessible.</a:t>
            </a:r>
          </a:p>
          <a:p>
            <a:r>
              <a:rPr lang="en-US" dirty="0"/>
              <a:t>As you can see, the shiny app directly uses UMAPs like the ones we were able to output!</a:t>
            </a:r>
          </a:p>
        </p:txBody>
      </p:sp>
    </p:spTree>
    <p:extLst>
      <p:ext uri="{BB962C8B-B14F-4D97-AF65-F5344CB8AC3E}">
        <p14:creationId xmlns:p14="http://schemas.microsoft.com/office/powerpoint/2010/main" val="24071537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CCD21855-ED44-7263-3777-BC5157E98B1B}"/>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2522F1C4-4402-26D6-14E1-21F0863BD3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8C5FBDD0-E902-F3E3-C638-EEE1699FA6F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extLst>
      <p:ext uri="{BB962C8B-B14F-4D97-AF65-F5344CB8AC3E}">
        <p14:creationId xmlns:p14="http://schemas.microsoft.com/office/powerpoint/2010/main" val="7026705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Scanpy</a:t>
            </a:r>
            <a:r>
              <a:rPr lang="en-US" dirty="0"/>
              <a:t> is our main toolkit for single-cell analysis. It handles quality control, normalization, PCA, and integration — allowing us to go from raw data to interpretable clusters and annotations.</a:t>
            </a:r>
          </a:p>
        </p:txBody>
      </p:sp>
    </p:spTree>
    <p:extLst>
      <p:ext uri="{BB962C8B-B14F-4D97-AF65-F5344CB8AC3E}">
        <p14:creationId xmlns:p14="http://schemas.microsoft.com/office/powerpoint/2010/main" val="602212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slide highlights the results of our pre-processing pipeline for heart and kidney single-cell data.</a:t>
            </a:r>
          </a:p>
          <a:p>
            <a:r>
              <a:rPr lang="en-US" dirty="0"/>
              <a:t>At this stage, we’ve performed quality control by filtering out low-quality cells and lowly expressed genes.</a:t>
            </a:r>
          </a:p>
          <a:p>
            <a:r>
              <a:rPr lang="en-US" dirty="0"/>
              <a:t>We’ve also normalized the data and log-transformed it to stabilize variance across cells.</a:t>
            </a:r>
          </a:p>
          <a:p>
            <a:r>
              <a:rPr lang="en-US" dirty="0"/>
              <a:t>Furthermore, we can visualize the two organs at this step by using UMAPs, as well as their typical marker genes + highly expressed genes. This allows for some analysis before processing, and the ability to compare the data after processing. </a:t>
            </a:r>
          </a:p>
        </p:txBody>
      </p:sp>
    </p:spTree>
    <p:extLst>
      <p:ext uri="{BB962C8B-B14F-4D97-AF65-F5344CB8AC3E}">
        <p14:creationId xmlns:p14="http://schemas.microsoft.com/office/powerpoint/2010/main" val="31352240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b="0" dirty="0"/>
              <a:t>Ingest – typically used for rapid, annotation-aware integration with a reliable reference.</a:t>
            </a:r>
          </a:p>
          <a:p>
            <a:r>
              <a:rPr lang="en-US" b="0" dirty="0"/>
              <a:t>BBKNN – Used for deeper correction and joint analysis when comparing across multiple batches or sources. </a:t>
            </a:r>
          </a:p>
          <a:p>
            <a:r>
              <a:rPr lang="en-US" b="0" dirty="0"/>
              <a:t>Here I used </a:t>
            </a:r>
            <a:r>
              <a:rPr lang="en-US" b="0" dirty="0" err="1"/>
              <a:t>Scanpy’s</a:t>
            </a:r>
            <a:r>
              <a:rPr lang="en-US" b="0" dirty="0"/>
              <a:t> ingest function to project new cells into a reference UMAP. You can see that the overall structure and annotations from the reference are preserved. However, there are signs of batch effect, especially in the monocyte region, where the new data forms a separate cluster. On the other hand, CD4/CD8 T cells and B cells mix well, suggesting that ingest works well when the new data is similar to the reference.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latin typeface="Open Sans" panose="020B0606030504020204" pitchFamily="34" charset="0"/>
                <a:ea typeface="Open Sans" panose="020B0606030504020204" pitchFamily="34" charset="0"/>
                <a:cs typeface="Open Sans" panose="020B0606030504020204" pitchFamily="34" charset="0"/>
              </a:rPr>
              <a:t>Monocytes and dendritic cells integrate well, but the Megakaryocyte cluster is lost… so </a:t>
            </a:r>
            <a:r>
              <a:rPr lang="en-US" dirty="0" err="1">
                <a:latin typeface="Open Sans" panose="020B0606030504020204" pitchFamily="34" charset="0"/>
                <a:ea typeface="Open Sans" panose="020B0606030504020204" pitchFamily="34" charset="0"/>
                <a:cs typeface="Open Sans" panose="020B0606030504020204" pitchFamily="34" charset="0"/>
              </a:rPr>
              <a:t>bbknn</a:t>
            </a:r>
            <a:r>
              <a:rPr lang="en-US" dirty="0">
                <a:latin typeface="Open Sans" panose="020B0606030504020204" pitchFamily="34" charset="0"/>
                <a:ea typeface="Open Sans" panose="020B0606030504020204" pitchFamily="34" charset="0"/>
                <a:cs typeface="Open Sans" panose="020B0606030504020204" pitchFamily="34" charset="0"/>
              </a:rPr>
              <a:t> improves mixing but may obscure rare cell types, such as megakaryocytes</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773239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3d5cedad05_0_2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g33d5cedad05_0_28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err="1"/>
              <a:t>HuBMAP</a:t>
            </a:r>
            <a:r>
              <a:rPr lang="en-US" dirty="0"/>
              <a:t> HIVE, specifically CMU tools component and PSC IEC. </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Special thanks to: people directly worked with. </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44A65"/>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2371725" y="630225"/>
            <a:ext cx="6331500" cy="154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56" name="Google Shape;56;p14"/>
          <p:cNvSpPr txBox="1">
            <a:spLocks noGrp="1"/>
          </p:cNvSpPr>
          <p:nvPr>
            <p:ph type="subTitle" idx="1"/>
          </p:nvPr>
        </p:nvSpPr>
        <p:spPr>
          <a:xfrm>
            <a:off x="2390267" y="3238450"/>
            <a:ext cx="6331500" cy="1241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800"/>
              <a:buNone/>
              <a:defRPr>
                <a:solidFill>
                  <a:schemeClr val="lt1"/>
                </a:solidFil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57" name="Google Shape;57;p1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58" name="Google Shape;58;p14"/>
          <p:cNvPicPr preferRelativeResize="0"/>
          <p:nvPr/>
        </p:nvPicPr>
        <p:blipFill rotWithShape="1">
          <a:blip r:embed="rId2">
            <a:alphaModFix/>
          </a:blip>
          <a:srcRect/>
          <a:stretch/>
        </p:blipFill>
        <p:spPr>
          <a:xfrm rot="10800000">
            <a:off x="8955329" y="-14121"/>
            <a:ext cx="197350" cy="517175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61" name="Google Shape;61;p15"/>
          <p:cNvSpPr txBox="1">
            <a:spLocks noGrp="1"/>
          </p:cNvSpPr>
          <p:nvPr>
            <p:ph type="body" idx="1"/>
          </p:nvPr>
        </p:nvSpPr>
        <p:spPr>
          <a:xfrm>
            <a:off x="2400303"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2" name="Google Shape;62;p15"/>
          <p:cNvSpPr txBox="1">
            <a:spLocks noGrp="1"/>
          </p:cNvSpPr>
          <p:nvPr>
            <p:ph type="body" idx="2"/>
          </p:nvPr>
        </p:nvSpPr>
        <p:spPr>
          <a:xfrm>
            <a:off x="5650572"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3" name="Google Shape;63;p1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4" name="Google Shape;64;p15"/>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444A65"/>
        </a:solidFill>
        <a:effectLst/>
      </p:bgPr>
    </p:bg>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406425" y="1806825"/>
            <a:ext cx="8296800" cy="15420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67" name="Google Shape;67;p16"/>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8" name="Google Shape;68;p16"/>
          <p:cNvPicPr preferRelativeResize="0"/>
          <p:nvPr/>
        </p:nvPicPr>
        <p:blipFill rotWithShape="1">
          <a:blip r:embed="rId2">
            <a:alphaModFix/>
          </a:blip>
          <a:srcRect r="40419" b="1370"/>
          <a:stretch/>
        </p:blipFill>
        <p:spPr>
          <a:xfrm rot="-5400000">
            <a:off x="4466612" y="-4476012"/>
            <a:ext cx="210775" cy="9143999"/>
          </a:xfrm>
          <a:prstGeom prst="rect">
            <a:avLst/>
          </a:prstGeom>
          <a:noFill/>
          <a:ln>
            <a:noFill/>
          </a:ln>
        </p:spPr>
      </p:pic>
      <p:pic>
        <p:nvPicPr>
          <p:cNvPr id="69" name="Google Shape;69;p16"/>
          <p:cNvPicPr preferRelativeResize="0"/>
          <p:nvPr/>
        </p:nvPicPr>
        <p:blipFill rotWithShape="1">
          <a:blip r:embed="rId2">
            <a:alphaModFix/>
          </a:blip>
          <a:srcRect r="43191" b="1370"/>
          <a:stretch/>
        </p:blipFill>
        <p:spPr>
          <a:xfrm rot="5400000">
            <a:off x="4471513" y="482763"/>
            <a:ext cx="200975" cy="9143999"/>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uBMAP Portal Style" type="tx">
  <p:cSld name="TITLE_AND_BODY">
    <p:spTree>
      <p:nvGrpSpPr>
        <p:cNvPr id="1" name="Shape 70"/>
        <p:cNvGrpSpPr/>
        <p:nvPr/>
      </p:nvGrpSpPr>
      <p:grpSpPr>
        <a:xfrm>
          <a:off x="0" y="0"/>
          <a:ext cx="0" cy="0"/>
          <a:chOff x="0" y="0"/>
          <a:chExt cx="0" cy="0"/>
        </a:xfrm>
      </p:grpSpPr>
      <p:sp>
        <p:nvSpPr>
          <p:cNvPr id="71" name="Google Shape;71;p17"/>
          <p:cNvSpPr txBox="1">
            <a:spLocks noGrp="1"/>
          </p:cNvSpPr>
          <p:nvPr>
            <p:ph type="title"/>
          </p:nvPr>
        </p:nvSpPr>
        <p:spPr>
          <a:xfrm>
            <a:off x="1638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2" name="Google Shape;72;p17"/>
          <p:cNvSpPr txBox="1">
            <a:spLocks noGrp="1"/>
          </p:cNvSpPr>
          <p:nvPr>
            <p:ph type="body" idx="1"/>
          </p:nvPr>
        </p:nvSpPr>
        <p:spPr>
          <a:xfrm>
            <a:off x="1648112" y="1595776"/>
            <a:ext cx="6321600" cy="3002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73" name="Google Shape;73;p17"/>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74" name="Google Shape;74;p17"/>
          <p:cNvPicPr preferRelativeResize="0"/>
          <p:nvPr/>
        </p:nvPicPr>
        <p:blipFill rotWithShape="1">
          <a:blip r:embed="rId2">
            <a:alphaModFix/>
          </a:blip>
          <a:srcRect/>
          <a:stretch/>
        </p:blipFill>
        <p:spPr>
          <a:xfrm>
            <a:off x="-9400" y="0"/>
            <a:ext cx="196275" cy="5143498"/>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pic>
        <p:nvPicPr>
          <p:cNvPr id="76" name="Google Shape;76;p18"/>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77" name="Google Shape;77;p18"/>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8" name="Google Shape;78;p18"/>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dark)">
  <p:cSld name="TITLE_ONLY_1">
    <p:bg>
      <p:bgPr>
        <a:solidFill>
          <a:srgbClr val="000000"/>
        </a:solidFill>
        <a:effectLst/>
      </p:bgPr>
    </p:bg>
    <p:spTree>
      <p:nvGrpSpPr>
        <p:cNvPr id="1" name="Shape 79"/>
        <p:cNvGrpSpPr/>
        <p:nvPr/>
      </p:nvGrpSpPr>
      <p:grpSpPr>
        <a:xfrm>
          <a:off x="0" y="0"/>
          <a:ext cx="0" cy="0"/>
          <a:chOff x="0" y="0"/>
          <a:chExt cx="0" cy="0"/>
        </a:xfrm>
      </p:grpSpPr>
      <p:pic>
        <p:nvPicPr>
          <p:cNvPr id="80" name="Google Shape;80;p19"/>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81" name="Google Shape;81;p19"/>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FFFFFF"/>
              </a:buClr>
              <a:buSzPts val="3000"/>
              <a:buNone/>
              <a:defRPr>
                <a:solidFill>
                  <a:srgbClr val="FFFFFF"/>
                </a:solidFill>
              </a:defRPr>
            </a:lvl1pPr>
            <a:lvl2pPr lvl="1" algn="l">
              <a:lnSpc>
                <a:spcPct val="100000"/>
              </a:lnSpc>
              <a:spcBef>
                <a:spcPts val="0"/>
              </a:spcBef>
              <a:spcAft>
                <a:spcPts val="0"/>
              </a:spcAft>
              <a:buClr>
                <a:srgbClr val="FFFFFF"/>
              </a:buClr>
              <a:buSzPts val="3000"/>
              <a:buNone/>
              <a:defRPr>
                <a:solidFill>
                  <a:srgbClr val="FFFFFF"/>
                </a:solidFill>
              </a:defRPr>
            </a:lvl2pPr>
            <a:lvl3pPr lvl="2" algn="l">
              <a:lnSpc>
                <a:spcPct val="100000"/>
              </a:lnSpc>
              <a:spcBef>
                <a:spcPts val="0"/>
              </a:spcBef>
              <a:spcAft>
                <a:spcPts val="0"/>
              </a:spcAft>
              <a:buClr>
                <a:srgbClr val="FFFFFF"/>
              </a:buClr>
              <a:buSzPts val="3000"/>
              <a:buNone/>
              <a:defRPr>
                <a:solidFill>
                  <a:srgbClr val="FFFFFF"/>
                </a:solidFill>
              </a:defRPr>
            </a:lvl3pPr>
            <a:lvl4pPr lvl="3" algn="l">
              <a:lnSpc>
                <a:spcPct val="100000"/>
              </a:lnSpc>
              <a:spcBef>
                <a:spcPts val="0"/>
              </a:spcBef>
              <a:spcAft>
                <a:spcPts val="0"/>
              </a:spcAft>
              <a:buClr>
                <a:srgbClr val="FFFFFF"/>
              </a:buClr>
              <a:buSzPts val="3000"/>
              <a:buNone/>
              <a:defRPr>
                <a:solidFill>
                  <a:srgbClr val="FFFFFF"/>
                </a:solidFill>
              </a:defRPr>
            </a:lvl4pPr>
            <a:lvl5pPr lvl="4" algn="l">
              <a:lnSpc>
                <a:spcPct val="100000"/>
              </a:lnSpc>
              <a:spcBef>
                <a:spcPts val="0"/>
              </a:spcBef>
              <a:spcAft>
                <a:spcPts val="0"/>
              </a:spcAft>
              <a:buClr>
                <a:srgbClr val="FFFFFF"/>
              </a:buClr>
              <a:buSzPts val="3000"/>
              <a:buNone/>
              <a:defRPr>
                <a:solidFill>
                  <a:srgbClr val="FFFFFF"/>
                </a:solidFill>
              </a:defRPr>
            </a:lvl5pPr>
            <a:lvl6pPr lvl="5" algn="l">
              <a:lnSpc>
                <a:spcPct val="100000"/>
              </a:lnSpc>
              <a:spcBef>
                <a:spcPts val="0"/>
              </a:spcBef>
              <a:spcAft>
                <a:spcPts val="0"/>
              </a:spcAft>
              <a:buClr>
                <a:srgbClr val="FFFFFF"/>
              </a:buClr>
              <a:buSzPts val="3000"/>
              <a:buNone/>
              <a:defRPr>
                <a:solidFill>
                  <a:srgbClr val="FFFFFF"/>
                </a:solidFill>
              </a:defRPr>
            </a:lvl6pPr>
            <a:lvl7pPr lvl="6" algn="l">
              <a:lnSpc>
                <a:spcPct val="100000"/>
              </a:lnSpc>
              <a:spcBef>
                <a:spcPts val="0"/>
              </a:spcBef>
              <a:spcAft>
                <a:spcPts val="0"/>
              </a:spcAft>
              <a:buClr>
                <a:srgbClr val="FFFFFF"/>
              </a:buClr>
              <a:buSzPts val="3000"/>
              <a:buNone/>
              <a:defRPr>
                <a:solidFill>
                  <a:srgbClr val="FFFFFF"/>
                </a:solidFill>
              </a:defRPr>
            </a:lvl7pPr>
            <a:lvl8pPr lvl="7" algn="l">
              <a:lnSpc>
                <a:spcPct val="100000"/>
              </a:lnSpc>
              <a:spcBef>
                <a:spcPts val="0"/>
              </a:spcBef>
              <a:spcAft>
                <a:spcPts val="0"/>
              </a:spcAft>
              <a:buClr>
                <a:srgbClr val="FFFFFF"/>
              </a:buClr>
              <a:buSzPts val="3000"/>
              <a:buNone/>
              <a:defRPr>
                <a:solidFill>
                  <a:srgbClr val="FFFFFF"/>
                </a:solidFill>
              </a:defRPr>
            </a:lvl8pPr>
            <a:lvl9pPr lvl="8" algn="l">
              <a:lnSpc>
                <a:spcPct val="100000"/>
              </a:lnSpc>
              <a:spcBef>
                <a:spcPts val="0"/>
              </a:spcBef>
              <a:spcAft>
                <a:spcPts val="0"/>
              </a:spcAft>
              <a:buClr>
                <a:srgbClr val="FFFFFF"/>
              </a:buClr>
              <a:buSzPts val="3000"/>
              <a:buNone/>
              <a:defRPr>
                <a:solidFill>
                  <a:srgbClr val="FFFFFF"/>
                </a:solidFill>
              </a:defRPr>
            </a:lvl9pPr>
          </a:lstStyle>
          <a:p>
            <a:endParaRPr/>
          </a:p>
        </p:txBody>
      </p:sp>
      <p:sp>
        <p:nvSpPr>
          <p:cNvPr id="82" name="Google Shape;82;p19"/>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3"/>
        <p:cNvGrpSpPr/>
        <p:nvPr/>
      </p:nvGrpSpPr>
      <p:grpSpPr>
        <a:xfrm>
          <a:off x="0" y="0"/>
          <a:ext cx="0" cy="0"/>
          <a:chOff x="0" y="0"/>
          <a:chExt cx="0" cy="0"/>
        </a:xfrm>
      </p:grpSpPr>
      <p:sp>
        <p:nvSpPr>
          <p:cNvPr id="84" name="Google Shape;84;p20"/>
          <p:cNvSpPr txBox="1">
            <a:spLocks noGrp="1"/>
          </p:cNvSpPr>
          <p:nvPr>
            <p:ph type="title"/>
          </p:nvPr>
        </p:nvSpPr>
        <p:spPr>
          <a:xfrm>
            <a:off x="319500" y="936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5" name="Google Shape;85;p20"/>
          <p:cNvSpPr txBox="1">
            <a:spLocks noGrp="1"/>
          </p:cNvSpPr>
          <p:nvPr>
            <p:ph type="body" idx="1"/>
          </p:nvPr>
        </p:nvSpPr>
        <p:spPr>
          <a:xfrm>
            <a:off x="319500" y="1846804"/>
            <a:ext cx="2808000" cy="2806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6" name="Google Shape;86;p20"/>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87" name="Google Shape;87;p20"/>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88"/>
        <p:cNvGrpSpPr/>
        <p:nvPr/>
      </p:nvGrpSpPr>
      <p:grpSpPr>
        <a:xfrm>
          <a:off x="0" y="0"/>
          <a:ext cx="0" cy="0"/>
          <a:chOff x="0" y="0"/>
          <a:chExt cx="0" cy="0"/>
        </a:xfrm>
      </p:grpSpPr>
      <p:sp>
        <p:nvSpPr>
          <p:cNvPr id="89" name="Google Shape;89;p21"/>
          <p:cNvSpPr txBox="1">
            <a:spLocks noGrp="1"/>
          </p:cNvSpPr>
          <p:nvPr>
            <p:ph type="title"/>
          </p:nvPr>
        </p:nvSpPr>
        <p:spPr>
          <a:xfrm>
            <a:off x="283103" y="712141"/>
            <a:ext cx="6244200" cy="38355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90" name="Google Shape;90;p2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sp>
        <p:nvSpPr>
          <p:cNvPr id="92" name="Google Shape;92;p22"/>
          <p:cNvSpPr/>
          <p:nvPr/>
        </p:nvSpPr>
        <p:spPr>
          <a:xfrm>
            <a:off x="4572000" y="125"/>
            <a:ext cx="4572000" cy="5143500"/>
          </a:xfrm>
          <a:prstGeom prst="rect">
            <a:avLst/>
          </a:prstGeom>
          <a:solidFill>
            <a:srgbClr val="444A6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22"/>
          <p:cNvSpPr txBox="1">
            <a:spLocks noGrp="1"/>
          </p:cNvSpPr>
          <p:nvPr>
            <p:ph type="title"/>
          </p:nvPr>
        </p:nvSpPr>
        <p:spPr>
          <a:xfrm>
            <a:off x="265500" y="1397350"/>
            <a:ext cx="4045200" cy="1318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444A65"/>
              </a:buClr>
              <a:buSzPts val="3600"/>
              <a:buNone/>
              <a:defRPr sz="3600">
                <a:solidFill>
                  <a:srgbClr val="444A65"/>
                </a:solidFill>
              </a:defRPr>
            </a:lvl1pPr>
            <a:lvl2pPr lvl="1" algn="ctr">
              <a:lnSpc>
                <a:spcPct val="100000"/>
              </a:lnSpc>
              <a:spcBef>
                <a:spcPts val="0"/>
              </a:spcBef>
              <a:spcAft>
                <a:spcPts val="0"/>
              </a:spcAft>
              <a:buClr>
                <a:srgbClr val="444A65"/>
              </a:buClr>
              <a:buSzPts val="3600"/>
              <a:buNone/>
              <a:defRPr sz="3600">
                <a:solidFill>
                  <a:srgbClr val="444A65"/>
                </a:solidFill>
              </a:defRPr>
            </a:lvl2pPr>
            <a:lvl3pPr lvl="2" algn="ctr">
              <a:lnSpc>
                <a:spcPct val="100000"/>
              </a:lnSpc>
              <a:spcBef>
                <a:spcPts val="0"/>
              </a:spcBef>
              <a:spcAft>
                <a:spcPts val="0"/>
              </a:spcAft>
              <a:buClr>
                <a:srgbClr val="444A65"/>
              </a:buClr>
              <a:buSzPts val="3600"/>
              <a:buNone/>
              <a:defRPr sz="3600">
                <a:solidFill>
                  <a:srgbClr val="444A65"/>
                </a:solidFill>
              </a:defRPr>
            </a:lvl3pPr>
            <a:lvl4pPr lvl="3" algn="ctr">
              <a:lnSpc>
                <a:spcPct val="100000"/>
              </a:lnSpc>
              <a:spcBef>
                <a:spcPts val="0"/>
              </a:spcBef>
              <a:spcAft>
                <a:spcPts val="0"/>
              </a:spcAft>
              <a:buClr>
                <a:srgbClr val="444A65"/>
              </a:buClr>
              <a:buSzPts val="3600"/>
              <a:buNone/>
              <a:defRPr sz="3600">
                <a:solidFill>
                  <a:srgbClr val="444A65"/>
                </a:solidFill>
              </a:defRPr>
            </a:lvl4pPr>
            <a:lvl5pPr lvl="4" algn="ctr">
              <a:lnSpc>
                <a:spcPct val="100000"/>
              </a:lnSpc>
              <a:spcBef>
                <a:spcPts val="0"/>
              </a:spcBef>
              <a:spcAft>
                <a:spcPts val="0"/>
              </a:spcAft>
              <a:buClr>
                <a:srgbClr val="444A65"/>
              </a:buClr>
              <a:buSzPts val="3600"/>
              <a:buNone/>
              <a:defRPr sz="3600">
                <a:solidFill>
                  <a:srgbClr val="444A65"/>
                </a:solidFill>
              </a:defRPr>
            </a:lvl5pPr>
            <a:lvl6pPr lvl="5" algn="ctr">
              <a:lnSpc>
                <a:spcPct val="100000"/>
              </a:lnSpc>
              <a:spcBef>
                <a:spcPts val="0"/>
              </a:spcBef>
              <a:spcAft>
                <a:spcPts val="0"/>
              </a:spcAft>
              <a:buClr>
                <a:srgbClr val="444A65"/>
              </a:buClr>
              <a:buSzPts val="3600"/>
              <a:buNone/>
              <a:defRPr sz="3600">
                <a:solidFill>
                  <a:srgbClr val="444A65"/>
                </a:solidFill>
              </a:defRPr>
            </a:lvl6pPr>
            <a:lvl7pPr lvl="6" algn="ctr">
              <a:lnSpc>
                <a:spcPct val="100000"/>
              </a:lnSpc>
              <a:spcBef>
                <a:spcPts val="0"/>
              </a:spcBef>
              <a:spcAft>
                <a:spcPts val="0"/>
              </a:spcAft>
              <a:buClr>
                <a:srgbClr val="444A65"/>
              </a:buClr>
              <a:buSzPts val="3600"/>
              <a:buNone/>
              <a:defRPr sz="3600">
                <a:solidFill>
                  <a:srgbClr val="444A65"/>
                </a:solidFill>
              </a:defRPr>
            </a:lvl7pPr>
            <a:lvl8pPr lvl="7" algn="ctr">
              <a:lnSpc>
                <a:spcPct val="100000"/>
              </a:lnSpc>
              <a:spcBef>
                <a:spcPts val="0"/>
              </a:spcBef>
              <a:spcAft>
                <a:spcPts val="0"/>
              </a:spcAft>
              <a:buClr>
                <a:srgbClr val="444A65"/>
              </a:buClr>
              <a:buSzPts val="3600"/>
              <a:buNone/>
              <a:defRPr sz="3600">
                <a:solidFill>
                  <a:srgbClr val="444A65"/>
                </a:solidFill>
              </a:defRPr>
            </a:lvl8pPr>
            <a:lvl9pPr lvl="8" algn="ctr">
              <a:lnSpc>
                <a:spcPct val="100000"/>
              </a:lnSpc>
              <a:spcBef>
                <a:spcPts val="0"/>
              </a:spcBef>
              <a:spcAft>
                <a:spcPts val="0"/>
              </a:spcAft>
              <a:buClr>
                <a:srgbClr val="444A65"/>
              </a:buClr>
              <a:buSzPts val="3600"/>
              <a:buNone/>
              <a:defRPr sz="3600">
                <a:solidFill>
                  <a:srgbClr val="444A65"/>
                </a:solidFill>
              </a:defRPr>
            </a:lvl9pPr>
          </a:lstStyle>
          <a:p>
            <a:endParaRPr/>
          </a:p>
        </p:txBody>
      </p:sp>
      <p:sp>
        <p:nvSpPr>
          <p:cNvPr id="94" name="Google Shape;94;p22"/>
          <p:cNvSpPr txBox="1">
            <a:spLocks noGrp="1"/>
          </p:cNvSpPr>
          <p:nvPr>
            <p:ph type="subTitle" idx="1"/>
          </p:nvPr>
        </p:nvSpPr>
        <p:spPr>
          <a:xfrm>
            <a:off x="265500" y="2735371"/>
            <a:ext cx="4045200" cy="1345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5" name="Google Shape;95;p22"/>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lt1"/>
              </a:buClr>
              <a:buSzPts val="1800"/>
              <a:buChar char="●"/>
              <a:defRPr>
                <a:solidFill>
                  <a:schemeClr val="lt1"/>
                </a:solidFill>
              </a:defRPr>
            </a:lvl1pPr>
            <a:lvl2pPr marL="914400" lvl="1" indent="-317500" algn="l">
              <a:lnSpc>
                <a:spcPct val="115000"/>
              </a:lnSpc>
              <a:spcBef>
                <a:spcPts val="1600"/>
              </a:spcBef>
              <a:spcAft>
                <a:spcPts val="0"/>
              </a:spcAft>
              <a:buClr>
                <a:schemeClr val="lt1"/>
              </a:buClr>
              <a:buSzPts val="1400"/>
              <a:buChar char="○"/>
              <a:defRPr>
                <a:solidFill>
                  <a:schemeClr val="lt1"/>
                </a:solidFill>
              </a:defRPr>
            </a:lvl2pPr>
            <a:lvl3pPr marL="1371600" lvl="2" indent="-317500" algn="l">
              <a:lnSpc>
                <a:spcPct val="115000"/>
              </a:lnSpc>
              <a:spcBef>
                <a:spcPts val="1600"/>
              </a:spcBef>
              <a:spcAft>
                <a:spcPts val="0"/>
              </a:spcAft>
              <a:buClr>
                <a:schemeClr val="lt1"/>
              </a:buClr>
              <a:buSzPts val="1400"/>
              <a:buChar char="■"/>
              <a:defRPr>
                <a:solidFill>
                  <a:schemeClr val="lt1"/>
                </a:solidFill>
              </a:defRPr>
            </a:lvl3pPr>
            <a:lvl4pPr marL="1828800" lvl="3" indent="-317500" algn="l">
              <a:lnSpc>
                <a:spcPct val="115000"/>
              </a:lnSpc>
              <a:spcBef>
                <a:spcPts val="1600"/>
              </a:spcBef>
              <a:spcAft>
                <a:spcPts val="0"/>
              </a:spcAft>
              <a:buClr>
                <a:schemeClr val="lt1"/>
              </a:buClr>
              <a:buSzPts val="1400"/>
              <a:buChar char="●"/>
              <a:defRPr>
                <a:solidFill>
                  <a:schemeClr val="lt1"/>
                </a:solidFill>
              </a:defRPr>
            </a:lvl4pPr>
            <a:lvl5pPr marL="2286000" lvl="4" indent="-317500" algn="l">
              <a:lnSpc>
                <a:spcPct val="115000"/>
              </a:lnSpc>
              <a:spcBef>
                <a:spcPts val="1600"/>
              </a:spcBef>
              <a:spcAft>
                <a:spcPts val="0"/>
              </a:spcAft>
              <a:buClr>
                <a:schemeClr val="lt1"/>
              </a:buClr>
              <a:buSzPts val="1400"/>
              <a:buChar char="○"/>
              <a:defRPr>
                <a:solidFill>
                  <a:schemeClr val="lt1"/>
                </a:solidFill>
              </a:defRPr>
            </a:lvl5pPr>
            <a:lvl6pPr marL="2743200" lvl="5" indent="-317500" algn="l">
              <a:lnSpc>
                <a:spcPct val="115000"/>
              </a:lnSpc>
              <a:spcBef>
                <a:spcPts val="1600"/>
              </a:spcBef>
              <a:spcAft>
                <a:spcPts val="0"/>
              </a:spcAft>
              <a:buClr>
                <a:schemeClr val="lt1"/>
              </a:buClr>
              <a:buSzPts val="1400"/>
              <a:buChar char="■"/>
              <a:defRPr>
                <a:solidFill>
                  <a:schemeClr val="lt1"/>
                </a:solidFill>
              </a:defRPr>
            </a:lvl6pPr>
            <a:lvl7pPr marL="3200400" lvl="6" indent="-317500" algn="l">
              <a:lnSpc>
                <a:spcPct val="115000"/>
              </a:lnSpc>
              <a:spcBef>
                <a:spcPts val="1600"/>
              </a:spcBef>
              <a:spcAft>
                <a:spcPts val="0"/>
              </a:spcAft>
              <a:buClr>
                <a:schemeClr val="lt1"/>
              </a:buClr>
              <a:buSzPts val="1400"/>
              <a:buChar char="●"/>
              <a:defRPr>
                <a:solidFill>
                  <a:schemeClr val="lt1"/>
                </a:solidFill>
              </a:defRPr>
            </a:lvl7pPr>
            <a:lvl8pPr marL="3657600" lvl="7" indent="-317500" algn="l">
              <a:lnSpc>
                <a:spcPct val="115000"/>
              </a:lnSpc>
              <a:spcBef>
                <a:spcPts val="1600"/>
              </a:spcBef>
              <a:spcAft>
                <a:spcPts val="0"/>
              </a:spcAft>
              <a:buClr>
                <a:schemeClr val="lt1"/>
              </a:buClr>
              <a:buSzPts val="1400"/>
              <a:buChar char="○"/>
              <a:defRPr>
                <a:solidFill>
                  <a:schemeClr val="lt1"/>
                </a:solidFill>
              </a:defRPr>
            </a:lvl8pPr>
            <a:lvl9pPr marL="4114800" lvl="8" indent="-317500" algn="l">
              <a:lnSpc>
                <a:spcPct val="115000"/>
              </a:lnSpc>
              <a:spcBef>
                <a:spcPts val="1600"/>
              </a:spcBef>
              <a:spcAft>
                <a:spcPts val="1600"/>
              </a:spcAft>
              <a:buClr>
                <a:schemeClr val="lt1"/>
              </a:buClr>
              <a:buSzPts val="1400"/>
              <a:buChar char="■"/>
              <a:defRPr>
                <a:solidFill>
                  <a:schemeClr val="lt1"/>
                </a:solidFill>
              </a:defRPr>
            </a:lvl9pPr>
          </a:lstStyle>
          <a:p>
            <a:endParaRPr/>
          </a:p>
        </p:txBody>
      </p:sp>
      <p:sp>
        <p:nvSpPr>
          <p:cNvPr id="96" name="Google Shape;96;p22"/>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97" name="Google Shape;97;p22"/>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8"/>
        <p:cNvGrpSpPr/>
        <p:nvPr/>
      </p:nvGrpSpPr>
      <p:grpSpPr>
        <a:xfrm>
          <a:off x="0" y="0"/>
          <a:ext cx="0" cy="0"/>
          <a:chOff x="0" y="0"/>
          <a:chExt cx="0" cy="0"/>
        </a:xfrm>
      </p:grpSpPr>
      <p:sp>
        <p:nvSpPr>
          <p:cNvPr id="99" name="Google Shape;99;p23"/>
          <p:cNvSpPr txBox="1">
            <a:spLocks noGrp="1"/>
          </p:cNvSpPr>
          <p:nvPr>
            <p:ph type="body" idx="1"/>
          </p:nvPr>
        </p:nvSpPr>
        <p:spPr>
          <a:xfrm>
            <a:off x="328017" y="4226025"/>
            <a:ext cx="8388600" cy="3936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100" name="Google Shape;100;p2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1"/>
        <p:cNvGrpSpPr/>
        <p:nvPr/>
      </p:nvGrpSpPr>
      <p:grpSpPr>
        <a:xfrm>
          <a:off x="0" y="0"/>
          <a:ext cx="0" cy="0"/>
          <a:chOff x="0" y="0"/>
          <a:chExt cx="0" cy="0"/>
        </a:xfrm>
      </p:grpSpPr>
      <p:sp>
        <p:nvSpPr>
          <p:cNvPr id="102" name="Google Shape;102;p24"/>
          <p:cNvSpPr txBox="1">
            <a:spLocks noGrp="1"/>
          </p:cNvSpPr>
          <p:nvPr>
            <p:ph type="title" hasCustomPrompt="1"/>
          </p:nvPr>
        </p:nvSpPr>
        <p:spPr>
          <a:xfrm>
            <a:off x="853950" y="1304850"/>
            <a:ext cx="7436100" cy="15384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1pPr>
            <a:lvl2pPr lvl="1"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2pPr>
            <a:lvl3pPr lvl="2"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3pPr>
            <a:lvl4pPr lvl="3"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4pPr>
            <a:lvl5pPr lvl="4"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5pPr>
            <a:lvl6pPr lvl="5"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6pPr>
            <a:lvl7pPr lvl="6"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7pPr>
            <a:lvl8pPr lvl="7"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8pPr>
            <a:lvl9pPr lvl="8"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9pPr>
          </a:lstStyle>
          <a:p>
            <a:r>
              <a:t>xx%</a:t>
            </a:r>
          </a:p>
        </p:txBody>
      </p:sp>
      <p:sp>
        <p:nvSpPr>
          <p:cNvPr id="103" name="Google Shape;103;p24"/>
          <p:cNvSpPr txBox="1">
            <a:spLocks noGrp="1"/>
          </p:cNvSpPr>
          <p:nvPr>
            <p:ph type="body" idx="1"/>
          </p:nvPr>
        </p:nvSpPr>
        <p:spPr>
          <a:xfrm>
            <a:off x="853950" y="2919450"/>
            <a:ext cx="7436100" cy="10716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104" name="Google Shape;104;p2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2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107" name="Google Shape;107;p25"/>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ustom Layout 1">
  <p:cSld name="CUSTOM">
    <p:spTree>
      <p:nvGrpSpPr>
        <p:cNvPr id="1" name="Shape 108"/>
        <p:cNvGrpSpPr/>
        <p:nvPr/>
      </p:nvGrpSpPr>
      <p:grpSpPr>
        <a:xfrm>
          <a:off x="0" y="0"/>
          <a:ext cx="0" cy="0"/>
          <a:chOff x="0" y="0"/>
          <a:chExt cx="0" cy="0"/>
        </a:xfrm>
      </p:grpSpPr>
      <p:sp>
        <p:nvSpPr>
          <p:cNvPr id="109" name="Google Shape;109;p26"/>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atin typeface="Inter"/>
                <a:ea typeface="Inter"/>
                <a:cs typeface="Inter"/>
                <a:sym typeface="Inter"/>
              </a:defRPr>
            </a:lvl1pPr>
            <a:lvl2pPr lvl="1" algn="l">
              <a:lnSpc>
                <a:spcPct val="100000"/>
              </a:lnSpc>
              <a:spcBef>
                <a:spcPts val="0"/>
              </a:spcBef>
              <a:spcAft>
                <a:spcPts val="0"/>
              </a:spcAft>
              <a:buSzPts val="3000"/>
              <a:buNone/>
              <a:defRPr>
                <a:latin typeface="Inter"/>
                <a:ea typeface="Inter"/>
                <a:cs typeface="Inter"/>
                <a:sym typeface="Inter"/>
              </a:defRPr>
            </a:lvl2pPr>
            <a:lvl3pPr lvl="2" algn="l">
              <a:lnSpc>
                <a:spcPct val="100000"/>
              </a:lnSpc>
              <a:spcBef>
                <a:spcPts val="0"/>
              </a:spcBef>
              <a:spcAft>
                <a:spcPts val="0"/>
              </a:spcAft>
              <a:buSzPts val="3000"/>
              <a:buNone/>
              <a:defRPr>
                <a:latin typeface="Inter"/>
                <a:ea typeface="Inter"/>
                <a:cs typeface="Inter"/>
                <a:sym typeface="Inter"/>
              </a:defRPr>
            </a:lvl3pPr>
            <a:lvl4pPr lvl="3" algn="l">
              <a:lnSpc>
                <a:spcPct val="100000"/>
              </a:lnSpc>
              <a:spcBef>
                <a:spcPts val="0"/>
              </a:spcBef>
              <a:spcAft>
                <a:spcPts val="0"/>
              </a:spcAft>
              <a:buSzPts val="3000"/>
              <a:buNone/>
              <a:defRPr>
                <a:latin typeface="Inter"/>
                <a:ea typeface="Inter"/>
                <a:cs typeface="Inter"/>
                <a:sym typeface="Inter"/>
              </a:defRPr>
            </a:lvl4pPr>
            <a:lvl5pPr lvl="4" algn="l">
              <a:lnSpc>
                <a:spcPct val="100000"/>
              </a:lnSpc>
              <a:spcBef>
                <a:spcPts val="0"/>
              </a:spcBef>
              <a:spcAft>
                <a:spcPts val="0"/>
              </a:spcAft>
              <a:buSzPts val="3000"/>
              <a:buNone/>
              <a:defRPr>
                <a:latin typeface="Inter"/>
                <a:ea typeface="Inter"/>
                <a:cs typeface="Inter"/>
                <a:sym typeface="Inter"/>
              </a:defRPr>
            </a:lvl5pPr>
            <a:lvl6pPr lvl="5" algn="l">
              <a:lnSpc>
                <a:spcPct val="100000"/>
              </a:lnSpc>
              <a:spcBef>
                <a:spcPts val="0"/>
              </a:spcBef>
              <a:spcAft>
                <a:spcPts val="0"/>
              </a:spcAft>
              <a:buSzPts val="3000"/>
              <a:buNone/>
              <a:defRPr>
                <a:latin typeface="Inter"/>
                <a:ea typeface="Inter"/>
                <a:cs typeface="Inter"/>
                <a:sym typeface="Inter"/>
              </a:defRPr>
            </a:lvl6pPr>
            <a:lvl7pPr lvl="6" algn="l">
              <a:lnSpc>
                <a:spcPct val="100000"/>
              </a:lnSpc>
              <a:spcBef>
                <a:spcPts val="0"/>
              </a:spcBef>
              <a:spcAft>
                <a:spcPts val="0"/>
              </a:spcAft>
              <a:buSzPts val="3000"/>
              <a:buNone/>
              <a:defRPr>
                <a:latin typeface="Inter"/>
                <a:ea typeface="Inter"/>
                <a:cs typeface="Inter"/>
                <a:sym typeface="Inter"/>
              </a:defRPr>
            </a:lvl7pPr>
            <a:lvl8pPr lvl="7" algn="l">
              <a:lnSpc>
                <a:spcPct val="100000"/>
              </a:lnSpc>
              <a:spcBef>
                <a:spcPts val="0"/>
              </a:spcBef>
              <a:spcAft>
                <a:spcPts val="0"/>
              </a:spcAft>
              <a:buSzPts val="3000"/>
              <a:buNone/>
              <a:defRPr>
                <a:latin typeface="Inter"/>
                <a:ea typeface="Inter"/>
                <a:cs typeface="Inter"/>
                <a:sym typeface="Inter"/>
              </a:defRPr>
            </a:lvl8pPr>
            <a:lvl9pPr lvl="8" algn="l">
              <a:lnSpc>
                <a:spcPct val="100000"/>
              </a:lnSpc>
              <a:spcBef>
                <a:spcPts val="0"/>
              </a:spcBef>
              <a:spcAft>
                <a:spcPts val="0"/>
              </a:spcAft>
              <a:buSzPts val="3000"/>
              <a:buNone/>
              <a:defRPr>
                <a:latin typeface="Inter"/>
                <a:ea typeface="Inter"/>
                <a:cs typeface="Inter"/>
                <a:sym typeface="Inte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112" name="Google Shape;112;p27"/>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8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1600"/>
              </a:spcAft>
              <a:buClr>
                <a:schemeClr val="dk1"/>
              </a:buClr>
              <a:buSzPts val="1800"/>
              <a:buChar char="■"/>
              <a:defRPr/>
            </a:lvl9pPr>
          </a:lstStyle>
          <a:p>
            <a:endParaRPr/>
          </a:p>
        </p:txBody>
      </p:sp>
      <p:sp>
        <p:nvSpPr>
          <p:cNvPr id="113" name="Google Shape;113;p27"/>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4" name="Google Shape;114;p2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5" name="Google Shape;115;p2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116"/>
        <p:cNvGrpSpPr/>
        <p:nvPr/>
      </p:nvGrpSpPr>
      <p:grpSpPr>
        <a:xfrm>
          <a:off x="0" y="0"/>
          <a:ext cx="0" cy="0"/>
          <a:chOff x="0" y="0"/>
          <a:chExt cx="0" cy="0"/>
        </a:xfrm>
      </p:grpSpPr>
      <p:sp>
        <p:nvSpPr>
          <p:cNvPr id="117" name="Google Shape;117;p28"/>
          <p:cNvSpPr>
            <a:spLocks noGrp="1"/>
          </p:cNvSpPr>
          <p:nvPr>
            <p:ph type="pic" idx="2"/>
          </p:nvPr>
        </p:nvSpPr>
        <p:spPr>
          <a:xfrm>
            <a:off x="6090761" y="2576036"/>
            <a:ext cx="3050400" cy="2560200"/>
          </a:xfrm>
          <a:prstGeom prst="rect">
            <a:avLst/>
          </a:prstGeom>
          <a:noFill/>
          <a:ln>
            <a:noFill/>
          </a:ln>
        </p:spPr>
      </p:sp>
      <p:sp>
        <p:nvSpPr>
          <p:cNvPr id="118" name="Google Shape;118;p28"/>
          <p:cNvSpPr>
            <a:spLocks noGrp="1"/>
          </p:cNvSpPr>
          <p:nvPr>
            <p:ph type="pic" idx="3"/>
          </p:nvPr>
        </p:nvSpPr>
        <p:spPr>
          <a:xfrm>
            <a:off x="-8122" y="2576035"/>
            <a:ext cx="3050400" cy="2560200"/>
          </a:xfrm>
          <a:prstGeom prst="rect">
            <a:avLst/>
          </a:prstGeom>
          <a:noFill/>
          <a:ln>
            <a:noFill/>
          </a:ln>
        </p:spPr>
      </p:sp>
      <p:sp>
        <p:nvSpPr>
          <p:cNvPr id="119" name="Google Shape;119;p28"/>
          <p:cNvSpPr>
            <a:spLocks noGrp="1"/>
          </p:cNvSpPr>
          <p:nvPr>
            <p:ph type="pic" idx="4"/>
          </p:nvPr>
        </p:nvSpPr>
        <p:spPr>
          <a:xfrm>
            <a:off x="3040381" y="2855"/>
            <a:ext cx="3050400" cy="2560200"/>
          </a:xfrm>
          <a:prstGeom prst="rect">
            <a:avLst/>
          </a:prstGeom>
          <a:noFill/>
          <a:ln>
            <a:noFill/>
          </a:ln>
        </p:spPr>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Title - Confidential">
  <p:cSld name="Title - Confidential">
    <p:spTree>
      <p:nvGrpSpPr>
        <p:cNvPr id="1" name="Shape 120"/>
        <p:cNvGrpSpPr/>
        <p:nvPr/>
      </p:nvGrpSpPr>
      <p:grpSpPr>
        <a:xfrm>
          <a:off x="0" y="0"/>
          <a:ext cx="0" cy="0"/>
          <a:chOff x="0" y="0"/>
          <a:chExt cx="0" cy="0"/>
        </a:xfrm>
      </p:grpSpPr>
      <p:pic>
        <p:nvPicPr>
          <p:cNvPr id="121" name="Google Shape;121;p29"/>
          <p:cNvPicPr preferRelativeResize="0"/>
          <p:nvPr/>
        </p:nvPicPr>
        <p:blipFill rotWithShape="1">
          <a:blip r:embed="rId2">
            <a:alphaModFix/>
          </a:blip>
          <a:srcRect/>
          <a:stretch/>
        </p:blipFill>
        <p:spPr>
          <a:xfrm>
            <a:off x="91800" y="35775"/>
            <a:ext cx="1995575" cy="798225"/>
          </a:xfrm>
          <a:prstGeom prst="rect">
            <a:avLst/>
          </a:prstGeom>
          <a:noFill/>
          <a:ln>
            <a:noFill/>
          </a:ln>
        </p:spPr>
      </p:pic>
      <p:sp>
        <p:nvSpPr>
          <p:cNvPr id="122" name="Google Shape;122;p29"/>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23" name="Google Shape;123;p29"/>
          <p:cNvSpPr txBox="1">
            <a:spLocks noGrp="1"/>
          </p:cNvSpPr>
          <p:nvPr>
            <p:ph type="title"/>
          </p:nvPr>
        </p:nvSpPr>
        <p:spPr>
          <a:xfrm>
            <a:off x="457200" y="2228850"/>
            <a:ext cx="8229600" cy="685800"/>
          </a:xfrm>
          <a:prstGeom prst="rect">
            <a:avLst/>
          </a:prstGeom>
          <a:no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24" name="Google Shape;124;p29"/>
          <p:cNvSpPr/>
          <p:nvPr/>
        </p:nvSpPr>
        <p:spPr>
          <a:xfrm>
            <a:off x="7367620" y="4791863"/>
            <a:ext cx="1776300" cy="351600"/>
          </a:xfrm>
          <a:prstGeom prst="rect">
            <a:avLst/>
          </a:prstGeom>
          <a:solidFill>
            <a:srgbClr val="FFFFFF"/>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FFFFFF"/>
              </a:buClr>
              <a:buSzPts val="1400"/>
              <a:buFont typeface="Open Sans"/>
              <a:buNone/>
            </a:pPr>
            <a:endParaRPr sz="1400" b="0" i="0" u="none" strike="noStrike" cap="none">
              <a:solidFill>
                <a:srgbClr val="000000"/>
              </a:solidFill>
              <a:latin typeface="Open Sans"/>
              <a:ea typeface="Open Sans"/>
              <a:cs typeface="Open Sans"/>
              <a:sym typeface="Open Sans"/>
            </a:endParaRPr>
          </a:p>
        </p:txBody>
      </p:sp>
      <p:sp>
        <p:nvSpPr>
          <p:cNvPr id="125" name="Google Shape;125;p29"/>
          <p:cNvSpPr/>
          <p:nvPr/>
        </p:nvSpPr>
        <p:spPr>
          <a:xfrm>
            <a:off x="4564242" y="4828127"/>
            <a:ext cx="4287900" cy="126000"/>
          </a:xfrm>
          <a:prstGeom prst="rect">
            <a:avLst/>
          </a:prstGeom>
          <a:solidFill>
            <a:srgbClr val="FFFFFF"/>
          </a:solidFill>
          <a:ln>
            <a:noFill/>
          </a:ln>
        </p:spPr>
        <p:txBody>
          <a:bodyPr spcFirstLastPara="1" wrap="square" lIns="45700" tIns="45700" rIns="45700" bIns="45700" anchor="b" anchorCtr="0">
            <a:noAutofit/>
          </a:bodyPr>
          <a:lstStyle/>
          <a:p>
            <a:pPr marL="0" marR="0" lvl="0" indent="0" algn="r" rtl="0">
              <a:lnSpc>
                <a:spcPct val="100000"/>
              </a:lnSpc>
              <a:spcBef>
                <a:spcPts val="0"/>
              </a:spcBef>
              <a:spcAft>
                <a:spcPts val="0"/>
              </a:spcAft>
              <a:buClr>
                <a:srgbClr val="808080"/>
              </a:buClr>
              <a:buSzPts val="1400"/>
              <a:buFont typeface="Open Sans SemiBold"/>
              <a:buNone/>
            </a:pPr>
            <a:endParaRPr sz="1400" b="0" i="0" u="none" strike="noStrike" cap="none">
              <a:solidFill>
                <a:srgbClr val="000000"/>
              </a:solidFill>
              <a:latin typeface="Open Sans"/>
              <a:ea typeface="Open Sans"/>
              <a:cs typeface="Open Sans"/>
              <a:sym typeface="Open Sans"/>
            </a:endParaRPr>
          </a:p>
        </p:txBody>
      </p:sp>
      <p:pic>
        <p:nvPicPr>
          <p:cNvPr id="126" name="Google Shape;126;p29"/>
          <p:cNvPicPr preferRelativeResize="0"/>
          <p:nvPr/>
        </p:nvPicPr>
        <p:blipFill rotWithShape="1">
          <a:blip r:embed="rId3">
            <a:alphaModFix/>
          </a:blip>
          <a:srcRect/>
          <a:stretch/>
        </p:blipFill>
        <p:spPr>
          <a:xfrm>
            <a:off x="91800" y="889476"/>
            <a:ext cx="2032225" cy="182105"/>
          </a:xfrm>
          <a:prstGeom prst="rect">
            <a:avLst/>
          </a:prstGeom>
          <a:noFill/>
          <a:ln>
            <a:noFill/>
          </a:ln>
        </p:spPr>
      </p:pic>
      <p:pic>
        <p:nvPicPr>
          <p:cNvPr id="127" name="Google Shape;127;p29"/>
          <p:cNvPicPr preferRelativeResize="0"/>
          <p:nvPr/>
        </p:nvPicPr>
        <p:blipFill rotWithShape="1">
          <a:blip r:embed="rId4">
            <a:alphaModFix/>
          </a:blip>
          <a:srcRect/>
          <a:stretch/>
        </p:blipFill>
        <p:spPr>
          <a:xfrm>
            <a:off x="4522038" y="37550"/>
            <a:ext cx="4521986" cy="79822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 Alternative">
  <p:cSld name="Title - Alternative">
    <p:spTree>
      <p:nvGrpSpPr>
        <p:cNvPr id="1" name="Shape 128"/>
        <p:cNvGrpSpPr/>
        <p:nvPr/>
      </p:nvGrpSpPr>
      <p:grpSpPr>
        <a:xfrm>
          <a:off x="0" y="0"/>
          <a:ext cx="0" cy="0"/>
          <a:chOff x="0" y="0"/>
          <a:chExt cx="0" cy="0"/>
        </a:xfrm>
      </p:grpSpPr>
      <p:pic>
        <p:nvPicPr>
          <p:cNvPr id="129" name="Google Shape;129;p30"/>
          <p:cNvPicPr preferRelativeResize="0"/>
          <p:nvPr/>
        </p:nvPicPr>
        <p:blipFill rotWithShape="1">
          <a:blip r:embed="rId2">
            <a:alphaModFix/>
          </a:blip>
          <a:srcRect/>
          <a:stretch/>
        </p:blipFill>
        <p:spPr>
          <a:xfrm>
            <a:off x="4160301" y="4804157"/>
            <a:ext cx="983201" cy="206570"/>
          </a:xfrm>
          <a:prstGeom prst="rect">
            <a:avLst/>
          </a:prstGeom>
          <a:noFill/>
          <a:ln>
            <a:noFill/>
          </a:ln>
        </p:spPr>
      </p:pic>
      <p:pic>
        <p:nvPicPr>
          <p:cNvPr id="130" name="Google Shape;130;p30"/>
          <p:cNvPicPr preferRelativeResize="0"/>
          <p:nvPr/>
        </p:nvPicPr>
        <p:blipFill rotWithShape="1">
          <a:blip r:embed="rId3">
            <a:alphaModFix/>
          </a:blip>
          <a:srcRect/>
          <a:stretch/>
        </p:blipFill>
        <p:spPr>
          <a:xfrm>
            <a:off x="5332188" y="4762526"/>
            <a:ext cx="1641834" cy="289835"/>
          </a:xfrm>
          <a:prstGeom prst="rect">
            <a:avLst/>
          </a:prstGeom>
          <a:noFill/>
          <a:ln>
            <a:noFill/>
          </a:ln>
        </p:spPr>
      </p:pic>
      <p:pic>
        <p:nvPicPr>
          <p:cNvPr id="131" name="Google Shape;131;p30"/>
          <p:cNvPicPr preferRelativeResize="0"/>
          <p:nvPr/>
        </p:nvPicPr>
        <p:blipFill rotWithShape="1">
          <a:blip r:embed="rId4">
            <a:alphaModFix/>
          </a:blip>
          <a:srcRect/>
          <a:stretch/>
        </p:blipFill>
        <p:spPr>
          <a:xfrm>
            <a:off x="2608280" y="4846354"/>
            <a:ext cx="1363334" cy="122178"/>
          </a:xfrm>
          <a:prstGeom prst="rect">
            <a:avLst/>
          </a:prstGeom>
          <a:noFill/>
          <a:ln>
            <a:noFill/>
          </a:ln>
        </p:spPr>
      </p:pic>
      <p:sp>
        <p:nvSpPr>
          <p:cNvPr id="132" name="Google Shape;132;p30"/>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33" name="Google Shape;133;p30"/>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FFFFFF"/>
              </a:buClr>
              <a:buSzPts val="2700"/>
              <a:buFont typeface="Open Sans"/>
              <a:buNone/>
              <a:defRPr sz="2700" b="0" i="0" u="none" strike="noStrike" cap="none">
                <a:solidFill>
                  <a:srgbClr val="FFFFFF"/>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34" name="Google Shape;134;p30"/>
          <p:cNvSpPr txBox="1">
            <a:spLocks noGrp="1"/>
          </p:cNvSpPr>
          <p:nvPr>
            <p:ph type="body" idx="1"/>
          </p:nvPr>
        </p:nvSpPr>
        <p:spPr>
          <a:xfrm>
            <a:off x="457200" y="1028701"/>
            <a:ext cx="8229600" cy="3600600"/>
          </a:xfrm>
          <a:prstGeom prst="rect">
            <a:avLst/>
          </a:prstGeom>
          <a:noFill/>
          <a:ln>
            <a:noFill/>
          </a:ln>
        </p:spPr>
        <p:txBody>
          <a:bodyPr spcFirstLastPara="1" wrap="square" lIns="91425" tIns="91425" rIns="91425" bIns="91425" anchor="t" anchorCtr="0">
            <a:noAutofit/>
          </a:bodyPr>
          <a:lstStyle>
            <a:lvl1pPr marL="457200" marR="0" lvl="0"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1pPr>
            <a:lvl2pPr marL="914400" marR="0" lvl="1"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2pPr>
            <a:lvl3pPr marL="1371600" marR="0" lvl="2"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3pPr>
            <a:lvl4pPr marL="1828800" marR="0" lvl="3"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4pPr>
            <a:lvl5pPr marL="2286000" marR="0" lvl="4"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5pPr>
            <a:lvl6pPr marL="2743200" marR="0" lvl="5"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6pPr>
            <a:lvl7pPr marL="3200400" marR="0" lvl="6"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7pPr>
            <a:lvl8pPr marL="3657600" marR="0" lvl="7"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8pPr>
            <a:lvl9pPr marL="4114800" marR="0" lvl="8"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wiss-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1pPr>
            <a:lvl2pPr marR="0" lvl="1"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2pPr>
            <a:lvl3pPr marR="0" lvl="2"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3pPr>
            <a:lvl4pPr marR="0" lvl="3"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4pPr>
            <a:lvl5pPr marR="0" lvl="4"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5pPr>
            <a:lvl6pPr marR="0" lvl="5"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6pPr>
            <a:lvl7pPr marR="0" lvl="6"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7pPr>
            <a:lvl8pPr marR="0" lvl="7"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8pPr>
            <a:lvl9pPr marR="0" lvl="8"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9pPr>
          </a:lstStyle>
          <a:p>
            <a:endParaRPr/>
          </a:p>
        </p:txBody>
      </p:sp>
      <p:sp>
        <p:nvSpPr>
          <p:cNvPr id="52" name="Google Shape;52;p13"/>
          <p:cNvSpPr txBox="1">
            <a:spLocks noGrp="1"/>
          </p:cNvSpPr>
          <p:nvPr>
            <p:ph type="body" idx="1"/>
          </p:nvPr>
        </p:nvSpPr>
        <p:spPr>
          <a:xfrm>
            <a:off x="2410112" y="1595776"/>
            <a:ext cx="6321600" cy="3002400"/>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chemeClr val="dk2"/>
              </a:buClr>
              <a:buSzPts val="1800"/>
              <a:buFont typeface="Inter"/>
              <a:buChar char="●"/>
              <a:defRPr sz="1800" b="0" i="0" u="none" strike="noStrike" cap="none">
                <a:solidFill>
                  <a:schemeClr val="dk2"/>
                </a:solidFill>
                <a:latin typeface="Inter"/>
                <a:ea typeface="Inter"/>
                <a:cs typeface="Inter"/>
                <a:sym typeface="Inter"/>
              </a:defRPr>
            </a:lvl1pPr>
            <a:lvl2pPr marL="914400" marR="0" lvl="1"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2pPr>
            <a:lvl3pPr marL="1371600" marR="0" lvl="2"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3pPr>
            <a:lvl4pPr marL="1828800" marR="0" lvl="3"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4pPr>
            <a:lvl5pPr marL="2286000" marR="0" lvl="4"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5pPr>
            <a:lvl6pPr marL="2743200" marR="0" lvl="5"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6pPr>
            <a:lvl7pPr marL="3200400" marR="0" lvl="6"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7pPr>
            <a:lvl8pPr marL="3657600" marR="0" lvl="7"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8pPr>
            <a:lvl9pPr marL="4114800" marR="0" lvl="8" indent="-317500" algn="l">
              <a:lnSpc>
                <a:spcPct val="115000"/>
              </a:lnSpc>
              <a:spcBef>
                <a:spcPts val="1600"/>
              </a:spcBef>
              <a:spcAft>
                <a:spcPts val="1600"/>
              </a:spcAft>
              <a:buClr>
                <a:schemeClr val="dk2"/>
              </a:buClr>
              <a:buSzPts val="1400"/>
              <a:buFont typeface="Inter"/>
              <a:buChar char="■"/>
              <a:defRPr sz="1400" b="0" i="0" u="none" strike="noStrike" cap="none">
                <a:solidFill>
                  <a:schemeClr val="dk2"/>
                </a:solidFill>
                <a:latin typeface="Inter"/>
                <a:ea typeface="Inter"/>
                <a:cs typeface="Inter"/>
                <a:sym typeface="Inter"/>
              </a:defRPr>
            </a:lvl9pPr>
          </a:lstStyle>
          <a:p>
            <a:endParaRPr/>
          </a:p>
        </p:txBody>
      </p:sp>
      <p:sp>
        <p:nvSpPr>
          <p:cNvPr id="53" name="Google Shape;53;p1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8.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8.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8.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8.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8.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8.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1"/>
          <p:cNvSpPr/>
          <p:nvPr/>
        </p:nvSpPr>
        <p:spPr>
          <a:xfrm>
            <a:off x="3181091" y="3340431"/>
            <a:ext cx="3479400" cy="1552200"/>
          </a:xfrm>
          <a:prstGeom prst="rect">
            <a:avLst/>
          </a:prstGeom>
          <a:noFill/>
          <a:ln>
            <a:noFill/>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1400"/>
              <a:buFont typeface="Open Sans"/>
              <a:buNone/>
            </a:pPr>
            <a:endParaRPr lang="en" dirty="0">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dirty="0">
                <a:latin typeface="Open Sans SemiBold"/>
                <a:ea typeface="Open Sans SemiBold"/>
                <a:cs typeface="Open Sans SemiBold"/>
                <a:sym typeface="Open Sans SemiBold"/>
              </a:rPr>
              <a:t>Jack Lasota</a:t>
            </a:r>
            <a:endParaRPr sz="1400" b="0" i="0" u="none" strike="noStrike" cap="none" dirty="0">
              <a:solidFill>
                <a:srgbClr val="000000"/>
              </a:solidFill>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Pittsburgh Supercomputing Center (PSC)</a:t>
            </a:r>
            <a:endParaRPr sz="1400" b="0" i="0" u="none" strike="noStrike" cap="none" dirty="0">
              <a:solidFill>
                <a:srgbClr val="000000"/>
              </a:solidFill>
              <a:latin typeface="Open Sans"/>
              <a:ea typeface="Open Sans"/>
              <a:cs typeface="Open Sans"/>
              <a:sym typeface="Open Sans"/>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Carnegie Mellon University / University of Pittsburgh</a:t>
            </a:r>
            <a:endParaRPr sz="1400" b="0" i="0" u="none" strike="noStrike" cap="none" dirty="0">
              <a:solidFill>
                <a:srgbClr val="000000"/>
              </a:solidFill>
              <a:latin typeface="Open Sans"/>
              <a:ea typeface="Open Sans"/>
              <a:cs typeface="Open Sans"/>
              <a:sym typeface="Open Sans"/>
            </a:endParaRPr>
          </a:p>
        </p:txBody>
      </p:sp>
      <p:sp>
        <p:nvSpPr>
          <p:cNvPr id="140" name="Google Shape;140;p31"/>
          <p:cNvSpPr txBox="1">
            <a:spLocks noGrp="1"/>
          </p:cNvSpPr>
          <p:nvPr>
            <p:ph type="title"/>
          </p:nvPr>
        </p:nvSpPr>
        <p:spPr>
          <a:xfrm>
            <a:off x="999241" y="1371818"/>
            <a:ext cx="7843100" cy="1612800"/>
          </a:xfrm>
          <a:prstGeom prst="rect">
            <a:avLst/>
          </a:prstGeom>
          <a:no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BB0000"/>
              </a:buClr>
              <a:buSzPts val="3280"/>
              <a:buFont typeface="Open Sans"/>
              <a:buNone/>
            </a:pPr>
            <a:br>
              <a:rPr lang="en" sz="3800" dirty="0">
                <a:solidFill>
                  <a:srgbClr val="BB002A"/>
                </a:solidFill>
              </a:rPr>
            </a:br>
            <a:r>
              <a:rPr lang="en" sz="3800" dirty="0">
                <a:solidFill>
                  <a:srgbClr val="BB002A"/>
                </a:solidFill>
              </a:rPr>
              <a:t>Integrating and Interpreting Single-Cell Datasets</a:t>
            </a:r>
            <a:endParaRPr b="0" i="1" u="none" strike="noStrike" cap="none" dirty="0">
              <a:solidFill>
                <a:srgbClr val="BB002A"/>
              </a:solidFill>
              <a:latin typeface="Open Sans"/>
              <a:ea typeface="Open Sans"/>
              <a:cs typeface="Open Sans"/>
              <a:sym typeface="Open Sans"/>
            </a:endParaRPr>
          </a:p>
        </p:txBody>
      </p:sp>
      <p:sp>
        <p:nvSpPr>
          <p:cNvPr id="142" name="Google Shape;142;p31"/>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lnSpc>
                <a:spcPct val="100000"/>
              </a:lnSpc>
              <a:spcBef>
                <a:spcPts val="0"/>
              </a:spcBef>
              <a:spcAft>
                <a:spcPts val="0"/>
              </a:spcAft>
              <a:buClr>
                <a:srgbClr val="404040"/>
              </a:buClr>
              <a:buSzPts val="800"/>
              <a:buFont typeface="Open Sans"/>
              <a:buNone/>
            </a:pPr>
            <a:fld id="{00000000-1234-1234-1234-123412341234}" type="slidenum">
              <a:rPr lang="en"/>
              <a:t>1</a:t>
            </a:fld>
            <a:endParaRPr/>
          </a:p>
        </p:txBody>
      </p:sp>
      <p:pic>
        <p:nvPicPr>
          <p:cNvPr id="143" name="Google Shape;143;p31"/>
          <p:cNvPicPr preferRelativeResize="0"/>
          <p:nvPr/>
        </p:nvPicPr>
        <p:blipFill rotWithShape="1">
          <a:blip r:embed="rId3">
            <a:alphaModFix/>
          </a:blip>
          <a:srcRect/>
          <a:stretch/>
        </p:blipFill>
        <p:spPr>
          <a:xfrm>
            <a:off x="0" y="1138106"/>
            <a:ext cx="1430850" cy="36930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32"/>
          <p:cNvSpPr txBox="1">
            <a:spLocks noGrp="1"/>
          </p:cNvSpPr>
          <p:nvPr>
            <p:ph type="title"/>
          </p:nvPr>
        </p:nvSpPr>
        <p:spPr>
          <a:xfrm>
            <a:off x="1292720" y="2254050"/>
            <a:ext cx="6558559" cy="635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000"/>
              <a:buNone/>
            </a:pPr>
            <a:r>
              <a:rPr lang="en" b="1" dirty="0">
                <a:latin typeface="Open Sans" panose="020B0606030504020204" pitchFamily="34" charset="0"/>
                <a:ea typeface="Open Sans" panose="020B0606030504020204" pitchFamily="34" charset="0"/>
                <a:cs typeface="Open Sans" panose="020B0606030504020204" pitchFamily="34" charset="0"/>
              </a:rPr>
              <a:t>Project Overview &amp; Background</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4DC1A-BADD-CF90-9A1A-1CA771AB7C33}"/>
              </a:ext>
            </a:extLst>
          </p:cNvPr>
          <p:cNvSpPr>
            <a:spLocks noGrp="1"/>
          </p:cNvSpPr>
          <p:nvPr>
            <p:ph type="title"/>
          </p:nvPr>
        </p:nvSpPr>
        <p:spPr/>
        <p:txBody>
          <a:bodyPr/>
          <a:lstStyle/>
          <a:p>
            <a:r>
              <a:rPr lang="en-US" dirty="0"/>
              <a:t>Pittsburgh Supercomputing Center</a:t>
            </a:r>
          </a:p>
        </p:txBody>
      </p:sp>
      <p:sp>
        <p:nvSpPr>
          <p:cNvPr id="3" name="Text Placeholder 2">
            <a:extLst>
              <a:ext uri="{FF2B5EF4-FFF2-40B4-BE49-F238E27FC236}">
                <a16:creationId xmlns:a16="http://schemas.microsoft.com/office/drawing/2014/main" id="{DE0D0A49-1DEB-AD0F-AE9B-B0BC510BFD3F}"/>
              </a:ext>
            </a:extLst>
          </p:cNvPr>
          <p:cNvSpPr>
            <a:spLocks noGrp="1"/>
          </p:cNvSpPr>
          <p:nvPr>
            <p:ph type="body" idx="1"/>
          </p:nvPr>
        </p:nvSpPr>
        <p:spPr>
          <a:xfrm>
            <a:off x="161365" y="771449"/>
            <a:ext cx="5204011" cy="3827446"/>
          </a:xfrm>
        </p:spPr>
        <p:txBody>
          <a:bodyPr/>
          <a:lstStyle/>
          <a:p>
            <a:r>
              <a:rPr lang="en-US" sz="1700" dirty="0">
                <a:solidFill>
                  <a:schemeClr val="bg2"/>
                </a:solidFill>
              </a:rPr>
              <a:t>Jointly operated by Carnegie Mellon University &amp; University of Pittsburgh.</a:t>
            </a:r>
          </a:p>
          <a:p>
            <a:r>
              <a:rPr lang="en-US" sz="1700" dirty="0">
                <a:solidFill>
                  <a:schemeClr val="bg2"/>
                </a:solidFill>
              </a:rPr>
              <a:t>Provides high-performance computing and networking for university, government, and industry researchers.</a:t>
            </a:r>
          </a:p>
          <a:p>
            <a:r>
              <a:rPr lang="en-US" sz="1700" dirty="0">
                <a:solidFill>
                  <a:schemeClr val="bg2"/>
                </a:solidFill>
              </a:rPr>
              <a:t>Powers computation-heavy research in:</a:t>
            </a:r>
          </a:p>
          <a:p>
            <a:pPr lvl="1"/>
            <a:r>
              <a:rPr lang="en-US" sz="1700" dirty="0">
                <a:solidFill>
                  <a:schemeClr val="bg2"/>
                </a:solidFill>
              </a:rPr>
              <a:t>Data analytics, machine learning, AI &amp; deep learning.</a:t>
            </a:r>
          </a:p>
          <a:p>
            <a:pPr lvl="1"/>
            <a:r>
              <a:rPr lang="en-US" sz="1700" dirty="0">
                <a:solidFill>
                  <a:schemeClr val="bg2"/>
                </a:solidFill>
              </a:rPr>
              <a:t>Biomolecular simulation and scientific discovery.</a:t>
            </a:r>
          </a:p>
          <a:p>
            <a:r>
              <a:rPr lang="en-US" sz="1700" dirty="0">
                <a:solidFill>
                  <a:schemeClr val="bg2"/>
                </a:solidFill>
              </a:rPr>
              <a:t>Premier supercomputers include Bridges-2 &amp; Anton.</a:t>
            </a:r>
          </a:p>
        </p:txBody>
      </p:sp>
      <p:sp>
        <p:nvSpPr>
          <p:cNvPr id="4" name="Rectangle 3">
            <a:extLst>
              <a:ext uri="{FF2B5EF4-FFF2-40B4-BE49-F238E27FC236}">
                <a16:creationId xmlns:a16="http://schemas.microsoft.com/office/drawing/2014/main" id="{DF43272A-CD5B-CE46-1926-0715167792B8}"/>
              </a:ext>
            </a:extLst>
          </p:cNvPr>
          <p:cNvSpPr/>
          <p:nvPr/>
        </p:nvSpPr>
        <p:spPr>
          <a:xfrm>
            <a:off x="5583140" y="1417786"/>
            <a:ext cx="3211235" cy="22991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FDD0BEE6-023C-2F88-8D37-48C89C6D3091}"/>
              </a:ext>
            </a:extLst>
          </p:cNvPr>
          <p:cNvPicPr>
            <a:picLocks noChangeAspect="1"/>
          </p:cNvPicPr>
          <p:nvPr/>
        </p:nvPicPr>
        <p:blipFill>
          <a:blip r:embed="rId3"/>
          <a:stretch>
            <a:fillRect/>
          </a:stretch>
        </p:blipFill>
        <p:spPr>
          <a:xfrm>
            <a:off x="5640400" y="1525363"/>
            <a:ext cx="3086879" cy="2092773"/>
          </a:xfrm>
          <a:prstGeom prst="rect">
            <a:avLst/>
          </a:prstGeom>
          <a:effectLst>
            <a:softEdge rad="25400"/>
          </a:effectLst>
        </p:spPr>
      </p:pic>
    </p:spTree>
    <p:extLst>
      <p:ext uri="{BB962C8B-B14F-4D97-AF65-F5344CB8AC3E}">
        <p14:creationId xmlns:p14="http://schemas.microsoft.com/office/powerpoint/2010/main" val="1098428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5" name="Google Shape;155;p33"/>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50000"/>
              </a:lnSpc>
              <a:spcBef>
                <a:spcPts val="0"/>
              </a:spcBef>
              <a:spcAft>
                <a:spcPts val="0"/>
              </a:spcAft>
              <a:buSzPts val="2700"/>
              <a:buNone/>
            </a:pPr>
            <a:r>
              <a:rPr lang="en" dirty="0"/>
              <a:t>From Raw Data to Integration: Project Goals &amp; Tools</a:t>
            </a:r>
            <a:endParaRPr dirty="0"/>
          </a:p>
        </p:txBody>
      </p:sp>
      <p:sp>
        <p:nvSpPr>
          <p:cNvPr id="156" name="Google Shape;156;p33"/>
          <p:cNvSpPr txBox="1">
            <a:spLocks noGrp="1"/>
          </p:cNvSpPr>
          <p:nvPr>
            <p:ph type="body" idx="1"/>
          </p:nvPr>
        </p:nvSpPr>
        <p:spPr>
          <a:xfrm>
            <a:off x="149067" y="726682"/>
            <a:ext cx="8845866" cy="3690136"/>
          </a:xfrm>
          <a:prstGeom prst="rect">
            <a:avLst/>
          </a:prstGeom>
          <a:noFill/>
          <a:ln>
            <a:noFill/>
          </a:ln>
        </p:spPr>
        <p:txBody>
          <a:bodyPr spcFirstLastPara="1" wrap="square" lIns="91425" tIns="91425" rIns="91425" bIns="91425" anchor="t" anchorCtr="0">
            <a:noAutofit/>
          </a:bodyPr>
          <a:lstStyle/>
          <a:p>
            <a:r>
              <a:rPr lang="en-US" sz="1800" b="1" dirty="0">
                <a:solidFill>
                  <a:schemeClr val="bg2"/>
                </a:solidFill>
              </a:rPr>
              <a:t>Objective:</a:t>
            </a:r>
            <a:r>
              <a:rPr lang="en-US" sz="1800" dirty="0">
                <a:solidFill>
                  <a:schemeClr val="bg2"/>
                </a:solidFill>
              </a:rPr>
              <a:t>  Create and utilize pipelines to interpret large-scale biological data and provide accessible tools.</a:t>
            </a:r>
          </a:p>
          <a:p>
            <a:r>
              <a:rPr lang="en-US" sz="1800" b="1" dirty="0">
                <a:solidFill>
                  <a:schemeClr val="bg2"/>
                </a:solidFill>
              </a:rPr>
              <a:t>Standardization:</a:t>
            </a:r>
            <a:r>
              <a:rPr lang="en-US" sz="1800" dirty="0">
                <a:solidFill>
                  <a:schemeClr val="bg2"/>
                </a:solidFill>
              </a:rPr>
              <a:t> Uniformly process data so results are comparable across sources.</a:t>
            </a:r>
          </a:p>
          <a:p>
            <a:r>
              <a:rPr lang="en-US" sz="1800" b="1" dirty="0">
                <a:solidFill>
                  <a:schemeClr val="bg2"/>
                </a:solidFill>
              </a:rPr>
              <a:t>Tools:</a:t>
            </a:r>
            <a:r>
              <a:rPr lang="en-US" sz="1800" dirty="0">
                <a:solidFill>
                  <a:schemeClr val="bg2"/>
                </a:solidFill>
              </a:rPr>
              <a:t> Use Python (</a:t>
            </a:r>
            <a:r>
              <a:rPr lang="en-US" sz="1800" dirty="0" err="1">
                <a:solidFill>
                  <a:schemeClr val="bg2"/>
                </a:solidFill>
              </a:rPr>
              <a:t>Jupyter</a:t>
            </a:r>
            <a:r>
              <a:rPr lang="en-US" sz="1800" dirty="0">
                <a:solidFill>
                  <a:schemeClr val="bg2"/>
                </a:solidFill>
              </a:rPr>
              <a:t> notebook) and biology-specific toolkits/libraries, such as </a:t>
            </a:r>
            <a:r>
              <a:rPr lang="en-US" sz="1800" dirty="0" err="1">
                <a:solidFill>
                  <a:schemeClr val="bg2"/>
                </a:solidFill>
              </a:rPr>
              <a:t>AnnData</a:t>
            </a:r>
            <a:r>
              <a:rPr lang="en-US" sz="1800" dirty="0">
                <a:solidFill>
                  <a:schemeClr val="bg2"/>
                </a:solidFill>
              </a:rPr>
              <a:t> and </a:t>
            </a:r>
            <a:r>
              <a:rPr lang="en-US" sz="1800" dirty="0" err="1">
                <a:solidFill>
                  <a:schemeClr val="bg2"/>
                </a:solidFill>
              </a:rPr>
              <a:t>Scanpy</a:t>
            </a:r>
            <a:r>
              <a:rPr lang="en-US" sz="1800" dirty="0">
                <a:solidFill>
                  <a:schemeClr val="bg2"/>
                </a:solidFill>
              </a:rPr>
              <a:t> for data analysis.</a:t>
            </a:r>
          </a:p>
          <a:p>
            <a:r>
              <a:rPr lang="en-US" sz="1800" b="1" dirty="0">
                <a:solidFill>
                  <a:schemeClr val="bg2"/>
                </a:solidFill>
              </a:rPr>
              <a:t>Environment:</a:t>
            </a:r>
            <a:r>
              <a:rPr lang="en-US" sz="1800" dirty="0">
                <a:solidFill>
                  <a:schemeClr val="bg2"/>
                </a:solidFill>
              </a:rPr>
              <a:t> All computation is run in high-performance UNIX environments, like those available at PSC.</a:t>
            </a:r>
          </a:p>
          <a:p>
            <a:r>
              <a:rPr lang="en-US" sz="1800" b="1" dirty="0">
                <a:solidFill>
                  <a:schemeClr val="bg2"/>
                </a:solidFill>
              </a:rPr>
              <a:t>Data Products:</a:t>
            </a:r>
            <a:r>
              <a:rPr lang="en-US" sz="1800" dirty="0">
                <a:solidFill>
                  <a:schemeClr val="bg2"/>
                </a:solidFill>
              </a:rPr>
              <a:t> Strive for outputs that are clean, structured datasets ready to be explored, visualized, or used for integration/annotation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3132D9B-C05B-0465-C587-A2DDA1BF3ADA}"/>
              </a:ext>
            </a:extLst>
          </p:cNvPr>
          <p:cNvSpPr/>
          <p:nvPr/>
        </p:nvSpPr>
        <p:spPr>
          <a:xfrm>
            <a:off x="3485271" y="799244"/>
            <a:ext cx="5564460" cy="35450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graph&#10;&#10;AI-generated content may be incorrect.">
            <a:extLst>
              <a:ext uri="{FF2B5EF4-FFF2-40B4-BE49-F238E27FC236}">
                <a16:creationId xmlns:a16="http://schemas.microsoft.com/office/drawing/2014/main" id="{68FDAE75-81CD-0D9A-C4C5-A3D410E2DD29}"/>
              </a:ext>
            </a:extLst>
          </p:cNvPr>
          <p:cNvPicPr>
            <a:picLocks noChangeAspect="1"/>
          </p:cNvPicPr>
          <p:nvPr/>
        </p:nvPicPr>
        <p:blipFill>
          <a:blip r:embed="rId3"/>
          <a:stretch>
            <a:fillRect/>
          </a:stretch>
        </p:blipFill>
        <p:spPr>
          <a:xfrm>
            <a:off x="3649261" y="887145"/>
            <a:ext cx="5246410" cy="2742069"/>
          </a:xfrm>
          <a:prstGeom prst="rect">
            <a:avLst/>
          </a:prstGeom>
          <a:effectLst>
            <a:softEdge rad="38100"/>
          </a:effectLst>
        </p:spPr>
      </p:pic>
      <p:sp>
        <p:nvSpPr>
          <p:cNvPr id="2" name="Title 1">
            <a:extLst>
              <a:ext uri="{FF2B5EF4-FFF2-40B4-BE49-F238E27FC236}">
                <a16:creationId xmlns:a16="http://schemas.microsoft.com/office/drawing/2014/main" id="{4A3FDEF0-0E9E-89FE-9528-247524E878CD}"/>
              </a:ext>
            </a:extLst>
          </p:cNvPr>
          <p:cNvSpPr>
            <a:spLocks noGrp="1"/>
          </p:cNvSpPr>
          <p:nvPr>
            <p:ph type="title"/>
          </p:nvPr>
        </p:nvSpPr>
        <p:spPr/>
        <p:txBody>
          <a:bodyPr/>
          <a:lstStyle/>
          <a:p>
            <a:r>
              <a:rPr lang="en-US" dirty="0" err="1"/>
              <a:t>HuBMAP</a:t>
            </a:r>
            <a:r>
              <a:rPr lang="en-US" dirty="0"/>
              <a:t> Consortium Data Portal</a:t>
            </a:r>
          </a:p>
        </p:txBody>
      </p:sp>
      <p:sp>
        <p:nvSpPr>
          <p:cNvPr id="7" name="TextBox 6">
            <a:extLst>
              <a:ext uri="{FF2B5EF4-FFF2-40B4-BE49-F238E27FC236}">
                <a16:creationId xmlns:a16="http://schemas.microsoft.com/office/drawing/2014/main" id="{4E897383-628D-B6F7-86C1-EB41F28BEB35}"/>
              </a:ext>
            </a:extLst>
          </p:cNvPr>
          <p:cNvSpPr txBox="1"/>
          <p:nvPr/>
        </p:nvSpPr>
        <p:spPr>
          <a:xfrm>
            <a:off x="94269" y="645831"/>
            <a:ext cx="3391000" cy="4278094"/>
          </a:xfrm>
          <a:prstGeom prst="rect">
            <a:avLst/>
          </a:prstGeom>
          <a:noFill/>
        </p:spPr>
        <p:txBody>
          <a:bodyPr wrap="square" rtlCol="0">
            <a:spAutoFit/>
          </a:bodyPr>
          <a:lstStyle/>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Data Portal:</a:t>
            </a:r>
            <a:r>
              <a:rPr lang="en-US" sz="1600" dirty="0">
                <a:latin typeface="Open Sans" panose="020B0606030504020204" pitchFamily="34" charset="0"/>
                <a:ea typeface="Open Sans" panose="020B0606030504020204" pitchFamily="34" charset="0"/>
                <a:cs typeface="Open Sans" panose="020B0606030504020204" pitchFamily="34" charset="0"/>
              </a:rPr>
              <a:t> Centralized access to datasets with tools for analysis and visualization.</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Discovery:</a:t>
            </a:r>
            <a:r>
              <a:rPr lang="en-US" sz="1600" dirty="0">
                <a:latin typeface="Open Sans" panose="020B0606030504020204" pitchFamily="34" charset="0"/>
                <a:ea typeface="Open Sans" panose="020B0606030504020204" pitchFamily="34" charset="0"/>
                <a:cs typeface="Open Sans" panose="020B0606030504020204" pitchFamily="34" charset="0"/>
              </a:rPr>
              <a:t> Search or browse by organ, cell type, or molecule.</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Visualization:</a:t>
            </a:r>
            <a:r>
              <a:rPr lang="en-US" sz="1600" dirty="0">
                <a:latin typeface="Open Sans" panose="020B0606030504020204" pitchFamily="34" charset="0"/>
                <a:ea typeface="Open Sans" panose="020B0606030504020204" pitchFamily="34" charset="0"/>
                <a:cs typeface="Open Sans" panose="020B0606030504020204" pitchFamily="34" charset="0"/>
              </a:rPr>
              <a:t> Interactive tools for spatial and single-cell data.</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Access:</a:t>
            </a:r>
            <a:r>
              <a:rPr lang="en-US" sz="1600" dirty="0">
                <a:latin typeface="Open Sans" panose="020B0606030504020204" pitchFamily="34" charset="0"/>
                <a:ea typeface="Open Sans" panose="020B0606030504020204" pitchFamily="34" charset="0"/>
                <a:cs typeface="Open Sans" panose="020B0606030504020204" pitchFamily="34" charset="0"/>
              </a:rPr>
              <a:t> Download raw and processed datasets.</a:t>
            </a:r>
          </a:p>
        </p:txBody>
      </p:sp>
      <p:pic>
        <p:nvPicPr>
          <p:cNvPr id="9" name="Picture 8">
            <a:extLst>
              <a:ext uri="{FF2B5EF4-FFF2-40B4-BE49-F238E27FC236}">
                <a16:creationId xmlns:a16="http://schemas.microsoft.com/office/drawing/2014/main" id="{8A3BE830-49FD-7739-F496-9FDFA3CF53BA}"/>
              </a:ext>
            </a:extLst>
          </p:cNvPr>
          <p:cNvPicPr>
            <a:picLocks noChangeAspect="1"/>
          </p:cNvPicPr>
          <p:nvPr/>
        </p:nvPicPr>
        <p:blipFill>
          <a:blip r:embed="rId4"/>
          <a:stretch>
            <a:fillRect/>
          </a:stretch>
        </p:blipFill>
        <p:spPr>
          <a:xfrm>
            <a:off x="3649262" y="3629214"/>
            <a:ext cx="5246411" cy="514354"/>
          </a:xfrm>
          <a:prstGeom prst="rect">
            <a:avLst/>
          </a:prstGeom>
          <a:effectLst>
            <a:softEdge rad="38100"/>
          </a:effectLst>
        </p:spPr>
      </p:pic>
    </p:spTree>
    <p:extLst>
      <p:ext uri="{BB962C8B-B14F-4D97-AF65-F5344CB8AC3E}">
        <p14:creationId xmlns:p14="http://schemas.microsoft.com/office/powerpoint/2010/main" val="3295762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56A5B44-32E4-20E1-DA63-C1672EB802A2}"/>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6890CAFF-B524-28D6-D00E-CDEC69D1B2EA}"/>
              </a:ext>
            </a:extLst>
          </p:cNvPr>
          <p:cNvSpPr txBox="1">
            <a:spLocks noGrp="1"/>
          </p:cNvSpPr>
          <p:nvPr>
            <p:ph type="title"/>
          </p:nvPr>
        </p:nvSpPr>
        <p:spPr>
          <a:xfrm>
            <a:off x="1035016" y="1869975"/>
            <a:ext cx="7073967" cy="140355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000"/>
              <a:buNone/>
            </a:pPr>
            <a:r>
              <a:rPr lang="en-US" b="1" dirty="0">
                <a:latin typeface="Open Sans" panose="020B0606030504020204" pitchFamily="34" charset="0"/>
                <a:ea typeface="Open Sans" panose="020B0606030504020204" pitchFamily="34" charset="0"/>
                <a:cs typeface="Open Sans" panose="020B0606030504020204" pitchFamily="34" charset="0"/>
              </a:rPr>
              <a:t>Data Interpretation and Sequencing Pipelines </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411541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C81F9-028C-E2EC-772C-06B234652CC6}"/>
              </a:ext>
            </a:extLst>
          </p:cNvPr>
          <p:cNvSpPr>
            <a:spLocks noGrp="1"/>
          </p:cNvSpPr>
          <p:nvPr>
            <p:ph type="title"/>
          </p:nvPr>
        </p:nvSpPr>
        <p:spPr>
          <a:xfrm>
            <a:off x="11150" y="6545"/>
            <a:ext cx="9144000" cy="601500"/>
          </a:xfrm>
        </p:spPr>
        <p:txBody>
          <a:bodyPr/>
          <a:lstStyle/>
          <a:p>
            <a:r>
              <a:rPr lang="en-US" dirty="0"/>
              <a:t>Raw Heart Data - </a:t>
            </a:r>
            <a:r>
              <a:rPr lang="en-US" dirty="0" err="1"/>
              <a:t>scRNAseq</a:t>
            </a:r>
            <a:endParaRPr lang="en-US" dirty="0"/>
          </a:p>
        </p:txBody>
      </p:sp>
      <p:sp>
        <p:nvSpPr>
          <p:cNvPr id="6" name="Rectangle 5">
            <a:extLst>
              <a:ext uri="{FF2B5EF4-FFF2-40B4-BE49-F238E27FC236}">
                <a16:creationId xmlns:a16="http://schemas.microsoft.com/office/drawing/2014/main" id="{3C6C64C8-C76C-B86B-D5DD-AEBEAF017869}"/>
              </a:ext>
            </a:extLst>
          </p:cNvPr>
          <p:cNvSpPr/>
          <p:nvPr/>
        </p:nvSpPr>
        <p:spPr>
          <a:xfrm>
            <a:off x="108466" y="912710"/>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z</a:t>
            </a:r>
          </a:p>
        </p:txBody>
      </p:sp>
      <p:sp>
        <p:nvSpPr>
          <p:cNvPr id="17" name="Rectangle 16">
            <a:extLst>
              <a:ext uri="{FF2B5EF4-FFF2-40B4-BE49-F238E27FC236}">
                <a16:creationId xmlns:a16="http://schemas.microsoft.com/office/drawing/2014/main" id="{3C746E78-4921-1425-1910-B448A9B74A93}"/>
              </a:ext>
            </a:extLst>
          </p:cNvPr>
          <p:cNvSpPr/>
          <p:nvPr/>
        </p:nvSpPr>
        <p:spPr>
          <a:xfrm>
            <a:off x="4938462" y="912711"/>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5C8C8665-D41C-8027-0B8D-5FF21F99ECFC}"/>
              </a:ext>
            </a:extLst>
          </p:cNvPr>
          <p:cNvPicPr>
            <a:picLocks noChangeAspect="1"/>
          </p:cNvPicPr>
          <p:nvPr/>
        </p:nvPicPr>
        <p:blipFill>
          <a:blip r:embed="rId3"/>
          <a:stretch>
            <a:fillRect/>
          </a:stretch>
        </p:blipFill>
        <p:spPr>
          <a:xfrm>
            <a:off x="191443" y="1190883"/>
            <a:ext cx="3830131" cy="1793654"/>
          </a:xfrm>
          <a:prstGeom prst="rect">
            <a:avLst/>
          </a:prstGeom>
          <a:effectLst>
            <a:softEdge rad="56070"/>
          </a:effectLst>
        </p:spPr>
      </p:pic>
      <p:pic>
        <p:nvPicPr>
          <p:cNvPr id="15" name="Picture 14" descr="A screen shot of a computer&#10;&#10;AI-generated content may be incorrect.">
            <a:extLst>
              <a:ext uri="{FF2B5EF4-FFF2-40B4-BE49-F238E27FC236}">
                <a16:creationId xmlns:a16="http://schemas.microsoft.com/office/drawing/2014/main" id="{14AF36DA-ED82-58D2-AA11-3FE1A565CA18}"/>
              </a:ext>
            </a:extLst>
          </p:cNvPr>
          <p:cNvPicPr>
            <a:picLocks noChangeAspect="1"/>
          </p:cNvPicPr>
          <p:nvPr/>
        </p:nvPicPr>
        <p:blipFill>
          <a:blip r:embed="rId4"/>
          <a:stretch>
            <a:fillRect/>
          </a:stretch>
        </p:blipFill>
        <p:spPr>
          <a:xfrm>
            <a:off x="6812662" y="1206573"/>
            <a:ext cx="1994084" cy="1931475"/>
          </a:xfrm>
          <a:prstGeom prst="rect">
            <a:avLst/>
          </a:prstGeom>
          <a:effectLst>
            <a:softEdge rad="50800"/>
          </a:effectLst>
        </p:spPr>
      </p:pic>
      <p:pic>
        <p:nvPicPr>
          <p:cNvPr id="13" name="Picture 12" descr="A screenshot of a computer screen&#10;&#10;AI-generated content may be incorrect.">
            <a:extLst>
              <a:ext uri="{FF2B5EF4-FFF2-40B4-BE49-F238E27FC236}">
                <a16:creationId xmlns:a16="http://schemas.microsoft.com/office/drawing/2014/main" id="{BBD5B26C-B633-C406-0CBF-C2B7ED6B7291}"/>
              </a:ext>
            </a:extLst>
          </p:cNvPr>
          <p:cNvPicPr>
            <a:picLocks noChangeAspect="1"/>
          </p:cNvPicPr>
          <p:nvPr/>
        </p:nvPicPr>
        <p:blipFill>
          <a:blip r:embed="rId5"/>
          <a:stretch>
            <a:fillRect/>
          </a:stretch>
        </p:blipFill>
        <p:spPr>
          <a:xfrm>
            <a:off x="5063039" y="1008412"/>
            <a:ext cx="1603812" cy="2189047"/>
          </a:xfrm>
          <a:prstGeom prst="rect">
            <a:avLst/>
          </a:prstGeom>
          <a:effectLst>
            <a:softEdge rad="50800"/>
          </a:effectLst>
        </p:spPr>
      </p:pic>
      <p:sp>
        <p:nvSpPr>
          <p:cNvPr id="7" name="TextBox 6">
            <a:extLst>
              <a:ext uri="{FF2B5EF4-FFF2-40B4-BE49-F238E27FC236}">
                <a16:creationId xmlns:a16="http://schemas.microsoft.com/office/drawing/2014/main" id="{2FCF00EB-EC3A-2936-6486-86A0EF59346B}"/>
              </a:ext>
            </a:extLst>
          </p:cNvPr>
          <p:cNvSpPr txBox="1"/>
          <p:nvPr/>
        </p:nvSpPr>
        <p:spPr>
          <a:xfrm>
            <a:off x="124272" y="3536021"/>
            <a:ext cx="8890562" cy="1200329"/>
          </a:xfrm>
          <a:prstGeom prst="rect">
            <a:avLst/>
          </a:prstGeom>
          <a:noFill/>
        </p:spPr>
        <p:txBody>
          <a:bodyPr wrap="square" rtlCol="0">
            <a:spAutoFit/>
          </a:bodyPr>
          <a:lstStyle/>
          <a:p>
            <a:pPr marL="285750" indent="-285750">
              <a:buFont typeface="Arial" panose="020B0604020202020204" pitchFamily="34" charset="0"/>
              <a:buChar char="•"/>
            </a:pPr>
            <a:r>
              <a:rPr lang="en-US" sz="1800" dirty="0" err="1">
                <a:latin typeface="Open Sans" panose="020B0606030504020204" pitchFamily="34" charset="0"/>
                <a:ea typeface="Open Sans" panose="020B0606030504020204" pitchFamily="34" charset="0"/>
                <a:cs typeface="Open Sans" panose="020B0606030504020204" pitchFamily="34" charset="0"/>
              </a:rPr>
              <a:t>HuBMAP</a:t>
            </a:r>
            <a:r>
              <a:rPr lang="en-US" sz="1800" dirty="0">
                <a:latin typeface="Open Sans" panose="020B0606030504020204" pitchFamily="34" charset="0"/>
                <a:ea typeface="Open Sans" panose="020B0606030504020204" pitchFamily="34" charset="0"/>
                <a:cs typeface="Open Sans" panose="020B0606030504020204" pitchFamily="34" charset="0"/>
              </a:rPr>
              <a:t> raw heart data was read using the </a:t>
            </a:r>
            <a:r>
              <a:rPr lang="en-US" sz="1800" dirty="0" err="1">
                <a:latin typeface="Open Sans" panose="020B0606030504020204" pitchFamily="34" charset="0"/>
                <a:ea typeface="Open Sans" panose="020B0606030504020204" pitchFamily="34" charset="0"/>
                <a:cs typeface="Open Sans" panose="020B0606030504020204" pitchFamily="34" charset="0"/>
              </a:rPr>
              <a:t>AnnData</a:t>
            </a:r>
            <a:r>
              <a:rPr lang="en-US" sz="1800" dirty="0">
                <a:latin typeface="Open Sans" panose="020B0606030504020204" pitchFamily="34" charset="0"/>
                <a:ea typeface="Open Sans" panose="020B0606030504020204" pitchFamily="34" charset="0"/>
                <a:cs typeface="Open Sans" panose="020B0606030504020204" pitchFamily="34" charset="0"/>
              </a:rPr>
              <a:t> Python package, which provides tools for interpreting and working with complex biological datasets.</a:t>
            </a:r>
          </a:p>
          <a:p>
            <a:pPr marL="285750" indent="-285750">
              <a:buFont typeface="Arial" panose="020B0604020202020204" pitchFamily="34" charset="0"/>
              <a:buChar char="•"/>
            </a:pPr>
            <a:endParaRPr lang="en-US" sz="18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800" dirty="0">
                <a:latin typeface="Open Sans" panose="020B0606030504020204" pitchFamily="34" charset="0"/>
                <a:ea typeface="Open Sans" panose="020B0606030504020204" pitchFamily="34" charset="0"/>
                <a:cs typeface="Open Sans" panose="020B0606030504020204" pitchFamily="34" charset="0"/>
              </a:rPr>
              <a:t>The pandas library enables targeted analysis of specific data points.</a:t>
            </a:r>
          </a:p>
        </p:txBody>
      </p:sp>
      <p:sp>
        <p:nvSpPr>
          <p:cNvPr id="8" name="Right Arrow 7">
            <a:extLst>
              <a:ext uri="{FF2B5EF4-FFF2-40B4-BE49-F238E27FC236}">
                <a16:creationId xmlns:a16="http://schemas.microsoft.com/office/drawing/2014/main" id="{152EFF39-B3DB-848E-7871-C4B1AFBC0F48}"/>
              </a:ext>
            </a:extLst>
          </p:cNvPr>
          <p:cNvSpPr/>
          <p:nvPr/>
        </p:nvSpPr>
        <p:spPr>
          <a:xfrm>
            <a:off x="4219534" y="2014837"/>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5965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8" name="Picture 87">
            <a:extLst>
              <a:ext uri="{FF2B5EF4-FFF2-40B4-BE49-F238E27FC236}">
                <a16:creationId xmlns:a16="http://schemas.microsoft.com/office/drawing/2014/main" id="{448ED45F-A211-0F1F-771B-E6B4CFCADD37}"/>
              </a:ext>
            </a:extLst>
          </p:cNvPr>
          <p:cNvPicPr>
            <a:picLocks noChangeAspect="1"/>
          </p:cNvPicPr>
          <p:nvPr/>
        </p:nvPicPr>
        <p:blipFill>
          <a:blip r:embed="rId3"/>
          <a:stretch>
            <a:fillRect/>
          </a:stretch>
        </p:blipFill>
        <p:spPr>
          <a:xfrm>
            <a:off x="7610558" y="2965657"/>
            <a:ext cx="838163" cy="558775"/>
          </a:xfrm>
          <a:prstGeom prst="rect">
            <a:avLst/>
          </a:prstGeom>
        </p:spPr>
      </p:pic>
      <p:sp>
        <p:nvSpPr>
          <p:cNvPr id="2" name="Title 1">
            <a:extLst>
              <a:ext uri="{FF2B5EF4-FFF2-40B4-BE49-F238E27FC236}">
                <a16:creationId xmlns:a16="http://schemas.microsoft.com/office/drawing/2014/main" id="{0E3FB811-EF18-FD6E-3E02-A7ECDEEAF9CE}"/>
              </a:ext>
            </a:extLst>
          </p:cNvPr>
          <p:cNvSpPr>
            <a:spLocks noGrp="1"/>
          </p:cNvSpPr>
          <p:nvPr>
            <p:ph type="title"/>
          </p:nvPr>
        </p:nvSpPr>
        <p:spPr/>
        <p:txBody>
          <a:bodyPr/>
          <a:lstStyle/>
          <a:p>
            <a:r>
              <a:rPr lang="en-US" dirty="0"/>
              <a:t>Pipeline Operation</a:t>
            </a:r>
          </a:p>
        </p:txBody>
      </p:sp>
      <p:sp>
        <p:nvSpPr>
          <p:cNvPr id="8" name="TextBox 7">
            <a:extLst>
              <a:ext uri="{FF2B5EF4-FFF2-40B4-BE49-F238E27FC236}">
                <a16:creationId xmlns:a16="http://schemas.microsoft.com/office/drawing/2014/main" id="{3A1EBAEE-A056-8F8E-4826-7C9414722497}"/>
              </a:ext>
            </a:extLst>
          </p:cNvPr>
          <p:cNvSpPr txBox="1"/>
          <p:nvPr/>
        </p:nvSpPr>
        <p:spPr>
          <a:xfrm>
            <a:off x="2090057" y="5973288"/>
            <a:ext cx="184731" cy="307777"/>
          </a:xfrm>
          <a:prstGeom prst="rect">
            <a:avLst/>
          </a:prstGeom>
          <a:noFill/>
        </p:spPr>
        <p:txBody>
          <a:bodyPr wrap="none" rtlCol="0">
            <a:spAutoFit/>
          </a:bodyPr>
          <a:lstStyle/>
          <a:p>
            <a:endParaRPr lang="en-US" dirty="0"/>
          </a:p>
        </p:txBody>
      </p:sp>
      <p:sp>
        <p:nvSpPr>
          <p:cNvPr id="14" name="TextBox 13">
            <a:extLst>
              <a:ext uri="{FF2B5EF4-FFF2-40B4-BE49-F238E27FC236}">
                <a16:creationId xmlns:a16="http://schemas.microsoft.com/office/drawing/2014/main" id="{D1F73654-5E31-621C-B81A-77E00F95977C}"/>
              </a:ext>
            </a:extLst>
          </p:cNvPr>
          <p:cNvSpPr txBox="1"/>
          <p:nvPr/>
        </p:nvSpPr>
        <p:spPr>
          <a:xfrm>
            <a:off x="154380" y="3457454"/>
            <a:ext cx="8835240" cy="1323439"/>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Open Sans" panose="020B0606030504020204" pitchFamily="34" charset="0"/>
                <a:ea typeface="Open Sans" panose="020B0606030504020204" pitchFamily="34" charset="0"/>
                <a:cs typeface="Open Sans" panose="020B0606030504020204" pitchFamily="34" charset="0"/>
              </a:rPr>
              <a:t>The heart data was processed using Salmon-Alevin for rapid single-cell RNA quantification, followed by filtering to remove low-quality cells and genes. This produced a clean, high-quality dataset ready for integration and analysis.</a:t>
            </a:r>
          </a:p>
        </p:txBody>
      </p:sp>
      <p:sp>
        <p:nvSpPr>
          <p:cNvPr id="15" name="Oval 14">
            <a:extLst>
              <a:ext uri="{FF2B5EF4-FFF2-40B4-BE49-F238E27FC236}">
                <a16:creationId xmlns:a16="http://schemas.microsoft.com/office/drawing/2014/main" id="{B35BCFF6-AB00-8899-E86D-9D6AAFF05D76}"/>
              </a:ext>
            </a:extLst>
          </p:cNvPr>
          <p:cNvSpPr/>
          <p:nvPr/>
        </p:nvSpPr>
        <p:spPr>
          <a:xfrm>
            <a:off x="609598" y="1718267"/>
            <a:ext cx="291402" cy="281354"/>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7" name="Straight Connector 16">
            <a:extLst>
              <a:ext uri="{FF2B5EF4-FFF2-40B4-BE49-F238E27FC236}">
                <a16:creationId xmlns:a16="http://schemas.microsoft.com/office/drawing/2014/main" id="{B2586B06-3591-4E1A-68B5-8BBC32E73982}"/>
              </a:ext>
            </a:extLst>
          </p:cNvPr>
          <p:cNvCxnSpPr>
            <a:cxnSpLocks/>
          </p:cNvCxnSpPr>
          <p:nvPr/>
        </p:nvCxnSpPr>
        <p:spPr>
          <a:xfrm>
            <a:off x="971339" y="1858944"/>
            <a:ext cx="99478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CA49B05-7108-14D8-FE96-1A0DB4C0E577}"/>
              </a:ext>
            </a:extLst>
          </p:cNvPr>
          <p:cNvCxnSpPr>
            <a:cxnSpLocks/>
          </p:cNvCxnSpPr>
          <p:nvPr/>
        </p:nvCxnSpPr>
        <p:spPr>
          <a:xfrm flipV="1">
            <a:off x="1966127" y="1175657"/>
            <a:ext cx="0" cy="68328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BD2A380-F257-900D-E0A6-BCB036326795}"/>
              </a:ext>
            </a:extLst>
          </p:cNvPr>
          <p:cNvCxnSpPr>
            <a:cxnSpLocks/>
            <a:stCxn id="29" idx="0"/>
          </p:cNvCxnSpPr>
          <p:nvPr/>
        </p:nvCxnSpPr>
        <p:spPr>
          <a:xfrm flipV="1">
            <a:off x="1966126" y="1858944"/>
            <a:ext cx="1" cy="109330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2229C3C7-3D00-B773-E025-937436DCDE6D}"/>
              </a:ext>
            </a:extLst>
          </p:cNvPr>
          <p:cNvSpPr/>
          <p:nvPr/>
        </p:nvSpPr>
        <p:spPr>
          <a:xfrm>
            <a:off x="1820425" y="2952249"/>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7E70063E-D64E-7342-111B-D8608BAC8B70}"/>
              </a:ext>
            </a:extLst>
          </p:cNvPr>
          <p:cNvSpPr/>
          <p:nvPr/>
        </p:nvSpPr>
        <p:spPr>
          <a:xfrm>
            <a:off x="1820425" y="878529"/>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TextBox 30">
            <a:extLst>
              <a:ext uri="{FF2B5EF4-FFF2-40B4-BE49-F238E27FC236}">
                <a16:creationId xmlns:a16="http://schemas.microsoft.com/office/drawing/2014/main" id="{859D6D0A-FEAB-F96C-96D0-05D27C607985}"/>
              </a:ext>
            </a:extLst>
          </p:cNvPr>
          <p:cNvSpPr txBox="1"/>
          <p:nvPr/>
        </p:nvSpPr>
        <p:spPr>
          <a:xfrm>
            <a:off x="537583" y="1999621"/>
            <a:ext cx="468398" cy="246221"/>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Start</a:t>
            </a:r>
            <a:endParaRPr 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32" name="TextBox 31">
            <a:extLst>
              <a:ext uri="{FF2B5EF4-FFF2-40B4-BE49-F238E27FC236}">
                <a16:creationId xmlns:a16="http://schemas.microsoft.com/office/drawing/2014/main" id="{F1B99053-6C05-86AD-7246-FDC7833FFF60}"/>
              </a:ext>
            </a:extLst>
          </p:cNvPr>
          <p:cNvSpPr txBox="1"/>
          <p:nvPr/>
        </p:nvSpPr>
        <p:spPr>
          <a:xfrm>
            <a:off x="1275070" y="657537"/>
            <a:ext cx="1478290" cy="246221"/>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salmon quantification</a:t>
            </a:r>
          </a:p>
        </p:txBody>
      </p:sp>
      <p:sp>
        <p:nvSpPr>
          <p:cNvPr id="33" name="TextBox 32">
            <a:extLst>
              <a:ext uri="{FF2B5EF4-FFF2-40B4-BE49-F238E27FC236}">
                <a16:creationId xmlns:a16="http://schemas.microsoft.com/office/drawing/2014/main" id="{B63AB6C0-AC72-3F29-E0A2-F4CC797AA8BC}"/>
              </a:ext>
            </a:extLst>
          </p:cNvPr>
          <p:cNvSpPr txBox="1"/>
          <p:nvPr/>
        </p:nvSpPr>
        <p:spPr>
          <a:xfrm>
            <a:off x="1703874" y="3242396"/>
            <a:ext cx="543739" cy="246221"/>
          </a:xfrm>
          <a:prstGeom prst="rect">
            <a:avLst/>
          </a:prstGeom>
          <a:noFill/>
        </p:spPr>
        <p:txBody>
          <a:bodyPr wrap="none" rtlCol="0">
            <a:spAutoFit/>
          </a:bodyPr>
          <a:lstStyle/>
          <a:p>
            <a:r>
              <a:rPr lang="en-US" sz="1000" dirty="0" err="1">
                <a:latin typeface="Open Sans" panose="020B0606030504020204" pitchFamily="34" charset="0"/>
                <a:ea typeface="Open Sans" panose="020B0606030504020204" pitchFamily="34" charset="0"/>
                <a:cs typeface="Open Sans" panose="020B0606030504020204" pitchFamily="34" charset="0"/>
              </a:rPr>
              <a:t>fastqc</a:t>
            </a:r>
            <a:endParaRPr 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34" name="Oval 33">
            <a:extLst>
              <a:ext uri="{FF2B5EF4-FFF2-40B4-BE49-F238E27FC236}">
                <a16:creationId xmlns:a16="http://schemas.microsoft.com/office/drawing/2014/main" id="{A670E0CA-6762-1A2A-D82B-2A215887939C}"/>
              </a:ext>
            </a:extLst>
          </p:cNvPr>
          <p:cNvSpPr/>
          <p:nvPr/>
        </p:nvSpPr>
        <p:spPr>
          <a:xfrm>
            <a:off x="3118337"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6BE2A639-0A08-8075-8BF3-377DB4648D00}"/>
              </a:ext>
            </a:extLst>
          </p:cNvPr>
          <p:cNvSpPr/>
          <p:nvPr/>
        </p:nvSpPr>
        <p:spPr>
          <a:xfrm>
            <a:off x="4695929"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Oval 35">
            <a:extLst>
              <a:ext uri="{FF2B5EF4-FFF2-40B4-BE49-F238E27FC236}">
                <a16:creationId xmlns:a16="http://schemas.microsoft.com/office/drawing/2014/main" id="{901E51DF-1383-AF40-25EB-5D2DB8727A0E}"/>
              </a:ext>
            </a:extLst>
          </p:cNvPr>
          <p:cNvSpPr/>
          <p:nvPr/>
        </p:nvSpPr>
        <p:spPr>
          <a:xfrm>
            <a:off x="6127820"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303ECB55-C232-6E9A-C13A-9E3505323778}"/>
              </a:ext>
            </a:extLst>
          </p:cNvPr>
          <p:cNvSpPr/>
          <p:nvPr/>
        </p:nvSpPr>
        <p:spPr>
          <a:xfrm>
            <a:off x="7419032" y="2952249"/>
            <a:ext cx="291402" cy="28135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9" name="Straight Connector 38">
            <a:extLst>
              <a:ext uri="{FF2B5EF4-FFF2-40B4-BE49-F238E27FC236}">
                <a16:creationId xmlns:a16="http://schemas.microsoft.com/office/drawing/2014/main" id="{7F1EBC0D-A219-D7A4-7FE6-0D2EA9BDC3F6}"/>
              </a:ext>
            </a:extLst>
          </p:cNvPr>
          <p:cNvCxnSpPr>
            <a:cxnSpLocks/>
            <a:stCxn id="30" idx="6"/>
          </p:cNvCxnSpPr>
          <p:nvPr/>
        </p:nvCxnSpPr>
        <p:spPr>
          <a:xfrm>
            <a:off x="2111827" y="1019206"/>
            <a:ext cx="416169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4201A71-3EFA-67DA-2380-5E58A51FF73F}"/>
              </a:ext>
            </a:extLst>
          </p:cNvPr>
          <p:cNvCxnSpPr>
            <a:endCxn id="34" idx="0"/>
          </p:cNvCxnSpPr>
          <p:nvPr/>
        </p:nvCxnSpPr>
        <p:spPr>
          <a:xfrm>
            <a:off x="3264038" y="1019206"/>
            <a:ext cx="0" cy="7500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2CD8459-7904-046D-9927-451E5C5743FC}"/>
              </a:ext>
            </a:extLst>
          </p:cNvPr>
          <p:cNvCxnSpPr>
            <a:endCxn id="35" idx="0"/>
          </p:cNvCxnSpPr>
          <p:nvPr/>
        </p:nvCxnSpPr>
        <p:spPr>
          <a:xfrm>
            <a:off x="4841630" y="1019206"/>
            <a:ext cx="0" cy="7500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24A51134-A55E-81D8-BE2D-9432ACF52F5C}"/>
              </a:ext>
            </a:extLst>
          </p:cNvPr>
          <p:cNvCxnSpPr>
            <a:endCxn id="36" idx="0"/>
          </p:cNvCxnSpPr>
          <p:nvPr/>
        </p:nvCxnSpPr>
        <p:spPr>
          <a:xfrm>
            <a:off x="6273521" y="1019206"/>
            <a:ext cx="0" cy="7500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962EA61B-8892-DF23-363F-480B12F5AFE2}"/>
              </a:ext>
            </a:extLst>
          </p:cNvPr>
          <p:cNvCxnSpPr>
            <a:stCxn id="29" idx="6"/>
            <a:endCxn id="37" idx="2"/>
          </p:cNvCxnSpPr>
          <p:nvPr/>
        </p:nvCxnSpPr>
        <p:spPr>
          <a:xfrm>
            <a:off x="2111827" y="3092926"/>
            <a:ext cx="530720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CCCC26DB-00FE-A5E1-74CC-07F425F7CE81}"/>
              </a:ext>
            </a:extLst>
          </p:cNvPr>
          <p:cNvCxnSpPr>
            <a:stCxn id="34" idx="4"/>
          </p:cNvCxnSpPr>
          <p:nvPr/>
        </p:nvCxnSpPr>
        <p:spPr>
          <a:xfrm flipH="1">
            <a:off x="3262364" y="2050575"/>
            <a:ext cx="1674" cy="76296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A84861B2-59F2-23DF-2AA3-DE8D186473BD}"/>
              </a:ext>
            </a:extLst>
          </p:cNvPr>
          <p:cNvCxnSpPr>
            <a:cxnSpLocks/>
          </p:cNvCxnSpPr>
          <p:nvPr/>
        </p:nvCxnSpPr>
        <p:spPr>
          <a:xfrm>
            <a:off x="3262364" y="2813538"/>
            <a:ext cx="430069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4C71E00-857F-D781-B13C-755446E79B2F}"/>
              </a:ext>
            </a:extLst>
          </p:cNvPr>
          <p:cNvCxnSpPr>
            <a:endCxn id="37" idx="0"/>
          </p:cNvCxnSpPr>
          <p:nvPr/>
        </p:nvCxnSpPr>
        <p:spPr>
          <a:xfrm>
            <a:off x="7563059" y="2813538"/>
            <a:ext cx="1674" cy="138711"/>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9CFE7308-1B4D-6C77-61B0-3B5BFAC65EFA}"/>
              </a:ext>
            </a:extLst>
          </p:cNvPr>
          <p:cNvSpPr txBox="1"/>
          <p:nvPr/>
        </p:nvSpPr>
        <p:spPr>
          <a:xfrm>
            <a:off x="2482214" y="1724928"/>
            <a:ext cx="707300" cy="430887"/>
          </a:xfrm>
          <a:prstGeom prst="rect">
            <a:avLst/>
          </a:prstGeom>
          <a:noFill/>
        </p:spPr>
        <p:txBody>
          <a:bodyPr wrap="square" rtlCol="0">
            <a:spAutoFit/>
          </a:bodyPr>
          <a:lstStyle/>
          <a:p>
            <a:r>
              <a:rPr lang="en-US" sz="1100" dirty="0" err="1">
                <a:latin typeface="Open Sans" panose="020B0606030504020204" pitchFamily="34" charset="0"/>
                <a:ea typeface="Open Sans" panose="020B0606030504020204" pitchFamily="34" charset="0"/>
                <a:cs typeface="Open Sans" panose="020B0606030504020204" pitchFamily="34" charset="0"/>
              </a:rPr>
              <a:t>scvelo</a:t>
            </a:r>
            <a:r>
              <a:rPr lang="en-US" sz="1100" dirty="0"/>
              <a:t> </a:t>
            </a:r>
            <a:r>
              <a:rPr lang="en-US" sz="1100" dirty="0">
                <a:latin typeface="Open Sans" panose="020B0606030504020204" pitchFamily="34" charset="0"/>
                <a:ea typeface="Open Sans" panose="020B0606030504020204" pitchFamily="34" charset="0"/>
                <a:cs typeface="Open Sans" panose="020B0606030504020204" pitchFamily="34" charset="0"/>
              </a:rPr>
              <a:t>analysis</a:t>
            </a:r>
          </a:p>
        </p:txBody>
      </p:sp>
      <p:cxnSp>
        <p:nvCxnSpPr>
          <p:cNvPr id="68" name="Straight Connector 67">
            <a:extLst>
              <a:ext uri="{FF2B5EF4-FFF2-40B4-BE49-F238E27FC236}">
                <a16:creationId xmlns:a16="http://schemas.microsoft.com/office/drawing/2014/main" id="{9E55AE9F-8DEB-ACDC-2DB3-29D53E0F034B}"/>
              </a:ext>
            </a:extLst>
          </p:cNvPr>
          <p:cNvCxnSpPr>
            <a:cxnSpLocks/>
            <a:stCxn id="35" idx="4"/>
          </p:cNvCxnSpPr>
          <p:nvPr/>
        </p:nvCxnSpPr>
        <p:spPr>
          <a:xfrm>
            <a:off x="4841630" y="2050575"/>
            <a:ext cx="0" cy="52117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0092C8FF-98E0-8BCB-5BC4-EBB6ADC286A3}"/>
              </a:ext>
            </a:extLst>
          </p:cNvPr>
          <p:cNvCxnSpPr/>
          <p:nvPr/>
        </p:nvCxnSpPr>
        <p:spPr>
          <a:xfrm>
            <a:off x="4841630" y="2571750"/>
            <a:ext cx="2721429"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C9263D96-FB9A-C65C-90AE-F3BBC731F794}"/>
              </a:ext>
            </a:extLst>
          </p:cNvPr>
          <p:cNvCxnSpPr>
            <a:endCxn id="37" idx="0"/>
          </p:cNvCxnSpPr>
          <p:nvPr/>
        </p:nvCxnSpPr>
        <p:spPr>
          <a:xfrm>
            <a:off x="7563059" y="2571750"/>
            <a:ext cx="1674" cy="38049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C90CDBA5-A309-3F7A-03B8-1CC0739CFFE3}"/>
              </a:ext>
            </a:extLst>
          </p:cNvPr>
          <p:cNvSpPr txBox="1"/>
          <p:nvPr/>
        </p:nvSpPr>
        <p:spPr>
          <a:xfrm>
            <a:off x="3754735" y="1722621"/>
            <a:ext cx="956256" cy="400110"/>
          </a:xfrm>
          <a:prstGeom prst="rect">
            <a:avLst/>
          </a:prstGeom>
          <a:noFill/>
        </p:spPr>
        <p:txBody>
          <a:bodyPr wrap="squar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compute qc results</a:t>
            </a:r>
          </a:p>
        </p:txBody>
      </p:sp>
      <p:sp>
        <p:nvSpPr>
          <p:cNvPr id="76" name="TextBox 75">
            <a:extLst>
              <a:ext uri="{FF2B5EF4-FFF2-40B4-BE49-F238E27FC236}">
                <a16:creationId xmlns:a16="http://schemas.microsoft.com/office/drawing/2014/main" id="{7FB4CF03-8BEE-A6D1-D28D-C9BF12C63EE4}"/>
              </a:ext>
            </a:extLst>
          </p:cNvPr>
          <p:cNvSpPr txBox="1"/>
          <p:nvPr/>
        </p:nvSpPr>
        <p:spPr>
          <a:xfrm>
            <a:off x="5975087" y="2038559"/>
            <a:ext cx="794153" cy="400110"/>
          </a:xfrm>
          <a:prstGeom prst="rect">
            <a:avLst/>
          </a:prstGeom>
          <a:noFill/>
        </p:spPr>
        <p:txBody>
          <a:bodyPr wrap="square" rtlCol="0">
            <a:spAutoFit/>
          </a:bodyPr>
          <a:lstStyle/>
          <a:p>
            <a:r>
              <a:rPr lang="en-US" sz="1000" dirty="0" err="1">
                <a:latin typeface="Open Sans" panose="020B0606030504020204" pitchFamily="34" charset="0"/>
                <a:ea typeface="Open Sans" panose="020B0606030504020204" pitchFamily="34" charset="0"/>
                <a:cs typeface="Open Sans" panose="020B0606030504020204" pitchFamily="34" charset="0"/>
              </a:rPr>
              <a:t>scanpy</a:t>
            </a:r>
            <a:r>
              <a:rPr lang="en-US" sz="1000" dirty="0">
                <a:latin typeface="Open Sans" panose="020B0606030504020204" pitchFamily="34" charset="0"/>
                <a:ea typeface="Open Sans" panose="020B0606030504020204" pitchFamily="34" charset="0"/>
                <a:cs typeface="Open Sans" panose="020B0606030504020204" pitchFamily="34" charset="0"/>
              </a:rPr>
              <a:t> analysis</a:t>
            </a:r>
          </a:p>
        </p:txBody>
      </p:sp>
      <p:cxnSp>
        <p:nvCxnSpPr>
          <p:cNvPr id="78" name="Straight Connector 77">
            <a:extLst>
              <a:ext uri="{FF2B5EF4-FFF2-40B4-BE49-F238E27FC236}">
                <a16:creationId xmlns:a16="http://schemas.microsoft.com/office/drawing/2014/main" id="{A3594870-2496-6E27-4934-1460110018FA}"/>
              </a:ext>
            </a:extLst>
          </p:cNvPr>
          <p:cNvCxnSpPr>
            <a:stCxn id="36" idx="2"/>
            <a:endCxn id="35" idx="6"/>
          </p:cNvCxnSpPr>
          <p:nvPr/>
        </p:nvCxnSpPr>
        <p:spPr>
          <a:xfrm flipH="1">
            <a:off x="4987331" y="1909898"/>
            <a:ext cx="1140489"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8FC839FE-7DEE-B86D-8ED7-531137D5893E}"/>
              </a:ext>
            </a:extLst>
          </p:cNvPr>
          <p:cNvCxnSpPr/>
          <p:nvPr/>
        </p:nvCxnSpPr>
        <p:spPr>
          <a:xfrm flipH="1">
            <a:off x="6422570" y="1909898"/>
            <a:ext cx="1140489"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996106F6-E605-9675-B976-A6BF1EC2DEFA}"/>
              </a:ext>
            </a:extLst>
          </p:cNvPr>
          <p:cNvSpPr/>
          <p:nvPr/>
        </p:nvSpPr>
        <p:spPr>
          <a:xfrm>
            <a:off x="7566407"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TextBox 83">
            <a:extLst>
              <a:ext uri="{FF2B5EF4-FFF2-40B4-BE49-F238E27FC236}">
                <a16:creationId xmlns:a16="http://schemas.microsoft.com/office/drawing/2014/main" id="{CEFD85F9-2132-E4D6-3AE4-2F8FD2A94371}"/>
              </a:ext>
            </a:extLst>
          </p:cNvPr>
          <p:cNvSpPr txBox="1"/>
          <p:nvPr/>
        </p:nvSpPr>
        <p:spPr>
          <a:xfrm>
            <a:off x="7851112" y="1658889"/>
            <a:ext cx="906281" cy="400110"/>
          </a:xfrm>
          <a:prstGeom prst="rect">
            <a:avLst/>
          </a:prstGeom>
          <a:noFill/>
        </p:spPr>
        <p:txBody>
          <a:bodyPr wrap="square" rtlCol="0">
            <a:spAutoFit/>
          </a:bodyPr>
          <a:lstStyle/>
          <a:p>
            <a:r>
              <a:rPr lang="en-US" sz="1000" dirty="0" err="1">
                <a:latin typeface="Open Sans" panose="020B0606030504020204" pitchFamily="34" charset="0"/>
                <a:ea typeface="Open Sans" panose="020B0606030504020204" pitchFamily="34" charset="0"/>
                <a:cs typeface="Open Sans" panose="020B0606030504020204" pitchFamily="34" charset="0"/>
              </a:rPr>
              <a:t>squidpy</a:t>
            </a:r>
            <a:r>
              <a:rPr lang="en-US" sz="1000" dirty="0">
                <a:latin typeface="Open Sans" panose="020B0606030504020204" pitchFamily="34" charset="0"/>
                <a:ea typeface="Open Sans" panose="020B0606030504020204" pitchFamily="34" charset="0"/>
                <a:cs typeface="Open Sans" panose="020B0606030504020204" pitchFamily="34" charset="0"/>
              </a:rPr>
              <a:t> analysis</a:t>
            </a:r>
          </a:p>
        </p:txBody>
      </p:sp>
      <p:cxnSp>
        <p:nvCxnSpPr>
          <p:cNvPr id="86" name="Straight Connector 85">
            <a:extLst>
              <a:ext uri="{FF2B5EF4-FFF2-40B4-BE49-F238E27FC236}">
                <a16:creationId xmlns:a16="http://schemas.microsoft.com/office/drawing/2014/main" id="{5CC69ADE-99FB-930C-E046-1C97D00C43F2}"/>
              </a:ext>
            </a:extLst>
          </p:cNvPr>
          <p:cNvCxnSpPr>
            <a:stCxn id="83" idx="4"/>
            <a:endCxn id="37" idx="6"/>
          </p:cNvCxnSpPr>
          <p:nvPr/>
        </p:nvCxnSpPr>
        <p:spPr>
          <a:xfrm flipH="1">
            <a:off x="7710434" y="2050575"/>
            <a:ext cx="1674" cy="1042351"/>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527DB3CC-8081-C59B-30D4-3406BCFA4C2B}"/>
              </a:ext>
            </a:extLst>
          </p:cNvPr>
          <p:cNvSpPr txBox="1"/>
          <p:nvPr/>
        </p:nvSpPr>
        <p:spPr>
          <a:xfrm>
            <a:off x="7357714" y="3235863"/>
            <a:ext cx="410690" cy="246221"/>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End</a:t>
            </a:r>
          </a:p>
        </p:txBody>
      </p:sp>
      <p:cxnSp>
        <p:nvCxnSpPr>
          <p:cNvPr id="90" name="Straight Connector 89">
            <a:extLst>
              <a:ext uri="{FF2B5EF4-FFF2-40B4-BE49-F238E27FC236}">
                <a16:creationId xmlns:a16="http://schemas.microsoft.com/office/drawing/2014/main" id="{FD15FE0C-4A58-D206-207A-240421847147}"/>
              </a:ext>
            </a:extLst>
          </p:cNvPr>
          <p:cNvCxnSpPr>
            <a:cxnSpLocks/>
            <a:stCxn id="83" idx="0"/>
          </p:cNvCxnSpPr>
          <p:nvPr/>
        </p:nvCxnSpPr>
        <p:spPr>
          <a:xfrm flipV="1">
            <a:off x="7712108" y="803981"/>
            <a:ext cx="0" cy="965240"/>
          </a:xfrm>
          <a:prstGeom prst="line">
            <a:avLst/>
          </a:prstGeom>
          <a:ln w="254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E330A67C-A44E-6E0A-7DA2-331443875BFD}"/>
              </a:ext>
            </a:extLst>
          </p:cNvPr>
          <p:cNvCxnSpPr>
            <a:cxnSpLocks/>
          </p:cNvCxnSpPr>
          <p:nvPr/>
        </p:nvCxnSpPr>
        <p:spPr>
          <a:xfrm flipH="1">
            <a:off x="3161012" y="803981"/>
            <a:ext cx="4549422" cy="0"/>
          </a:xfrm>
          <a:prstGeom prst="line">
            <a:avLst/>
          </a:prstGeom>
          <a:ln w="254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D743541D-CFAA-A9F9-6980-F935AB0E57C1}"/>
              </a:ext>
            </a:extLst>
          </p:cNvPr>
          <p:cNvCxnSpPr>
            <a:cxnSpLocks/>
            <a:stCxn id="34" idx="1"/>
          </p:cNvCxnSpPr>
          <p:nvPr/>
        </p:nvCxnSpPr>
        <p:spPr>
          <a:xfrm flipV="1">
            <a:off x="3161012" y="803981"/>
            <a:ext cx="0" cy="1006443"/>
          </a:xfrm>
          <a:prstGeom prst="line">
            <a:avLst/>
          </a:prstGeom>
          <a:ln w="254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277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79CFD-F975-8A6D-0633-A003838850EE}"/>
              </a:ext>
            </a:extLst>
          </p:cNvPr>
          <p:cNvSpPr>
            <a:spLocks noGrp="1"/>
          </p:cNvSpPr>
          <p:nvPr>
            <p:ph type="title"/>
          </p:nvPr>
        </p:nvSpPr>
        <p:spPr/>
        <p:txBody>
          <a:bodyPr/>
          <a:lstStyle/>
          <a:p>
            <a:r>
              <a:rPr lang="en-US" dirty="0"/>
              <a:t>Processed Heart Data – Pipeline Results </a:t>
            </a:r>
          </a:p>
        </p:txBody>
      </p:sp>
      <p:sp>
        <p:nvSpPr>
          <p:cNvPr id="4" name="Rectangle 3">
            <a:extLst>
              <a:ext uri="{FF2B5EF4-FFF2-40B4-BE49-F238E27FC236}">
                <a16:creationId xmlns:a16="http://schemas.microsoft.com/office/drawing/2014/main" id="{057EF5D1-0974-BD74-BAE3-9C7DFBAE3112}"/>
              </a:ext>
            </a:extLst>
          </p:cNvPr>
          <p:cNvSpPr/>
          <p:nvPr/>
        </p:nvSpPr>
        <p:spPr>
          <a:xfrm>
            <a:off x="474491" y="3389515"/>
            <a:ext cx="4547425" cy="1223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Rectangle 8">
            <a:extLst>
              <a:ext uri="{FF2B5EF4-FFF2-40B4-BE49-F238E27FC236}">
                <a16:creationId xmlns:a16="http://schemas.microsoft.com/office/drawing/2014/main" id="{EB49BE27-3939-FFA1-4921-41B172AEE078}"/>
              </a:ext>
            </a:extLst>
          </p:cNvPr>
          <p:cNvSpPr/>
          <p:nvPr/>
        </p:nvSpPr>
        <p:spPr>
          <a:xfrm>
            <a:off x="507452" y="660939"/>
            <a:ext cx="3637621" cy="2572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35CC84C-E73B-84D9-DE95-250F9DB6AD98}"/>
              </a:ext>
            </a:extLst>
          </p:cNvPr>
          <p:cNvSpPr/>
          <p:nvPr/>
        </p:nvSpPr>
        <p:spPr>
          <a:xfrm>
            <a:off x="5021917" y="671003"/>
            <a:ext cx="3126004" cy="25728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descr="A screenshot of a computer&#10;&#10;AI-generated content may be incorrect.">
            <a:extLst>
              <a:ext uri="{FF2B5EF4-FFF2-40B4-BE49-F238E27FC236}">
                <a16:creationId xmlns:a16="http://schemas.microsoft.com/office/drawing/2014/main" id="{B0ECB104-444A-6533-BF6D-3CD5EEBE72D2}"/>
              </a:ext>
            </a:extLst>
          </p:cNvPr>
          <p:cNvPicPr>
            <a:picLocks noChangeAspect="1"/>
          </p:cNvPicPr>
          <p:nvPr/>
        </p:nvPicPr>
        <p:blipFill>
          <a:blip r:embed="rId3"/>
          <a:stretch>
            <a:fillRect/>
          </a:stretch>
        </p:blipFill>
        <p:spPr>
          <a:xfrm>
            <a:off x="522625" y="3492460"/>
            <a:ext cx="4451155" cy="1017377"/>
          </a:xfrm>
          <a:prstGeom prst="rect">
            <a:avLst/>
          </a:prstGeom>
          <a:effectLst>
            <a:softEdge rad="38100"/>
          </a:effectLst>
        </p:spPr>
      </p:pic>
      <p:pic>
        <p:nvPicPr>
          <p:cNvPr id="8" name="Picture 7" descr="A screen shot of a computer&#10;&#10;AI-generated content may be incorrect.">
            <a:extLst>
              <a:ext uri="{FF2B5EF4-FFF2-40B4-BE49-F238E27FC236}">
                <a16:creationId xmlns:a16="http://schemas.microsoft.com/office/drawing/2014/main" id="{CCDE5F52-C0EE-AA73-7FFC-7967D43A9C65}"/>
              </a:ext>
            </a:extLst>
          </p:cNvPr>
          <p:cNvPicPr>
            <a:picLocks noChangeAspect="1"/>
          </p:cNvPicPr>
          <p:nvPr/>
        </p:nvPicPr>
        <p:blipFill>
          <a:blip r:embed="rId4"/>
          <a:stretch>
            <a:fillRect/>
          </a:stretch>
        </p:blipFill>
        <p:spPr>
          <a:xfrm>
            <a:off x="614497" y="755921"/>
            <a:ext cx="3423530" cy="2425473"/>
          </a:xfrm>
          <a:prstGeom prst="rect">
            <a:avLst/>
          </a:prstGeom>
          <a:effectLst>
            <a:softEdge rad="50800"/>
          </a:effectLst>
        </p:spPr>
      </p:pic>
      <p:pic>
        <p:nvPicPr>
          <p:cNvPr id="11" name="Picture 10" descr="A screenshot of a computer&#10;&#10;AI-generated content may be incorrect.">
            <a:extLst>
              <a:ext uri="{FF2B5EF4-FFF2-40B4-BE49-F238E27FC236}">
                <a16:creationId xmlns:a16="http://schemas.microsoft.com/office/drawing/2014/main" id="{06398F55-D517-C99B-BF2A-2157979A3B2B}"/>
              </a:ext>
            </a:extLst>
          </p:cNvPr>
          <p:cNvPicPr>
            <a:picLocks noChangeAspect="1"/>
          </p:cNvPicPr>
          <p:nvPr/>
        </p:nvPicPr>
        <p:blipFill>
          <a:blip r:embed="rId5"/>
          <a:stretch>
            <a:fillRect/>
          </a:stretch>
        </p:blipFill>
        <p:spPr>
          <a:xfrm>
            <a:off x="5133050" y="733489"/>
            <a:ext cx="2903738" cy="2447905"/>
          </a:xfrm>
          <a:prstGeom prst="rect">
            <a:avLst/>
          </a:prstGeom>
          <a:effectLst>
            <a:softEdge rad="50800"/>
          </a:effectLst>
        </p:spPr>
      </p:pic>
      <p:sp>
        <p:nvSpPr>
          <p:cNvPr id="3" name="TextBox 2">
            <a:extLst>
              <a:ext uri="{FF2B5EF4-FFF2-40B4-BE49-F238E27FC236}">
                <a16:creationId xmlns:a16="http://schemas.microsoft.com/office/drawing/2014/main" id="{5ED32D7E-5780-63F2-22F2-9D878B8963DF}"/>
              </a:ext>
            </a:extLst>
          </p:cNvPr>
          <p:cNvSpPr txBox="1"/>
          <p:nvPr/>
        </p:nvSpPr>
        <p:spPr>
          <a:xfrm>
            <a:off x="5070050" y="3277246"/>
            <a:ext cx="3666025" cy="1785104"/>
          </a:xfrm>
          <a:prstGeom prst="rect">
            <a:avLst/>
          </a:prstGeom>
          <a:noFill/>
        </p:spPr>
        <p:txBody>
          <a:bodyPr wrap="square" rtlCol="0">
            <a:spAutoFit/>
          </a:bodyPr>
          <a:lstStyle/>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After filtering low-quality cells and weakly expressed genes, about 99% of cells and 75% of genes were filtered out.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Pipeline utilized Leiden clustering, viewed with UMAPs plotted by </a:t>
            </a:r>
            <a:r>
              <a:rPr lang="en-US" sz="1200" dirty="0" err="1">
                <a:latin typeface="Open Sans" panose="020B0606030504020204" pitchFamily="34" charset="0"/>
                <a:ea typeface="Open Sans" panose="020B0606030504020204" pitchFamily="34" charset="0"/>
                <a:cs typeface="Open Sans" panose="020B0606030504020204" pitchFamily="34" charset="0"/>
              </a:rPr>
              <a:t>scanpy</a:t>
            </a:r>
            <a:r>
              <a:rPr lang="en-US" sz="1200" dirty="0">
                <a:latin typeface="Open Sans" panose="020B0606030504020204" pitchFamily="34" charset="0"/>
                <a:ea typeface="Open Sans" panose="020B0606030504020204" pitchFamily="34" charset="0"/>
                <a:cs typeface="Open Sans" panose="020B0606030504020204" pitchFamily="34" charset="0"/>
              </a:rPr>
              <a:t>.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Metadata gives an overview of the data set.</a:t>
            </a:r>
          </a:p>
          <a:p>
            <a:pPr marL="285750" indent="-285750">
              <a:buFont typeface="Arial" panose="020B0604020202020204" pitchFamily="34" charset="0"/>
              <a:buChar char="•"/>
            </a:pPr>
            <a:endParaRPr lang="en-US" dirty="0"/>
          </a:p>
        </p:txBody>
      </p:sp>
      <p:sp>
        <p:nvSpPr>
          <p:cNvPr id="5" name="Bent Arrow 4">
            <a:extLst>
              <a:ext uri="{FF2B5EF4-FFF2-40B4-BE49-F238E27FC236}">
                <a16:creationId xmlns:a16="http://schemas.microsoft.com/office/drawing/2014/main" id="{5FBE6874-E904-6744-3A34-0F91115D1594}"/>
              </a:ext>
            </a:extLst>
          </p:cNvPr>
          <p:cNvSpPr/>
          <p:nvPr/>
        </p:nvSpPr>
        <p:spPr>
          <a:xfrm rot="18883916">
            <a:off x="33735" y="2940831"/>
            <a:ext cx="553327" cy="652144"/>
          </a:xfrm>
          <a:prstGeom prst="ben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Right Arrow 6">
            <a:extLst>
              <a:ext uri="{FF2B5EF4-FFF2-40B4-BE49-F238E27FC236}">
                <a16:creationId xmlns:a16="http://schemas.microsoft.com/office/drawing/2014/main" id="{A18DB5E4-7940-6917-0A4E-0CE23C83D4AA}"/>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5979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09578-7F69-701A-95ED-47B5D118BE11}"/>
              </a:ext>
            </a:extLst>
          </p:cNvPr>
          <p:cNvSpPr>
            <a:spLocks noGrp="1"/>
          </p:cNvSpPr>
          <p:nvPr>
            <p:ph type="title"/>
          </p:nvPr>
        </p:nvSpPr>
        <p:spPr/>
        <p:txBody>
          <a:bodyPr/>
          <a:lstStyle/>
          <a:p>
            <a:r>
              <a:rPr lang="en-US" dirty="0"/>
              <a:t>User Interface</a:t>
            </a:r>
          </a:p>
        </p:txBody>
      </p:sp>
      <p:sp>
        <p:nvSpPr>
          <p:cNvPr id="13" name="Rectangle 12">
            <a:extLst>
              <a:ext uri="{FF2B5EF4-FFF2-40B4-BE49-F238E27FC236}">
                <a16:creationId xmlns:a16="http://schemas.microsoft.com/office/drawing/2014/main" id="{2BB76799-8B39-6F21-EFEC-3A8E6BA947D6}"/>
              </a:ext>
            </a:extLst>
          </p:cNvPr>
          <p:cNvSpPr/>
          <p:nvPr/>
        </p:nvSpPr>
        <p:spPr>
          <a:xfrm>
            <a:off x="86264" y="688259"/>
            <a:ext cx="4070555"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table with numbers and symbols&#10;&#10;AI-generated content may be incorrect.">
            <a:extLst>
              <a:ext uri="{FF2B5EF4-FFF2-40B4-BE49-F238E27FC236}">
                <a16:creationId xmlns:a16="http://schemas.microsoft.com/office/drawing/2014/main" id="{9CF1F942-7EFD-9EEA-697C-AA83934D7E5D}"/>
              </a:ext>
            </a:extLst>
          </p:cNvPr>
          <p:cNvPicPr>
            <a:picLocks noChangeAspect="1"/>
          </p:cNvPicPr>
          <p:nvPr/>
        </p:nvPicPr>
        <p:blipFill>
          <a:blip r:embed="rId3"/>
          <a:stretch>
            <a:fillRect/>
          </a:stretch>
        </p:blipFill>
        <p:spPr>
          <a:xfrm>
            <a:off x="155358" y="812990"/>
            <a:ext cx="3918722" cy="2042021"/>
          </a:xfrm>
          <a:prstGeom prst="rect">
            <a:avLst/>
          </a:prstGeom>
          <a:effectLst>
            <a:softEdge rad="25400"/>
          </a:effectLst>
        </p:spPr>
      </p:pic>
      <p:sp>
        <p:nvSpPr>
          <p:cNvPr id="11" name="Rectangle 10">
            <a:extLst>
              <a:ext uri="{FF2B5EF4-FFF2-40B4-BE49-F238E27FC236}">
                <a16:creationId xmlns:a16="http://schemas.microsoft.com/office/drawing/2014/main" id="{B94B5B5A-7BA9-E2AE-4501-76F39E862769}"/>
              </a:ext>
            </a:extLst>
          </p:cNvPr>
          <p:cNvSpPr/>
          <p:nvPr/>
        </p:nvSpPr>
        <p:spPr>
          <a:xfrm>
            <a:off x="155358" y="2391755"/>
            <a:ext cx="3918722" cy="223100"/>
          </a:xfrm>
          <a:prstGeom prst="rect">
            <a:avLst/>
          </a:prstGeom>
          <a:solidFill>
            <a:srgbClr val="FFFF00">
              <a:alpha val="45592"/>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00"/>
              </a:solidFill>
            </a:endParaRPr>
          </a:p>
        </p:txBody>
      </p:sp>
      <p:sp>
        <p:nvSpPr>
          <p:cNvPr id="12" name="Right Arrow 11">
            <a:extLst>
              <a:ext uri="{FF2B5EF4-FFF2-40B4-BE49-F238E27FC236}">
                <a16:creationId xmlns:a16="http://schemas.microsoft.com/office/drawing/2014/main" id="{9AA954B2-D664-F146-DC77-E6D2556962F8}"/>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28B18E9-6A35-2DA2-A0F6-E8F0058753CE}"/>
              </a:ext>
            </a:extLst>
          </p:cNvPr>
          <p:cNvSpPr/>
          <p:nvPr/>
        </p:nvSpPr>
        <p:spPr>
          <a:xfrm>
            <a:off x="4987181" y="688259"/>
            <a:ext cx="4001461"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screenshot of a computer&#10;&#10;AI-generated content may be incorrect.">
            <a:extLst>
              <a:ext uri="{FF2B5EF4-FFF2-40B4-BE49-F238E27FC236}">
                <a16:creationId xmlns:a16="http://schemas.microsoft.com/office/drawing/2014/main" id="{EBBF282E-B41D-720C-EEBC-DF5ADD527EC6}"/>
              </a:ext>
            </a:extLst>
          </p:cNvPr>
          <p:cNvPicPr>
            <a:picLocks noChangeAspect="1"/>
          </p:cNvPicPr>
          <p:nvPr/>
        </p:nvPicPr>
        <p:blipFill>
          <a:blip r:embed="rId4"/>
          <a:stretch>
            <a:fillRect/>
          </a:stretch>
        </p:blipFill>
        <p:spPr>
          <a:xfrm>
            <a:off x="5094758" y="764245"/>
            <a:ext cx="3771057" cy="2090766"/>
          </a:xfrm>
          <a:prstGeom prst="rect">
            <a:avLst/>
          </a:prstGeom>
          <a:effectLst>
            <a:softEdge rad="25400"/>
          </a:effectLst>
        </p:spPr>
      </p:pic>
      <p:sp>
        <p:nvSpPr>
          <p:cNvPr id="17" name="Right Arrow 16">
            <a:extLst>
              <a:ext uri="{FF2B5EF4-FFF2-40B4-BE49-F238E27FC236}">
                <a16:creationId xmlns:a16="http://schemas.microsoft.com/office/drawing/2014/main" id="{8D88E4EA-0ED9-7CF5-BC97-53E204A19A5D}"/>
              </a:ext>
            </a:extLst>
          </p:cNvPr>
          <p:cNvSpPr/>
          <p:nvPr/>
        </p:nvSpPr>
        <p:spPr>
          <a:xfrm rot="9183329">
            <a:off x="4235779" y="2981011"/>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C80892A1-DBCA-3D2E-0756-BE3905DCDC05}"/>
              </a:ext>
            </a:extLst>
          </p:cNvPr>
          <p:cNvSpPr/>
          <p:nvPr/>
        </p:nvSpPr>
        <p:spPr>
          <a:xfrm>
            <a:off x="86264" y="3094892"/>
            <a:ext cx="4070555" cy="16529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descr="A screenshot of a computer screen&#10;&#10;AI-generated content may be incorrect.">
            <a:extLst>
              <a:ext uri="{FF2B5EF4-FFF2-40B4-BE49-F238E27FC236}">
                <a16:creationId xmlns:a16="http://schemas.microsoft.com/office/drawing/2014/main" id="{7CF0B7C8-2FA6-8E66-62EC-3DACDDF3493C}"/>
              </a:ext>
            </a:extLst>
          </p:cNvPr>
          <p:cNvPicPr>
            <a:picLocks noChangeAspect="1"/>
          </p:cNvPicPr>
          <p:nvPr/>
        </p:nvPicPr>
        <p:blipFill>
          <a:blip r:embed="rId5"/>
          <a:stretch>
            <a:fillRect/>
          </a:stretch>
        </p:blipFill>
        <p:spPr>
          <a:xfrm>
            <a:off x="316523" y="3185336"/>
            <a:ext cx="3470031" cy="1472066"/>
          </a:xfrm>
          <a:prstGeom prst="rect">
            <a:avLst/>
          </a:prstGeom>
          <a:effectLst>
            <a:softEdge rad="12700"/>
          </a:effectLst>
        </p:spPr>
      </p:pic>
      <p:sp>
        <p:nvSpPr>
          <p:cNvPr id="24" name="TextBox 23">
            <a:extLst>
              <a:ext uri="{FF2B5EF4-FFF2-40B4-BE49-F238E27FC236}">
                <a16:creationId xmlns:a16="http://schemas.microsoft.com/office/drawing/2014/main" id="{EDD9DF45-44A2-1044-A0B0-5493D2AEC240}"/>
              </a:ext>
            </a:extLst>
          </p:cNvPr>
          <p:cNvSpPr txBox="1"/>
          <p:nvPr/>
        </p:nvSpPr>
        <p:spPr>
          <a:xfrm>
            <a:off x="4887794" y="3185336"/>
            <a:ext cx="4084199" cy="1477328"/>
          </a:xfrm>
          <a:prstGeom prst="rect">
            <a:avLst/>
          </a:prstGeom>
          <a:noFill/>
        </p:spPr>
        <p:txBody>
          <a:bodyPr wrap="square" rtlCol="0">
            <a:spAutoFit/>
          </a:bodyPr>
          <a:lstStyle/>
          <a:p>
            <a:pPr marL="285750" indent="-285750">
              <a:buFont typeface="Arial" panose="020B0604020202020204" pitchFamily="34" charset="0"/>
              <a:buChar char="•"/>
            </a:pPr>
            <a:r>
              <a:rPr lang="en-US" sz="1800" dirty="0">
                <a:latin typeface="Open Sans" panose="020B0606030504020204" pitchFamily="34" charset="0"/>
                <a:ea typeface="Open Sans" panose="020B0606030504020204" pitchFamily="34" charset="0"/>
                <a:cs typeface="Open Sans" panose="020B0606030504020204" pitchFamily="34" charset="0"/>
              </a:rPr>
              <a:t>Metadata is integrated into the user interface, with tissue type overviews provided. Shiny app enables both gene and cell-level insights/comparisons.</a:t>
            </a:r>
          </a:p>
        </p:txBody>
      </p:sp>
      <p:sp>
        <p:nvSpPr>
          <p:cNvPr id="25" name="Rectangle 24">
            <a:extLst>
              <a:ext uri="{FF2B5EF4-FFF2-40B4-BE49-F238E27FC236}">
                <a16:creationId xmlns:a16="http://schemas.microsoft.com/office/drawing/2014/main" id="{D5EEFB31-4A54-501A-E4C8-950DAAD42B28}"/>
              </a:ext>
            </a:extLst>
          </p:cNvPr>
          <p:cNvSpPr/>
          <p:nvPr/>
        </p:nvSpPr>
        <p:spPr>
          <a:xfrm>
            <a:off x="6770760" y="1405784"/>
            <a:ext cx="431563" cy="115367"/>
          </a:xfrm>
          <a:prstGeom prst="rect">
            <a:avLst/>
          </a:prstGeom>
          <a:solidFill>
            <a:srgbClr val="FFFF00">
              <a:alpha val="46196"/>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2296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4F37D76-66D5-542D-E6A0-6567AE4226B3}"/>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9979281D-DD56-2571-ADC3-E3EE884CCD35}"/>
              </a:ext>
            </a:extLst>
          </p:cNvPr>
          <p:cNvSpPr txBox="1">
            <a:spLocks noGrp="1"/>
          </p:cNvSpPr>
          <p:nvPr>
            <p:ph type="title"/>
          </p:nvPr>
        </p:nvSpPr>
        <p:spPr>
          <a:xfrm>
            <a:off x="893298" y="1936350"/>
            <a:ext cx="7357403" cy="635400"/>
          </a:xfrm>
          <a:prstGeom prst="rect">
            <a:avLst/>
          </a:prstGeom>
          <a:noFill/>
          <a:ln>
            <a:noFill/>
          </a:ln>
        </p:spPr>
        <p:txBody>
          <a:bodyPr spcFirstLastPara="1" wrap="square" lIns="91425" tIns="91425" rIns="91425" bIns="91425" anchor="t" anchorCtr="0">
            <a:noAutofit/>
          </a:bodyPr>
          <a:lstStyle/>
          <a:p>
            <a:pPr algn="ctr"/>
            <a:r>
              <a:rPr lang="en-US" b="1" dirty="0">
                <a:latin typeface="Open Sans" panose="020B0606030504020204" pitchFamily="34" charset="0"/>
                <a:ea typeface="Open Sans" panose="020B0606030504020204" pitchFamily="34" charset="0"/>
                <a:cs typeface="Open Sans" panose="020B0606030504020204" pitchFamily="34" charset="0"/>
              </a:rPr>
              <a:t>Leveraging </a:t>
            </a:r>
            <a:r>
              <a:rPr lang="en-US" b="1" dirty="0" err="1">
                <a:latin typeface="Open Sans" panose="020B0606030504020204" pitchFamily="34" charset="0"/>
                <a:ea typeface="Open Sans" panose="020B0606030504020204" pitchFamily="34" charset="0"/>
                <a:cs typeface="Open Sans" panose="020B0606030504020204" pitchFamily="34" charset="0"/>
              </a:rPr>
              <a:t>Scanpy</a:t>
            </a:r>
            <a:r>
              <a:rPr lang="en-US" b="1" dirty="0">
                <a:latin typeface="Open Sans" panose="020B0606030504020204" pitchFamily="34" charset="0"/>
                <a:ea typeface="Open Sans" panose="020B0606030504020204" pitchFamily="34" charset="0"/>
                <a:cs typeface="Open Sans" panose="020B0606030504020204" pitchFamily="34" charset="0"/>
              </a:rPr>
              <a:t> for Standardized Single-Cell Analysis</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2164167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07D1D-372F-232A-B5DB-699B7EA2C605}"/>
              </a:ext>
            </a:extLst>
          </p:cNvPr>
          <p:cNvSpPr>
            <a:spLocks noGrp="1"/>
          </p:cNvSpPr>
          <p:nvPr>
            <p:ph type="title"/>
          </p:nvPr>
        </p:nvSpPr>
        <p:spPr/>
        <p:txBody>
          <a:bodyPr/>
          <a:lstStyle/>
          <a:p>
            <a:r>
              <a:rPr lang="en-US" dirty="0" err="1"/>
              <a:t>Scanpy</a:t>
            </a:r>
            <a:r>
              <a:rPr lang="en-US" dirty="0"/>
              <a:t> Pre-processing vs. Integration </a:t>
            </a:r>
          </a:p>
        </p:txBody>
      </p:sp>
      <p:sp>
        <p:nvSpPr>
          <p:cNvPr id="3" name="Text Placeholder 2">
            <a:extLst>
              <a:ext uri="{FF2B5EF4-FFF2-40B4-BE49-F238E27FC236}">
                <a16:creationId xmlns:a16="http://schemas.microsoft.com/office/drawing/2014/main" id="{51E2F891-925B-9095-9BD4-EDEDA331DFEA}"/>
              </a:ext>
            </a:extLst>
          </p:cNvPr>
          <p:cNvSpPr>
            <a:spLocks noGrp="1"/>
          </p:cNvSpPr>
          <p:nvPr>
            <p:ph type="body" idx="1"/>
          </p:nvPr>
        </p:nvSpPr>
        <p:spPr>
          <a:xfrm>
            <a:off x="0" y="4135366"/>
            <a:ext cx="9144000" cy="503820"/>
          </a:xfrm>
        </p:spPr>
        <p:txBody>
          <a:bodyPr/>
          <a:lstStyle/>
          <a:p>
            <a:r>
              <a:rPr lang="en-US" sz="1800" dirty="0">
                <a:solidFill>
                  <a:schemeClr val="bg2"/>
                </a:solidFill>
              </a:rPr>
              <a:t>Overall, </a:t>
            </a:r>
            <a:r>
              <a:rPr lang="en-US" sz="1800" dirty="0" err="1">
                <a:solidFill>
                  <a:schemeClr val="bg2"/>
                </a:solidFill>
              </a:rPr>
              <a:t>scanpy</a:t>
            </a:r>
            <a:r>
              <a:rPr lang="en-US" sz="1800" dirty="0">
                <a:solidFill>
                  <a:schemeClr val="bg2"/>
                </a:solidFill>
              </a:rPr>
              <a:t> is a Python toolkit used for analysis of large single-cell gene expression datasets.</a:t>
            </a:r>
          </a:p>
          <a:p>
            <a:endParaRPr lang="en-US" sz="1800" b="1" dirty="0">
              <a:solidFill>
                <a:schemeClr val="bg2"/>
              </a:solidFill>
            </a:endParaRPr>
          </a:p>
        </p:txBody>
      </p:sp>
      <p:sp>
        <p:nvSpPr>
          <p:cNvPr id="4" name="TextBox 3">
            <a:extLst>
              <a:ext uri="{FF2B5EF4-FFF2-40B4-BE49-F238E27FC236}">
                <a16:creationId xmlns:a16="http://schemas.microsoft.com/office/drawing/2014/main" id="{31785630-91D2-B490-65E3-E910855DCAC7}"/>
              </a:ext>
            </a:extLst>
          </p:cNvPr>
          <p:cNvSpPr txBox="1"/>
          <p:nvPr/>
        </p:nvSpPr>
        <p:spPr>
          <a:xfrm>
            <a:off x="221064" y="691050"/>
            <a:ext cx="4350936" cy="3908762"/>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Pre-processing of data:</a:t>
            </a: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Filters low-quality cells and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Normalizes data and visualizes gene/cell counts.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Identifies highly variable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Computes Principal Component Analysis (PCA) to capture major variation.</a:t>
            </a:r>
          </a:p>
          <a:p>
            <a:endParaRPr lang="en-US" sz="1800" b="1" dirty="0">
              <a:solidFill>
                <a:schemeClr val="bg2"/>
              </a:solidFill>
            </a:endParaRPr>
          </a:p>
          <a:p>
            <a:endParaRPr lang="en-US" sz="1800" dirty="0">
              <a:solidFill>
                <a:schemeClr val="bg2"/>
              </a:solidFill>
            </a:endParaRPr>
          </a:p>
          <a:p>
            <a:r>
              <a:rPr lang="en-US" dirty="0"/>
              <a:t>	</a:t>
            </a:r>
          </a:p>
        </p:txBody>
      </p:sp>
      <p:sp>
        <p:nvSpPr>
          <p:cNvPr id="5" name="TextBox 4">
            <a:extLst>
              <a:ext uri="{FF2B5EF4-FFF2-40B4-BE49-F238E27FC236}">
                <a16:creationId xmlns:a16="http://schemas.microsoft.com/office/drawing/2014/main" id="{8FE64D02-D241-FDD8-09CA-2FDE0E26858B}"/>
              </a:ext>
            </a:extLst>
          </p:cNvPr>
          <p:cNvSpPr txBox="1"/>
          <p:nvPr/>
        </p:nvSpPr>
        <p:spPr>
          <a:xfrm>
            <a:off x="5007339" y="691050"/>
            <a:ext cx="3915597" cy="3077766"/>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Data integration:</a:t>
            </a: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Aligns multiple datasets in a shared feature space.</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Projects new cells into existing PCA/UMAP embeddings.</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Transfers annotations (e.g., cell types) from reference to new data.</a:t>
            </a:r>
          </a:p>
          <a:p>
            <a:endParaRPr lang="en-US" dirty="0"/>
          </a:p>
        </p:txBody>
      </p:sp>
    </p:spTree>
    <p:extLst>
      <p:ext uri="{BB962C8B-B14F-4D97-AF65-F5344CB8AC3E}">
        <p14:creationId xmlns:p14="http://schemas.microsoft.com/office/powerpoint/2010/main" val="795554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138207B-8FEC-24EF-8D3A-7A15723DCF61}"/>
              </a:ext>
            </a:extLst>
          </p:cNvPr>
          <p:cNvSpPr/>
          <p:nvPr/>
        </p:nvSpPr>
        <p:spPr>
          <a:xfrm>
            <a:off x="58552" y="767810"/>
            <a:ext cx="1999224"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 name="Title 1">
            <a:extLst>
              <a:ext uri="{FF2B5EF4-FFF2-40B4-BE49-F238E27FC236}">
                <a16:creationId xmlns:a16="http://schemas.microsoft.com/office/drawing/2014/main" id="{E2C3D45E-3DF2-336B-CD17-BC999D0ABC0F}"/>
              </a:ext>
            </a:extLst>
          </p:cNvPr>
          <p:cNvSpPr>
            <a:spLocks noGrp="1"/>
          </p:cNvSpPr>
          <p:nvPr>
            <p:ph type="title"/>
          </p:nvPr>
        </p:nvSpPr>
        <p:spPr/>
        <p:txBody>
          <a:bodyPr/>
          <a:lstStyle/>
          <a:p>
            <a:r>
              <a:rPr lang="en-US" dirty="0" err="1"/>
              <a:t>Scanpy</a:t>
            </a:r>
            <a:r>
              <a:rPr lang="en-US" dirty="0"/>
              <a:t> pre-processing: Heart and Kidney</a:t>
            </a:r>
          </a:p>
        </p:txBody>
      </p:sp>
      <p:pic>
        <p:nvPicPr>
          <p:cNvPr id="5" name="Picture 4" descr="A graph of a number of cells&#10;&#10;AI-generated content may be incorrect.">
            <a:extLst>
              <a:ext uri="{FF2B5EF4-FFF2-40B4-BE49-F238E27FC236}">
                <a16:creationId xmlns:a16="http://schemas.microsoft.com/office/drawing/2014/main" id="{BA81AF53-7067-28C4-204A-64616BE0F4BA}"/>
              </a:ext>
            </a:extLst>
          </p:cNvPr>
          <p:cNvPicPr>
            <a:picLocks noChangeAspect="1"/>
          </p:cNvPicPr>
          <p:nvPr/>
        </p:nvPicPr>
        <p:blipFill>
          <a:blip r:embed="rId3"/>
          <a:stretch>
            <a:fillRect/>
          </a:stretch>
        </p:blipFill>
        <p:spPr>
          <a:xfrm>
            <a:off x="92507" y="1141178"/>
            <a:ext cx="1931313" cy="1601877"/>
          </a:xfrm>
          <a:prstGeom prst="rect">
            <a:avLst/>
          </a:prstGeom>
          <a:effectLst>
            <a:softEdge rad="25400"/>
          </a:effectLst>
        </p:spPr>
      </p:pic>
      <p:pic>
        <p:nvPicPr>
          <p:cNvPr id="10" name="Picture 9">
            <a:extLst>
              <a:ext uri="{FF2B5EF4-FFF2-40B4-BE49-F238E27FC236}">
                <a16:creationId xmlns:a16="http://schemas.microsoft.com/office/drawing/2014/main" id="{4F630A48-2F30-01E3-1107-F24D7D38450F}"/>
              </a:ext>
            </a:extLst>
          </p:cNvPr>
          <p:cNvPicPr>
            <a:picLocks noChangeAspect="1"/>
          </p:cNvPicPr>
          <p:nvPr/>
        </p:nvPicPr>
        <p:blipFill>
          <a:blip r:embed="rId4"/>
          <a:stretch>
            <a:fillRect/>
          </a:stretch>
        </p:blipFill>
        <p:spPr>
          <a:xfrm>
            <a:off x="76866" y="853406"/>
            <a:ext cx="1962594" cy="287772"/>
          </a:xfrm>
          <a:prstGeom prst="rect">
            <a:avLst/>
          </a:prstGeom>
          <a:effectLst>
            <a:softEdge rad="25400"/>
          </a:effectLst>
        </p:spPr>
      </p:pic>
      <p:sp>
        <p:nvSpPr>
          <p:cNvPr id="12" name="Rectangle 11">
            <a:extLst>
              <a:ext uri="{FF2B5EF4-FFF2-40B4-BE49-F238E27FC236}">
                <a16:creationId xmlns:a16="http://schemas.microsoft.com/office/drawing/2014/main" id="{6701A205-FEA3-B77D-4021-A098A4DAB0F1}"/>
              </a:ext>
            </a:extLst>
          </p:cNvPr>
          <p:cNvSpPr/>
          <p:nvPr/>
        </p:nvSpPr>
        <p:spPr>
          <a:xfrm>
            <a:off x="2939840" y="767810"/>
            <a:ext cx="2256482"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a:extLst>
              <a:ext uri="{FF2B5EF4-FFF2-40B4-BE49-F238E27FC236}">
                <a16:creationId xmlns:a16="http://schemas.microsoft.com/office/drawing/2014/main" id="{6E9EC87B-9892-EDAE-474E-1F4AB58EA3A5}"/>
              </a:ext>
            </a:extLst>
          </p:cNvPr>
          <p:cNvPicPr>
            <a:picLocks noChangeAspect="1"/>
          </p:cNvPicPr>
          <p:nvPr/>
        </p:nvPicPr>
        <p:blipFill>
          <a:blip r:embed="rId5"/>
          <a:stretch>
            <a:fillRect/>
          </a:stretch>
        </p:blipFill>
        <p:spPr>
          <a:xfrm>
            <a:off x="3047463" y="811194"/>
            <a:ext cx="2041236" cy="1945544"/>
          </a:xfrm>
          <a:prstGeom prst="rect">
            <a:avLst/>
          </a:prstGeom>
          <a:effectLst>
            <a:softEdge rad="12700"/>
          </a:effectLst>
        </p:spPr>
      </p:pic>
      <p:sp>
        <p:nvSpPr>
          <p:cNvPr id="17" name="Rectangle 16">
            <a:extLst>
              <a:ext uri="{FF2B5EF4-FFF2-40B4-BE49-F238E27FC236}">
                <a16:creationId xmlns:a16="http://schemas.microsoft.com/office/drawing/2014/main" id="{C0E55BDC-063B-6352-56B0-42645E15A7BE}"/>
              </a:ext>
            </a:extLst>
          </p:cNvPr>
          <p:cNvSpPr/>
          <p:nvPr/>
        </p:nvSpPr>
        <p:spPr>
          <a:xfrm>
            <a:off x="6061097" y="820221"/>
            <a:ext cx="3024351" cy="19365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descr="A computer screen shot of text&#10;&#10;AI-generated content may be incorrect.">
            <a:extLst>
              <a:ext uri="{FF2B5EF4-FFF2-40B4-BE49-F238E27FC236}">
                <a16:creationId xmlns:a16="http://schemas.microsoft.com/office/drawing/2014/main" id="{A553DA06-0665-0BFC-4E98-E4519FE32F76}"/>
              </a:ext>
            </a:extLst>
          </p:cNvPr>
          <p:cNvPicPr>
            <a:picLocks noChangeAspect="1"/>
          </p:cNvPicPr>
          <p:nvPr/>
        </p:nvPicPr>
        <p:blipFill>
          <a:blip r:embed="rId6"/>
          <a:stretch>
            <a:fillRect/>
          </a:stretch>
        </p:blipFill>
        <p:spPr>
          <a:xfrm>
            <a:off x="6113506" y="936569"/>
            <a:ext cx="2927887" cy="1693894"/>
          </a:xfrm>
          <a:prstGeom prst="rect">
            <a:avLst/>
          </a:prstGeom>
        </p:spPr>
      </p:pic>
      <p:sp>
        <p:nvSpPr>
          <p:cNvPr id="20" name="Rectangle 19">
            <a:extLst>
              <a:ext uri="{FF2B5EF4-FFF2-40B4-BE49-F238E27FC236}">
                <a16:creationId xmlns:a16="http://schemas.microsoft.com/office/drawing/2014/main" id="{8E68DF03-721B-F144-4133-225399F21F01}"/>
              </a:ext>
            </a:extLst>
          </p:cNvPr>
          <p:cNvSpPr/>
          <p:nvPr/>
        </p:nvSpPr>
        <p:spPr>
          <a:xfrm>
            <a:off x="2123849" y="2923228"/>
            <a:ext cx="6849545" cy="17891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pic>
        <p:nvPicPr>
          <p:cNvPr id="19" name="Picture 18">
            <a:extLst>
              <a:ext uri="{FF2B5EF4-FFF2-40B4-BE49-F238E27FC236}">
                <a16:creationId xmlns:a16="http://schemas.microsoft.com/office/drawing/2014/main" id="{6C84DCDC-E6A9-0CCD-29B2-D5262CBA5A30}"/>
              </a:ext>
            </a:extLst>
          </p:cNvPr>
          <p:cNvPicPr>
            <a:picLocks noChangeAspect="1"/>
          </p:cNvPicPr>
          <p:nvPr/>
        </p:nvPicPr>
        <p:blipFill>
          <a:blip r:embed="rId7"/>
          <a:stretch>
            <a:fillRect/>
          </a:stretch>
        </p:blipFill>
        <p:spPr>
          <a:xfrm>
            <a:off x="2242679" y="2996672"/>
            <a:ext cx="6612471" cy="1649645"/>
          </a:xfrm>
          <a:prstGeom prst="rect">
            <a:avLst/>
          </a:prstGeom>
        </p:spPr>
      </p:pic>
      <p:sp>
        <p:nvSpPr>
          <p:cNvPr id="21" name="Plus 20">
            <a:extLst>
              <a:ext uri="{FF2B5EF4-FFF2-40B4-BE49-F238E27FC236}">
                <a16:creationId xmlns:a16="http://schemas.microsoft.com/office/drawing/2014/main" id="{BB9947BB-0195-D515-AB25-76C9C72EA490}"/>
              </a:ext>
            </a:extLst>
          </p:cNvPr>
          <p:cNvSpPr/>
          <p:nvPr/>
        </p:nvSpPr>
        <p:spPr>
          <a:xfrm>
            <a:off x="2100617"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3" name="Equal 22">
            <a:extLst>
              <a:ext uri="{FF2B5EF4-FFF2-40B4-BE49-F238E27FC236}">
                <a16:creationId xmlns:a16="http://schemas.microsoft.com/office/drawing/2014/main" id="{101AEF14-F9E6-1F70-8967-E973AF967A87}"/>
              </a:ext>
            </a:extLst>
          </p:cNvPr>
          <p:cNvSpPr/>
          <p:nvPr/>
        </p:nvSpPr>
        <p:spPr>
          <a:xfrm>
            <a:off x="709864" y="3404935"/>
            <a:ext cx="733926" cy="788905"/>
          </a:xfrm>
          <a:prstGeom prst="mathEqual">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Plus 23">
            <a:extLst>
              <a:ext uri="{FF2B5EF4-FFF2-40B4-BE49-F238E27FC236}">
                <a16:creationId xmlns:a16="http://schemas.microsoft.com/office/drawing/2014/main" id="{3699A3A1-8CB3-6627-1A75-929227700E3E}"/>
              </a:ext>
            </a:extLst>
          </p:cNvPr>
          <p:cNvSpPr/>
          <p:nvPr/>
        </p:nvSpPr>
        <p:spPr>
          <a:xfrm>
            <a:off x="5273119"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497338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BBEC55-CC28-C8ED-C8A7-1F72FD179DFD}"/>
              </a:ext>
            </a:extLst>
          </p:cNvPr>
          <p:cNvSpPr/>
          <p:nvPr/>
        </p:nvSpPr>
        <p:spPr>
          <a:xfrm>
            <a:off x="188045" y="1575189"/>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2" name="Title 1">
            <a:extLst>
              <a:ext uri="{FF2B5EF4-FFF2-40B4-BE49-F238E27FC236}">
                <a16:creationId xmlns:a16="http://schemas.microsoft.com/office/drawing/2014/main" id="{73AAD514-004F-8EF9-CBD0-B92ED9CE76FB}"/>
              </a:ext>
            </a:extLst>
          </p:cNvPr>
          <p:cNvSpPr>
            <a:spLocks noGrp="1"/>
          </p:cNvSpPr>
          <p:nvPr>
            <p:ph type="title"/>
          </p:nvPr>
        </p:nvSpPr>
        <p:spPr/>
        <p:txBody>
          <a:bodyPr/>
          <a:lstStyle/>
          <a:p>
            <a:r>
              <a:rPr lang="en-US" dirty="0" err="1"/>
              <a:t>Scanpy</a:t>
            </a:r>
            <a:r>
              <a:rPr lang="en-US" dirty="0"/>
              <a:t> – Data Integration with Ingest + BBKNN  </a:t>
            </a:r>
          </a:p>
        </p:txBody>
      </p:sp>
      <p:sp>
        <p:nvSpPr>
          <p:cNvPr id="3" name="Text Placeholder 2">
            <a:extLst>
              <a:ext uri="{FF2B5EF4-FFF2-40B4-BE49-F238E27FC236}">
                <a16:creationId xmlns:a16="http://schemas.microsoft.com/office/drawing/2014/main" id="{D34F7570-C9AE-8B45-A068-FAE054778B13}"/>
              </a:ext>
            </a:extLst>
          </p:cNvPr>
          <p:cNvSpPr>
            <a:spLocks noGrp="1"/>
          </p:cNvSpPr>
          <p:nvPr>
            <p:ph type="body" idx="1"/>
          </p:nvPr>
        </p:nvSpPr>
        <p:spPr>
          <a:xfrm>
            <a:off x="0" y="672353"/>
            <a:ext cx="9144000" cy="831982"/>
          </a:xfrm>
        </p:spPr>
        <p:txBody>
          <a:bodyPr/>
          <a:lstStyle/>
          <a:p>
            <a:r>
              <a:rPr lang="en-US" sz="1800" dirty="0">
                <a:solidFill>
                  <a:schemeClr val="bg2"/>
                </a:solidFill>
              </a:rPr>
              <a:t>Purpose: To map new single-cell data (Peripheral Blood Mononuclear Cells) onto a reference dataset while correcting for batch effects across datasets.</a:t>
            </a:r>
          </a:p>
        </p:txBody>
      </p:sp>
      <p:pic>
        <p:nvPicPr>
          <p:cNvPr id="4" name="Picture 3">
            <a:extLst>
              <a:ext uri="{FF2B5EF4-FFF2-40B4-BE49-F238E27FC236}">
                <a16:creationId xmlns:a16="http://schemas.microsoft.com/office/drawing/2014/main" id="{F9CA5714-5105-2C9A-E808-8B80BCEE6377}"/>
              </a:ext>
            </a:extLst>
          </p:cNvPr>
          <p:cNvPicPr>
            <a:picLocks noChangeAspect="1"/>
          </p:cNvPicPr>
          <p:nvPr/>
        </p:nvPicPr>
        <p:blipFill>
          <a:blip r:embed="rId3"/>
          <a:stretch>
            <a:fillRect/>
          </a:stretch>
        </p:blipFill>
        <p:spPr>
          <a:xfrm>
            <a:off x="270221" y="1682214"/>
            <a:ext cx="4077447" cy="1260965"/>
          </a:xfrm>
          <a:prstGeom prst="rect">
            <a:avLst/>
          </a:prstGeom>
          <a:effectLst>
            <a:softEdge rad="25400"/>
          </a:effectLst>
        </p:spPr>
      </p:pic>
      <p:sp>
        <p:nvSpPr>
          <p:cNvPr id="8" name="Rectangle 7">
            <a:extLst>
              <a:ext uri="{FF2B5EF4-FFF2-40B4-BE49-F238E27FC236}">
                <a16:creationId xmlns:a16="http://schemas.microsoft.com/office/drawing/2014/main" id="{131E3ED8-B918-97FB-45EA-0EFB0F5C1D45}"/>
              </a:ext>
            </a:extLst>
          </p:cNvPr>
          <p:cNvSpPr/>
          <p:nvPr/>
        </p:nvSpPr>
        <p:spPr>
          <a:xfrm>
            <a:off x="4763019" y="1575190"/>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6" name="TextBox 5">
            <a:extLst>
              <a:ext uri="{FF2B5EF4-FFF2-40B4-BE49-F238E27FC236}">
                <a16:creationId xmlns:a16="http://schemas.microsoft.com/office/drawing/2014/main" id="{28B620DA-78F7-4E01-A671-05F569B0B05D}"/>
              </a:ext>
            </a:extLst>
          </p:cNvPr>
          <p:cNvSpPr txBox="1"/>
          <p:nvPr/>
        </p:nvSpPr>
        <p:spPr>
          <a:xfrm>
            <a:off x="188045" y="3106930"/>
            <a:ext cx="4231342" cy="1815882"/>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Ingest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New cells are projected into the reference UMAP and inherit its clustering and annotations.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Some separation remains (e.g., in monocytes), but key cell types like T and B cells mix well, indicating partial batch alignment.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pic>
        <p:nvPicPr>
          <p:cNvPr id="7" name="Picture 6">
            <a:extLst>
              <a:ext uri="{FF2B5EF4-FFF2-40B4-BE49-F238E27FC236}">
                <a16:creationId xmlns:a16="http://schemas.microsoft.com/office/drawing/2014/main" id="{87AE0D40-F264-9C12-942C-E71B96DC8E00}"/>
              </a:ext>
            </a:extLst>
          </p:cNvPr>
          <p:cNvPicPr>
            <a:picLocks noChangeAspect="1"/>
          </p:cNvPicPr>
          <p:nvPr/>
        </p:nvPicPr>
        <p:blipFill>
          <a:blip r:embed="rId4"/>
          <a:stretch>
            <a:fillRect/>
          </a:stretch>
        </p:blipFill>
        <p:spPr>
          <a:xfrm>
            <a:off x="4839966" y="1670449"/>
            <a:ext cx="4077447" cy="1260965"/>
          </a:xfrm>
          <a:prstGeom prst="rect">
            <a:avLst/>
          </a:prstGeom>
          <a:effectLst>
            <a:softEdge rad="25400"/>
          </a:effectLst>
        </p:spPr>
      </p:pic>
      <p:sp>
        <p:nvSpPr>
          <p:cNvPr id="9" name="TextBox 8">
            <a:extLst>
              <a:ext uri="{FF2B5EF4-FFF2-40B4-BE49-F238E27FC236}">
                <a16:creationId xmlns:a16="http://schemas.microsoft.com/office/drawing/2014/main" id="{13416775-7E11-2305-ACF9-429B47598E03}"/>
              </a:ext>
            </a:extLst>
          </p:cNvPr>
          <p:cNvSpPr txBox="1"/>
          <p:nvPr/>
        </p:nvSpPr>
        <p:spPr>
          <a:xfrm>
            <a:off x="4763019" y="3106930"/>
            <a:ext cx="4231342" cy="1384995"/>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BBKNN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BBKNN corrects batch effects by rebuilding the neighbor graph, improving mixing across datasets.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Monocytes and dendritic cells integrate well, but the Megakaryocyte cluster is lost.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78502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4"/>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spcBef>
                <a:spcPts val="0"/>
              </a:spcBef>
              <a:spcAft>
                <a:spcPts val="0"/>
              </a:spcAft>
              <a:buClr>
                <a:srgbClr val="404040"/>
              </a:buClr>
              <a:buSzPts val="800"/>
              <a:buFont typeface="Open Sans"/>
              <a:buNone/>
            </a:pPr>
            <a:fld id="{00000000-1234-1234-1234-123412341234}" type="slidenum">
              <a:rPr lang="en"/>
              <a:t>15</a:t>
            </a:fld>
            <a:endParaRPr/>
          </a:p>
        </p:txBody>
      </p:sp>
      <p:sp>
        <p:nvSpPr>
          <p:cNvPr id="162" name="Google Shape;162;p34"/>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700"/>
              <a:buNone/>
            </a:pPr>
            <a:r>
              <a:rPr lang="en" dirty="0"/>
              <a:t>Acknowledgements</a:t>
            </a:r>
            <a:endParaRPr dirty="0"/>
          </a:p>
        </p:txBody>
      </p:sp>
      <p:sp>
        <p:nvSpPr>
          <p:cNvPr id="163" name="Google Shape;163;p34"/>
          <p:cNvSpPr txBox="1">
            <a:spLocks noGrp="1"/>
          </p:cNvSpPr>
          <p:nvPr>
            <p:ph type="body" idx="1"/>
          </p:nvPr>
        </p:nvSpPr>
        <p:spPr>
          <a:xfrm>
            <a:off x="285750" y="1009400"/>
            <a:ext cx="8675400" cy="3600600"/>
          </a:xfrm>
          <a:prstGeom prst="rect">
            <a:avLst/>
          </a:prstGeom>
          <a:noFill/>
          <a:ln>
            <a:noFill/>
          </a:ln>
        </p:spPr>
        <p:txBody>
          <a:bodyPr spcFirstLastPara="1" wrap="square" lIns="91425" tIns="91425" rIns="91425" bIns="91425" anchor="t" anchorCtr="0">
            <a:noAutofit/>
          </a:bodyPr>
          <a:lstStyle/>
          <a:p>
            <a:r>
              <a:rPr lang="en-US" sz="1800" dirty="0">
                <a:latin typeface="Open Sans" panose="020B0606030504020204" pitchFamily="34" charset="0"/>
                <a:ea typeface="Open Sans" panose="020B0606030504020204" pitchFamily="34" charset="0"/>
                <a:cs typeface="Open Sans" panose="020B0606030504020204" pitchFamily="34" charset="0"/>
              </a:rPr>
              <a:t>Thank you to the </a:t>
            </a:r>
            <a:r>
              <a:rPr lang="en-US" sz="1800" dirty="0" err="1">
                <a:latin typeface="Open Sans" panose="020B0606030504020204" pitchFamily="34" charset="0"/>
                <a:ea typeface="Open Sans" panose="020B0606030504020204" pitchFamily="34" charset="0"/>
                <a:cs typeface="Open Sans" panose="020B0606030504020204" pitchFamily="34" charset="0"/>
              </a:rPr>
              <a:t>HuBMAP</a:t>
            </a:r>
            <a:r>
              <a:rPr lang="en-US" sz="1800" dirty="0">
                <a:latin typeface="Open Sans" panose="020B0606030504020204" pitchFamily="34" charset="0"/>
                <a:ea typeface="Open Sans" panose="020B0606030504020204" pitchFamily="34" charset="0"/>
                <a:cs typeface="Open Sans" panose="020B0606030504020204" pitchFamily="34" charset="0"/>
              </a:rPr>
              <a:t> HIVE teams, particularly </a:t>
            </a:r>
            <a:r>
              <a:rPr lang="en-US" sz="1800" dirty="0"/>
              <a:t>the CMU Tools Component team and the PSC IEC team for their guidance, technical support, and the tools that enabled my research. They have been instrumental in helping me explore, analyze, and interpret the complex biological data I used throughout this project.</a:t>
            </a:r>
          </a:p>
          <a:p>
            <a:r>
              <a:rPr lang="en-US" sz="1800" dirty="0"/>
              <a:t>I want to give a special thanks to:</a:t>
            </a:r>
          </a:p>
          <a:p>
            <a:pPr lvl="1"/>
            <a:r>
              <a:rPr lang="en-US" sz="1800" dirty="0"/>
              <a:t>Matt Ruffalo (CMU): Principal Investigator, Systems Scientist</a:t>
            </a:r>
          </a:p>
          <a:p>
            <a:pPr lvl="1"/>
            <a:r>
              <a:rPr lang="en-US" sz="1800" dirty="0"/>
              <a:t>Penny Cuda (CMU): Research Programmer, HIVE Tools Component</a:t>
            </a:r>
          </a:p>
          <a:p>
            <a:pPr lvl="1"/>
            <a:r>
              <a:rPr lang="en-US" sz="1800" dirty="0"/>
              <a:t>Xiang Li (PSC): Senior Bioinformatics Support Specialist</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wiss">
  <a:themeElements>
    <a:clrScheme name="Swiss">
      <a:dk1>
        <a:srgbClr val="444A65"/>
      </a:dk1>
      <a:lt1>
        <a:srgbClr val="FFFFFF"/>
      </a:lt1>
      <a:dk2>
        <a:srgbClr val="000000"/>
      </a:dk2>
      <a:lt2>
        <a:srgbClr val="757575"/>
      </a:lt2>
      <a:accent1>
        <a:srgbClr val="444A65"/>
      </a:accent1>
      <a:accent2>
        <a:srgbClr val="27C7BD"/>
      </a:accent2>
      <a:accent3>
        <a:srgbClr val="0099E8"/>
      </a:accent3>
      <a:accent4>
        <a:srgbClr val="51B9A3"/>
      </a:accent4>
      <a:accent5>
        <a:srgbClr val="FB8C00"/>
      </a:accent5>
      <a:accent6>
        <a:srgbClr val="FFAE88"/>
      </a:accent6>
      <a:hlink>
        <a:srgbClr val="9A220B"/>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5638</TotalTime>
  <Words>1309</Words>
  <Application>Microsoft Macintosh PowerPoint</Application>
  <PresentationFormat>On-screen Show (16:9)</PresentationFormat>
  <Paragraphs>112</Paragraphs>
  <Slides>15</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Calibri</vt:lpstr>
      <vt:lpstr>Lato</vt:lpstr>
      <vt:lpstr>Open Sans</vt:lpstr>
      <vt:lpstr>Arial</vt:lpstr>
      <vt:lpstr>Open Sans SemiBold</vt:lpstr>
      <vt:lpstr>Inter</vt:lpstr>
      <vt:lpstr>Simple Light</vt:lpstr>
      <vt:lpstr>Swiss</vt:lpstr>
      <vt:lpstr> Integrating and Interpreting Single-Cell Datasets</vt:lpstr>
      <vt:lpstr>Project Overview &amp; Background</vt:lpstr>
      <vt:lpstr>Pittsburgh Supercomputing Center</vt:lpstr>
      <vt:lpstr>From Raw Data to Integration: Project Goals &amp; Tools</vt:lpstr>
      <vt:lpstr>HuBMAP Consortium Data Portal</vt:lpstr>
      <vt:lpstr>Data Interpretation and Sequencing Pipelines </vt:lpstr>
      <vt:lpstr>Raw Heart Data - scRNAseq</vt:lpstr>
      <vt:lpstr>Pipeline Operation</vt:lpstr>
      <vt:lpstr>Processed Heart Data – Pipeline Results </vt:lpstr>
      <vt:lpstr>User Interface</vt:lpstr>
      <vt:lpstr>Leveraging Scanpy for Standardized Single-Cell Analysis</vt:lpstr>
      <vt:lpstr>Scanpy Pre-processing vs. Integration </vt:lpstr>
      <vt:lpstr>Scanpy pre-processing: Heart and Kidney</vt:lpstr>
      <vt:lpstr>Scanpy – Data Integration with Ingest + BBKNN  </vt:lpstr>
      <vt:lpstr>Acknowledgements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Lasota, Jack J</cp:lastModifiedBy>
  <cp:revision>25</cp:revision>
  <dcterms:modified xsi:type="dcterms:W3CDTF">2025-07-24T15:48:32Z</dcterms:modified>
</cp:coreProperties>
</file>