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  <p:sldMasterId id="2147483677" r:id="rId2"/>
  </p:sldMasterIdLst>
  <p:notesMasterIdLst>
    <p:notesMasterId r:id="rId12"/>
  </p:notesMasterIdLst>
  <p:sldIdLst>
    <p:sldId id="256" r:id="rId3"/>
    <p:sldId id="257" r:id="rId4"/>
    <p:sldId id="258" r:id="rId5"/>
    <p:sldId id="262" r:id="rId6"/>
    <p:sldId id="261" r:id="rId7"/>
    <p:sldId id="264" r:id="rId8"/>
    <p:sldId id="260" r:id="rId9"/>
    <p:sldId id="263" r:id="rId10"/>
    <p:sldId id="259" r:id="rId11"/>
  </p:sldIdLst>
  <p:sldSz cx="9144000" cy="5143500" type="screen16x9"/>
  <p:notesSz cx="6858000" cy="9144000"/>
  <p:embeddedFontLs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Open Sans SemiBold" panose="020F0502020204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sota, Jack J" initials="LJJ" lastIdx="1" clrIdx="0">
    <p:extLst>
      <p:ext uri="{19B8F6BF-5375-455C-9EA6-DF929625EA0E}">
        <p15:presenceInfo xmlns:p15="http://schemas.microsoft.com/office/powerpoint/2012/main" userId="S::JJL120@pitt.edu::cede5063-ddde-4282-b262-6a766c3c94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1"/>
    <p:restoredTop sz="94506"/>
  </p:normalViewPr>
  <p:slideViewPr>
    <p:cSldViewPr snapToGrid="0">
      <p:cViewPr>
        <p:scale>
          <a:sx n="95" d="100"/>
          <a:sy n="95" d="100"/>
        </p:scale>
        <p:origin x="328" y="8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1.xml"/><Relationship Id="rId21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2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d5cedad05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g33d5cedad05_0_1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900" b="0" i="1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d5cedad0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3d5cedad0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d5cedad05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g33d5cedad05_0_16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224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d5cedad05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g33d5cedad05_0_28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44A6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8955329" y="-14121"/>
            <a:ext cx="197350" cy="517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8050" y="-14121"/>
            <a:ext cx="197350" cy="517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44A65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" name="Google Shape;68;p16"/>
          <p:cNvPicPr preferRelativeResize="0"/>
          <p:nvPr/>
        </p:nvPicPr>
        <p:blipFill rotWithShape="1">
          <a:blip r:embed="rId2">
            <a:alphaModFix/>
          </a:blip>
          <a:srcRect r="40419" b="1370"/>
          <a:stretch/>
        </p:blipFill>
        <p:spPr>
          <a:xfrm rot="-5400000">
            <a:off x="4466612" y="-4476012"/>
            <a:ext cx="210775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6"/>
          <p:cNvPicPr preferRelativeResize="0"/>
          <p:nvPr/>
        </p:nvPicPr>
        <p:blipFill rotWithShape="1">
          <a:blip r:embed="rId2">
            <a:alphaModFix/>
          </a:blip>
          <a:srcRect r="43191" b="1370"/>
          <a:stretch/>
        </p:blipFill>
        <p:spPr>
          <a:xfrm rot="5400000">
            <a:off x="4471513" y="482763"/>
            <a:ext cx="200975" cy="914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uBMAP Portal Style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1638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1648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9400" y="0"/>
            <a:ext cx="196275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2">
            <a:alphaModFix/>
          </a:blip>
          <a:srcRect l="20584"/>
          <a:stretch/>
        </p:blipFill>
        <p:spPr>
          <a:xfrm>
            <a:off x="10889" y="166975"/>
            <a:ext cx="1493701" cy="480955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(dark)">
  <p:cSld name="TITLE_ONLY_1">
    <p:bg>
      <p:bgPr>
        <a:solidFill>
          <a:srgbClr val="000000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9"/>
          <p:cNvPicPr preferRelativeResize="0"/>
          <p:nvPr/>
        </p:nvPicPr>
        <p:blipFill rotWithShape="1">
          <a:blip r:embed="rId2">
            <a:alphaModFix/>
          </a:blip>
          <a:srcRect l="20584"/>
          <a:stretch/>
        </p:blipFill>
        <p:spPr>
          <a:xfrm>
            <a:off x="10889" y="166975"/>
            <a:ext cx="1493701" cy="48095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8050" y="-14121"/>
            <a:ext cx="197350" cy="517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rgbClr val="444A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3600"/>
              <a:buNone/>
              <a:defRPr sz="3600">
                <a:solidFill>
                  <a:srgbClr val="444A6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3600"/>
              <a:buNone/>
              <a:defRPr sz="3600">
                <a:solidFill>
                  <a:srgbClr val="444A6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3600"/>
              <a:buNone/>
              <a:defRPr sz="3600">
                <a:solidFill>
                  <a:srgbClr val="444A6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3600"/>
              <a:buNone/>
              <a:defRPr sz="3600">
                <a:solidFill>
                  <a:srgbClr val="444A6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3600"/>
              <a:buNone/>
              <a:defRPr sz="3600">
                <a:solidFill>
                  <a:srgbClr val="444A6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3600"/>
              <a:buNone/>
              <a:defRPr sz="3600">
                <a:solidFill>
                  <a:srgbClr val="444A6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3600"/>
              <a:buNone/>
              <a:defRPr sz="3600">
                <a:solidFill>
                  <a:srgbClr val="444A6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3600"/>
              <a:buNone/>
              <a:defRPr sz="3600">
                <a:solidFill>
                  <a:srgbClr val="444A6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3600"/>
              <a:buNone/>
              <a:defRPr sz="3600">
                <a:solidFill>
                  <a:srgbClr val="444A65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" name="Google Shape;97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8050" y="-14121"/>
            <a:ext cx="197350" cy="517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9600"/>
              <a:buFont typeface="Lato"/>
              <a:buNone/>
              <a:defRPr sz="9600">
                <a:solidFill>
                  <a:srgbClr val="444A6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9600"/>
              <a:buFont typeface="Lato"/>
              <a:buNone/>
              <a:defRPr sz="9600">
                <a:solidFill>
                  <a:srgbClr val="444A6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9600"/>
              <a:buFont typeface="Lato"/>
              <a:buNone/>
              <a:defRPr sz="9600">
                <a:solidFill>
                  <a:srgbClr val="444A6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9600"/>
              <a:buFont typeface="Lato"/>
              <a:buNone/>
              <a:defRPr sz="9600">
                <a:solidFill>
                  <a:srgbClr val="444A6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9600"/>
              <a:buFont typeface="Lato"/>
              <a:buNone/>
              <a:defRPr sz="9600">
                <a:solidFill>
                  <a:srgbClr val="444A6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9600"/>
              <a:buFont typeface="Lato"/>
              <a:buNone/>
              <a:defRPr sz="9600">
                <a:solidFill>
                  <a:srgbClr val="444A6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9600"/>
              <a:buFont typeface="Lato"/>
              <a:buNone/>
              <a:defRPr sz="9600">
                <a:solidFill>
                  <a:srgbClr val="444A6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9600"/>
              <a:buFont typeface="Lato"/>
              <a:buNone/>
              <a:defRPr sz="9600">
                <a:solidFill>
                  <a:srgbClr val="444A6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A65"/>
              </a:buClr>
              <a:buSzPts val="9600"/>
              <a:buFont typeface="Lato"/>
              <a:buNone/>
              <a:defRPr sz="9600">
                <a:solidFill>
                  <a:srgbClr val="444A6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25"/>
          <p:cNvPicPr preferRelativeResize="0"/>
          <p:nvPr/>
        </p:nvPicPr>
        <p:blipFill rotWithShape="1">
          <a:blip r:embed="rId2">
            <a:alphaModFix/>
          </a:blip>
          <a:srcRect l="20584"/>
          <a:stretch/>
        </p:blipFill>
        <p:spPr>
          <a:xfrm>
            <a:off x="10889" y="166975"/>
            <a:ext cx="1493701" cy="480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>
            <a:spLocks noGrp="1"/>
          </p:cNvSpPr>
          <p:nvPr>
            <p:ph type="pic" idx="2"/>
          </p:nvPr>
        </p:nvSpPr>
        <p:spPr>
          <a:xfrm>
            <a:off x="6090761" y="2576036"/>
            <a:ext cx="3050400" cy="25602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8"/>
          <p:cNvSpPr>
            <a:spLocks noGrp="1"/>
          </p:cNvSpPr>
          <p:nvPr>
            <p:ph type="pic" idx="3"/>
          </p:nvPr>
        </p:nvSpPr>
        <p:spPr>
          <a:xfrm>
            <a:off x="-8122" y="2576035"/>
            <a:ext cx="3050400" cy="25602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8"/>
          <p:cNvSpPr>
            <a:spLocks noGrp="1"/>
          </p:cNvSpPr>
          <p:nvPr>
            <p:ph type="pic" idx="4"/>
          </p:nvPr>
        </p:nvSpPr>
        <p:spPr>
          <a:xfrm>
            <a:off x="3040381" y="2855"/>
            <a:ext cx="3050400" cy="256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- Confidential">
  <p:cSld name="Title - Confidential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800" y="35775"/>
            <a:ext cx="1995575" cy="79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/>
          <p:cNvSpPr txBox="1">
            <a:spLocks noGrp="1"/>
          </p:cNvSpPr>
          <p:nvPr>
            <p:ph type="sldNum" idx="12"/>
          </p:nvPr>
        </p:nvSpPr>
        <p:spPr>
          <a:xfrm>
            <a:off x="362847" y="4831131"/>
            <a:ext cx="1761300" cy="12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title"/>
          </p:nvPr>
        </p:nvSpPr>
        <p:spPr>
          <a:xfrm>
            <a:off x="457200" y="222885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4" name="Google Shape;124;p29"/>
          <p:cNvSpPr/>
          <p:nvPr/>
        </p:nvSpPr>
        <p:spPr>
          <a:xfrm>
            <a:off x="7367620" y="4791863"/>
            <a:ext cx="1776300" cy="35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29"/>
          <p:cNvSpPr/>
          <p:nvPr/>
        </p:nvSpPr>
        <p:spPr>
          <a:xfrm>
            <a:off x="4564242" y="4828127"/>
            <a:ext cx="4287900" cy="12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Open Sans SemiBold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6" name="Google Shape;12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00" y="889476"/>
            <a:ext cx="2032225" cy="18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22038" y="37550"/>
            <a:ext cx="4521986" cy="79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- Alternative">
  <p:cSld name="Title - Alternative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60301" y="4804157"/>
            <a:ext cx="983201" cy="206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2188" y="4762526"/>
            <a:ext cx="1641834" cy="289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8280" y="4846354"/>
            <a:ext cx="1363334" cy="12217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0"/>
          <p:cNvSpPr txBox="1">
            <a:spLocks noGrp="1"/>
          </p:cNvSpPr>
          <p:nvPr>
            <p:ph type="sldNum" idx="12"/>
          </p:nvPr>
        </p:nvSpPr>
        <p:spPr>
          <a:xfrm>
            <a:off x="285750" y="4841483"/>
            <a:ext cx="1761300" cy="12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  <a:defRPr sz="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30"/>
          <p:cNvSpPr txBox="1">
            <a:spLocks noGrp="1"/>
          </p:cNvSpPr>
          <p:nvPr>
            <p:ph type="title"/>
          </p:nvPr>
        </p:nvSpPr>
        <p:spPr>
          <a:xfrm>
            <a:off x="0" y="-1"/>
            <a:ext cx="9144000" cy="601500"/>
          </a:xfrm>
          <a:prstGeom prst="rect">
            <a:avLst/>
          </a:prstGeom>
          <a:solidFill>
            <a:srgbClr val="0075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Open Sans"/>
              <a:buNone/>
              <a:defRPr sz="27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000"/>
              <a:buFont typeface="Open Sans"/>
              <a:buNone/>
              <a:defRPr sz="3000" b="0" i="0" u="none" strike="noStrike" cap="none">
                <a:solidFill>
                  <a:srgbClr val="BB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4" name="Google Shape;134;p30"/>
          <p:cNvSpPr txBox="1">
            <a:spLocks noGrp="1"/>
          </p:cNvSpPr>
          <p:nvPr>
            <p:ph type="body" idx="1"/>
          </p:nvPr>
        </p:nvSpPr>
        <p:spPr>
          <a:xfrm>
            <a:off x="457200" y="1028701"/>
            <a:ext cx="82296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619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619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619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619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"/>
              <a:buNone/>
              <a:defRPr sz="3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"/>
              <a:buNone/>
              <a:defRPr sz="3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"/>
              <a:buNone/>
              <a:defRPr sz="3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"/>
              <a:buNone/>
              <a:defRPr sz="3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"/>
              <a:buNone/>
              <a:defRPr sz="3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"/>
              <a:buNone/>
              <a:defRPr sz="3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"/>
              <a:buNone/>
              <a:defRPr sz="3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"/>
              <a:buNone/>
              <a:defRPr sz="3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"/>
              <a:buNone/>
              <a:defRPr sz="3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  <a:defRPr sz="18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Inter"/>
              <a:buChar char="■"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/>
          <p:nvPr/>
        </p:nvSpPr>
        <p:spPr>
          <a:xfrm>
            <a:off x="3181091" y="3340431"/>
            <a:ext cx="3479400" cy="15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endParaRPr lang="en" dirty="0"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lang="en" dirty="0">
                <a:latin typeface="Open Sans SemiBold"/>
                <a:ea typeface="Open Sans SemiBold"/>
                <a:cs typeface="Open Sans SemiBold"/>
                <a:sym typeface="Open Sans SemiBold"/>
              </a:rPr>
              <a:t>Jack Lasota</a:t>
            </a:r>
            <a:endParaRPr sz="1400" b="0" i="0" u="none" strike="noStrike" cap="none" dirty="0">
              <a:solidFill>
                <a:srgbClr val="00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Pittsburgh Supercomputing Center (PSC)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Carnegie Mellon University / University of Pittsburgh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999241" y="1371818"/>
            <a:ext cx="7843100" cy="16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0000"/>
              </a:buClr>
              <a:buSzPts val="3280"/>
              <a:buFont typeface="Open Sans"/>
              <a:buNone/>
            </a:pPr>
            <a:br>
              <a:rPr lang="en" sz="3800" dirty="0">
                <a:solidFill>
                  <a:srgbClr val="BB002A"/>
                </a:solidFill>
              </a:rPr>
            </a:br>
            <a:r>
              <a:rPr lang="en" sz="3800" dirty="0" err="1">
                <a:solidFill>
                  <a:srgbClr val="BB002A"/>
                </a:solidFill>
              </a:rPr>
              <a:t>HuBMAP</a:t>
            </a:r>
            <a:r>
              <a:rPr lang="en" sz="3800" dirty="0">
                <a:solidFill>
                  <a:srgbClr val="BB002A"/>
                </a:solidFill>
              </a:rPr>
              <a:t> Data Processing Pipelines</a:t>
            </a:r>
            <a:endParaRPr b="0" i="1" u="none" strike="noStrike" cap="none" dirty="0">
              <a:solidFill>
                <a:srgbClr val="BB00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31"/>
          <p:cNvSpPr txBox="1">
            <a:spLocks noGrp="1"/>
          </p:cNvSpPr>
          <p:nvPr>
            <p:ph type="sldNum" idx="12"/>
          </p:nvPr>
        </p:nvSpPr>
        <p:spPr>
          <a:xfrm>
            <a:off x="362847" y="4831131"/>
            <a:ext cx="1761300" cy="12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143" name="Google Shape;14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38106"/>
            <a:ext cx="1430850" cy="36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>
            <a:spLocks noGrp="1"/>
          </p:cNvSpPr>
          <p:nvPr>
            <p:ph type="title"/>
          </p:nvPr>
        </p:nvSpPr>
        <p:spPr>
          <a:xfrm>
            <a:off x="261525" y="6160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b="1" dirty="0">
                <a:latin typeface=""/>
              </a:rPr>
              <a:t>Overview</a:t>
            </a:r>
            <a:endParaRPr b="1" dirty="0">
              <a:latin typeface=""/>
            </a:endParaRPr>
          </a:p>
        </p:txBody>
      </p:sp>
      <p:sp>
        <p:nvSpPr>
          <p:cNvPr id="149" name="Google Shape;149;p32"/>
          <p:cNvSpPr txBox="1">
            <a:spLocks noGrp="1"/>
          </p:cNvSpPr>
          <p:nvPr>
            <p:ph type="body" idx="1"/>
          </p:nvPr>
        </p:nvSpPr>
        <p:spPr>
          <a:xfrm>
            <a:off x="317625" y="738038"/>
            <a:ext cx="7547400" cy="42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rgbClr val="000000"/>
                </a:solidFill>
                <a:latin typeface=""/>
                <a:sym typeface="Inter"/>
              </a:rPr>
              <a:t>Outline, Background of </a:t>
            </a:r>
            <a:r>
              <a:rPr lang="en" sz="1800" dirty="0" err="1">
                <a:solidFill>
                  <a:srgbClr val="000000"/>
                </a:solidFill>
                <a:latin typeface=""/>
                <a:sym typeface="Inter"/>
              </a:rPr>
              <a:t>HubMap</a:t>
            </a:r>
            <a:r>
              <a:rPr lang="en" sz="1800" dirty="0">
                <a:solidFill>
                  <a:srgbClr val="000000"/>
                </a:solidFill>
                <a:latin typeface=""/>
                <a:sym typeface="Inter"/>
              </a:rPr>
              <a:t> (or PSC/Ruffalo lab?) (~2)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rgbClr val="000000"/>
                </a:solidFill>
                <a:latin typeface=""/>
              </a:rPr>
              <a:t>Quick tour of HuBMAP Consortium Portal (~2)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rgbClr val="000000"/>
                </a:solidFill>
                <a:latin typeface=""/>
              </a:rPr>
              <a:t>Data processing pipeline (~2 Penny on scRNAseq, one workflow, one on results?)</a:t>
            </a:r>
            <a:endParaRPr lang="en" sz="1600" dirty="0">
              <a:solidFill>
                <a:srgbClr val="000000"/>
              </a:solidFill>
              <a:latin typeface="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rgbClr val="000000"/>
                </a:solidFill>
                <a:latin typeface=""/>
              </a:rPr>
              <a:t>User interface</a:t>
            </a:r>
            <a:endParaRPr sz="1800" dirty="0">
              <a:solidFill>
                <a:srgbClr val="000000"/>
              </a:solidFill>
              <a:latin typeface="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>
            <a:spLocks noGrp="1"/>
          </p:cNvSpPr>
          <p:nvPr>
            <p:ph type="sldNum" idx="12"/>
          </p:nvPr>
        </p:nvSpPr>
        <p:spPr>
          <a:xfrm>
            <a:off x="285750" y="4841483"/>
            <a:ext cx="1761300" cy="12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55" name="Google Shape;155;p33"/>
          <p:cNvSpPr txBox="1">
            <a:spLocks noGrp="1"/>
          </p:cNvSpPr>
          <p:nvPr>
            <p:ph type="title"/>
          </p:nvPr>
        </p:nvSpPr>
        <p:spPr>
          <a:xfrm>
            <a:off x="0" y="-1"/>
            <a:ext cx="9144000" cy="601500"/>
          </a:xfrm>
          <a:prstGeom prst="rect">
            <a:avLst/>
          </a:prstGeom>
          <a:solidFill>
            <a:srgbClr val="0075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56" name="Google Shape;156;p33"/>
          <p:cNvSpPr txBox="1">
            <a:spLocks noGrp="1"/>
          </p:cNvSpPr>
          <p:nvPr>
            <p:ph type="body" idx="1"/>
          </p:nvPr>
        </p:nvSpPr>
        <p:spPr>
          <a:xfrm>
            <a:off x="87119" y="639817"/>
            <a:ext cx="8969762" cy="386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Objective:</a:t>
            </a:r>
            <a:r>
              <a:rPr lang="en-US" sz="1800" dirty="0">
                <a:solidFill>
                  <a:schemeClr val="bg2"/>
                </a:solidFill>
              </a:rPr>
              <a:t> Build pipelines for large-scale biological data and provide accessible tools with spatial maps.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r>
              <a:rPr lang="en-US" sz="1800" b="1" dirty="0">
                <a:solidFill>
                  <a:schemeClr val="bg2"/>
                </a:solidFill>
              </a:rPr>
              <a:t>Standardization:</a:t>
            </a:r>
            <a:r>
              <a:rPr lang="en-US" sz="1800" dirty="0">
                <a:solidFill>
                  <a:schemeClr val="bg2"/>
                </a:solidFill>
              </a:rPr>
              <a:t> Uniformly process multimodal data from all tissue mapping centers.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r>
              <a:rPr lang="en-US" sz="1800" b="1" dirty="0">
                <a:solidFill>
                  <a:schemeClr val="bg2"/>
                </a:solidFill>
              </a:rPr>
              <a:t>Tools:</a:t>
            </a:r>
            <a:r>
              <a:rPr lang="en-US" sz="1800" dirty="0">
                <a:solidFill>
                  <a:schemeClr val="bg2"/>
                </a:solidFill>
              </a:rPr>
              <a:t> Use Python (</a:t>
            </a:r>
            <a:r>
              <a:rPr lang="en-US" sz="1800" dirty="0" err="1">
                <a:solidFill>
                  <a:schemeClr val="bg2"/>
                </a:solidFill>
              </a:rPr>
              <a:t>Jupyter</a:t>
            </a:r>
            <a:r>
              <a:rPr lang="en-US" sz="1800" dirty="0">
                <a:solidFill>
                  <a:schemeClr val="bg2"/>
                </a:solidFill>
              </a:rPr>
              <a:t>) and domain-specific libraries for analysis.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r>
              <a:rPr lang="en-US" sz="1800" b="1" dirty="0">
                <a:solidFill>
                  <a:schemeClr val="bg2"/>
                </a:solidFill>
              </a:rPr>
              <a:t>Environment:</a:t>
            </a:r>
            <a:r>
              <a:rPr lang="en-US" sz="1800" dirty="0">
                <a:solidFill>
                  <a:schemeClr val="bg2"/>
                </a:solidFill>
              </a:rPr>
              <a:t> Run pipelines on UNIX systems for high-throughput processing.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r>
              <a:rPr lang="en-US" sz="1800" b="1" dirty="0">
                <a:solidFill>
                  <a:schemeClr val="bg2"/>
                </a:solidFill>
              </a:rPr>
              <a:t>Data Products:</a:t>
            </a:r>
            <a:r>
              <a:rPr lang="en-US" sz="1800" dirty="0">
                <a:solidFill>
                  <a:schemeClr val="bg2"/>
                </a:solidFill>
              </a:rPr>
              <a:t> Combine all datasets by assay and tissue.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132D9B-C05B-0465-C587-A2DDA1BF3ADA}"/>
              </a:ext>
            </a:extLst>
          </p:cNvPr>
          <p:cNvSpPr/>
          <p:nvPr/>
        </p:nvSpPr>
        <p:spPr>
          <a:xfrm>
            <a:off x="3485271" y="799244"/>
            <a:ext cx="5564460" cy="3545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8FDAE75-81CD-0D9A-C4C5-A3D410E2D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261" y="887145"/>
            <a:ext cx="5246410" cy="2742069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3FDEF0-0E9E-89FE-9528-247524E8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HuBMAP</a:t>
            </a:r>
            <a:r>
              <a:rPr lang="en-US" dirty="0"/>
              <a:t> Consortium Data Portal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97383-628D-B6F7-86C1-EB41F28BEB35}"/>
              </a:ext>
            </a:extLst>
          </p:cNvPr>
          <p:cNvSpPr txBox="1"/>
          <p:nvPr/>
        </p:nvSpPr>
        <p:spPr>
          <a:xfrm>
            <a:off x="94269" y="879638"/>
            <a:ext cx="323694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"/>
              </a:rPr>
              <a:t>Data Portal:</a:t>
            </a:r>
            <a:r>
              <a:rPr lang="en-US" dirty="0">
                <a:latin typeface=""/>
              </a:rPr>
              <a:t> Centralized access to datasets with tools for analysis and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"/>
            </a:endParaRPr>
          </a:p>
          <a:p>
            <a:endParaRPr lang="en-US" b="1" dirty="0">
              <a:latin typeface="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"/>
              </a:rPr>
              <a:t>Discovery:</a:t>
            </a:r>
            <a:r>
              <a:rPr lang="en-US" dirty="0">
                <a:latin typeface=""/>
              </a:rPr>
              <a:t> Search or browse by organ, cell type, or molecule.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"/>
            </a:endParaRPr>
          </a:p>
          <a:p>
            <a:endParaRPr lang="en-US" b="1" dirty="0">
              <a:latin typeface="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"/>
              </a:rPr>
              <a:t>Visualization:</a:t>
            </a:r>
            <a:r>
              <a:rPr lang="en-US" dirty="0">
                <a:latin typeface=""/>
              </a:rPr>
              <a:t> Interactive tools for spatial and single-cell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"/>
            </a:endParaRPr>
          </a:p>
          <a:p>
            <a:endParaRPr lang="en-US" b="1" dirty="0">
              <a:latin typeface="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"/>
              </a:rPr>
              <a:t>Access:</a:t>
            </a:r>
            <a:r>
              <a:rPr lang="en-US" dirty="0">
                <a:latin typeface=""/>
              </a:rPr>
              <a:t> Download raw and processed datasets.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3BE830-49FD-7739-F496-9FDFA3CF5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262" y="3629214"/>
            <a:ext cx="5246411" cy="514354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3295762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1F9-028C-E2EC-772C-06B234652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0" y="6545"/>
            <a:ext cx="9144000" cy="601500"/>
          </a:xfrm>
        </p:spPr>
        <p:txBody>
          <a:bodyPr/>
          <a:lstStyle/>
          <a:p>
            <a:r>
              <a:rPr lang="en-US" dirty="0"/>
              <a:t>Raw Heart Data - </a:t>
            </a:r>
            <a:r>
              <a:rPr lang="en-US" dirty="0" err="1"/>
              <a:t>scRNAseq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6C64C8-C76C-B86B-D5DD-AEBEAF017869}"/>
              </a:ext>
            </a:extLst>
          </p:cNvPr>
          <p:cNvSpPr/>
          <p:nvPr/>
        </p:nvSpPr>
        <p:spPr>
          <a:xfrm>
            <a:off x="108466" y="912710"/>
            <a:ext cx="4014095" cy="2380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z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746E78-4921-1425-1910-B448A9B74A93}"/>
              </a:ext>
            </a:extLst>
          </p:cNvPr>
          <p:cNvSpPr/>
          <p:nvPr/>
        </p:nvSpPr>
        <p:spPr>
          <a:xfrm>
            <a:off x="4938462" y="912711"/>
            <a:ext cx="4014095" cy="2380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8C8665-D41C-8027-0B8D-5FF21F99E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43" y="1190883"/>
            <a:ext cx="3830131" cy="1793654"/>
          </a:xfrm>
          <a:prstGeom prst="rect">
            <a:avLst/>
          </a:prstGeom>
          <a:effectLst>
            <a:softEdge rad="56070"/>
          </a:effectLst>
        </p:spPr>
      </p:pic>
      <p:pic>
        <p:nvPicPr>
          <p:cNvPr id="15" name="Picture 1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4AF36DA-ED82-58D2-AA11-3FE1A565C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662" y="1206573"/>
            <a:ext cx="1994084" cy="1931475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BD5B26C-B633-C406-0CBF-C2B7ED6B7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039" y="1008412"/>
            <a:ext cx="1603812" cy="2189047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CF00EB-EC3A-2936-6486-86A0EF59346B}"/>
              </a:ext>
            </a:extLst>
          </p:cNvPr>
          <p:cNvSpPr txBox="1"/>
          <p:nvPr/>
        </p:nvSpPr>
        <p:spPr>
          <a:xfrm>
            <a:off x="124272" y="3536021"/>
            <a:ext cx="88905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"/>
              </a:rPr>
              <a:t>HuBMAP</a:t>
            </a:r>
            <a:r>
              <a:rPr lang="en-US" dirty="0">
                <a:latin typeface=""/>
              </a:rPr>
              <a:t> raw heart data was read using the </a:t>
            </a:r>
            <a:r>
              <a:rPr lang="en-US" dirty="0" err="1">
                <a:latin typeface=""/>
              </a:rPr>
              <a:t>AnnData</a:t>
            </a:r>
            <a:r>
              <a:rPr lang="en-US" dirty="0">
                <a:latin typeface=""/>
              </a:rPr>
              <a:t> Python package, which provides tools for interpreting and working with complex biological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"/>
              </a:rPr>
              <a:t>The pandas library enables targeted analysis of specific data points.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152EFF39-B3DB-848E-7871-C4B1AFBC0F48}"/>
              </a:ext>
            </a:extLst>
          </p:cNvPr>
          <p:cNvSpPr/>
          <p:nvPr/>
        </p:nvSpPr>
        <p:spPr>
          <a:xfrm>
            <a:off x="4219534" y="2014837"/>
            <a:ext cx="631588" cy="3149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65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3D45E-3DF2-336B-CD17-BC999D0AB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Scanpy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D19AE-BD32-7F67-9ABC-943FDEB25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601498"/>
            <a:ext cx="9143999" cy="510864"/>
          </a:xfrm>
        </p:spPr>
        <p:txBody>
          <a:bodyPr/>
          <a:lstStyle/>
          <a:p>
            <a:r>
              <a:rPr lang="en-US" sz="1800" b="1" dirty="0" err="1"/>
              <a:t>Scanpy</a:t>
            </a:r>
            <a:r>
              <a:rPr lang="en-US" sz="1800" b="1" dirty="0"/>
              <a:t>:</a:t>
            </a:r>
            <a:r>
              <a:rPr lang="en-US" sz="1800" dirty="0"/>
              <a:t> Python toolkit for analysis of large single-cell gene expression datasets.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9A87C0-E661-53FC-1359-D02C12FFFF4A}"/>
              </a:ext>
            </a:extLst>
          </p:cNvPr>
          <p:cNvSpPr/>
          <p:nvPr/>
        </p:nvSpPr>
        <p:spPr>
          <a:xfrm>
            <a:off x="255494" y="1169897"/>
            <a:ext cx="2595282" cy="2622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729B110-BB2C-B788-92EF-BFC8BBD18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54" y="1225194"/>
            <a:ext cx="2469760" cy="309600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1" name="Picture 10" descr="A graph with numbers and a number&#10;&#10;AI-generated content may be incorrect.">
            <a:extLst>
              <a:ext uri="{FF2B5EF4-FFF2-40B4-BE49-F238E27FC236}">
                <a16:creationId xmlns:a16="http://schemas.microsoft.com/office/drawing/2014/main" id="{C4C4DC2D-1945-6685-A0A0-C83742C95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54" y="1534794"/>
            <a:ext cx="2469761" cy="2073911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C08810-8190-88E1-DC1E-F43F7D573529}"/>
              </a:ext>
            </a:extLst>
          </p:cNvPr>
          <p:cNvSpPr txBox="1"/>
          <p:nvPr/>
        </p:nvSpPr>
        <p:spPr>
          <a:xfrm>
            <a:off x="255493" y="3792075"/>
            <a:ext cx="25952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Pre-processing:</a:t>
            </a:r>
            <a:r>
              <a:rPr lang="en-US" dirty="0"/>
              <a:t> includes quality control and filtering of cells and genes.</a:t>
            </a:r>
          </a:p>
        </p:txBody>
      </p:sp>
    </p:spTree>
    <p:extLst>
      <p:ext uri="{BB962C8B-B14F-4D97-AF65-F5344CB8AC3E}">
        <p14:creationId xmlns:p14="http://schemas.microsoft.com/office/powerpoint/2010/main" val="1497338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9CFD-F975-8A6D-0633-A0038388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Processed Heart Data – Pipeline Results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EF5D1-0974-BD74-BAE3-9C7DFBAE3112}"/>
              </a:ext>
            </a:extLst>
          </p:cNvPr>
          <p:cNvSpPr/>
          <p:nvPr/>
        </p:nvSpPr>
        <p:spPr>
          <a:xfrm>
            <a:off x="474491" y="3389515"/>
            <a:ext cx="4547425" cy="1223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49BE27-3939-FFA1-4921-41B172AEE078}"/>
              </a:ext>
            </a:extLst>
          </p:cNvPr>
          <p:cNvSpPr/>
          <p:nvPr/>
        </p:nvSpPr>
        <p:spPr>
          <a:xfrm>
            <a:off x="507452" y="660939"/>
            <a:ext cx="3637621" cy="2572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5CC84C-E73B-84D9-DE95-250F9DB6AD98}"/>
              </a:ext>
            </a:extLst>
          </p:cNvPr>
          <p:cNvSpPr/>
          <p:nvPr/>
        </p:nvSpPr>
        <p:spPr>
          <a:xfrm>
            <a:off x="5021917" y="671003"/>
            <a:ext cx="3126004" cy="2572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ECB104-444A-6533-BF6D-3CD5EEBE7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25" y="3492460"/>
            <a:ext cx="4451155" cy="1017377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CDE5F52-C0EE-AA73-7FFC-7967D43A9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97" y="755921"/>
            <a:ext cx="3423530" cy="2425473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398F55-D517-C99B-BF2A-2157979A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050" y="733489"/>
            <a:ext cx="2903738" cy="2447905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D32D7E-5780-63F2-22F2-9D878B8963DF}"/>
              </a:ext>
            </a:extLst>
          </p:cNvPr>
          <p:cNvSpPr txBox="1"/>
          <p:nvPr/>
        </p:nvSpPr>
        <p:spPr>
          <a:xfrm>
            <a:off x="4973780" y="3289763"/>
            <a:ext cx="382529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"/>
              </a:rPr>
              <a:t>After processing, about 99% of cells and 75% of genes were filtered out.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"/>
              </a:rPr>
              <a:t>Pipeline utilizes Leiden clustering, viewed with UMAPs plotted by </a:t>
            </a:r>
            <a:r>
              <a:rPr lang="en-US" sz="1200" dirty="0" err="1">
                <a:latin typeface=""/>
              </a:rPr>
              <a:t>scanpy</a:t>
            </a:r>
            <a:r>
              <a:rPr lang="en-US" sz="1200" dirty="0">
                <a:latin typeface=""/>
              </a:rPr>
              <a:t>. Another valuable tool in the </a:t>
            </a:r>
            <a:r>
              <a:rPr lang="en-US" sz="1200" dirty="0" err="1">
                <a:latin typeface=""/>
              </a:rPr>
              <a:t>scanpy</a:t>
            </a:r>
            <a:r>
              <a:rPr lang="en-US" sz="1200" dirty="0">
                <a:latin typeface=""/>
              </a:rPr>
              <a:t> kit.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"/>
              </a:rPr>
              <a:t>Metadata gives an overview of the data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Bent Arrow 4">
            <a:extLst>
              <a:ext uri="{FF2B5EF4-FFF2-40B4-BE49-F238E27FC236}">
                <a16:creationId xmlns:a16="http://schemas.microsoft.com/office/drawing/2014/main" id="{5FBE6874-E904-6744-3A34-0F91115D1594}"/>
              </a:ext>
            </a:extLst>
          </p:cNvPr>
          <p:cNvSpPr/>
          <p:nvPr/>
        </p:nvSpPr>
        <p:spPr>
          <a:xfrm rot="18883916">
            <a:off x="33735" y="2940831"/>
            <a:ext cx="553327" cy="652144"/>
          </a:xfrm>
          <a:prstGeom prst="ben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A18DB5E4-7940-6917-0A4E-0CE23C83D4AA}"/>
              </a:ext>
            </a:extLst>
          </p:cNvPr>
          <p:cNvSpPr/>
          <p:nvPr/>
        </p:nvSpPr>
        <p:spPr>
          <a:xfrm>
            <a:off x="4256206" y="1980463"/>
            <a:ext cx="631588" cy="3149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79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9578-7F69-701A-95ED-47B5D118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B76799-8B39-6F21-EFEC-3A8E6BA947D6}"/>
              </a:ext>
            </a:extLst>
          </p:cNvPr>
          <p:cNvSpPr/>
          <p:nvPr/>
        </p:nvSpPr>
        <p:spPr>
          <a:xfrm>
            <a:off x="86264" y="688259"/>
            <a:ext cx="4070555" cy="22712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9CF1F942-7EFD-9EEA-697C-AA83934D7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58" y="812990"/>
            <a:ext cx="3918722" cy="2042021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4B5B5A-7BA9-E2AE-4501-76F39E862769}"/>
              </a:ext>
            </a:extLst>
          </p:cNvPr>
          <p:cNvSpPr/>
          <p:nvPr/>
        </p:nvSpPr>
        <p:spPr>
          <a:xfrm>
            <a:off x="155358" y="2391755"/>
            <a:ext cx="3918722" cy="223100"/>
          </a:xfrm>
          <a:prstGeom prst="rect">
            <a:avLst/>
          </a:prstGeom>
          <a:solidFill>
            <a:srgbClr val="FFFF00">
              <a:alpha val="4559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9AA954B2-D664-F146-DC77-E6D2556962F8}"/>
              </a:ext>
            </a:extLst>
          </p:cNvPr>
          <p:cNvSpPr/>
          <p:nvPr/>
        </p:nvSpPr>
        <p:spPr>
          <a:xfrm>
            <a:off x="4256206" y="1980463"/>
            <a:ext cx="631588" cy="3149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8B18E9-6A35-2DA2-A0F6-E8F0058753CE}"/>
              </a:ext>
            </a:extLst>
          </p:cNvPr>
          <p:cNvSpPr/>
          <p:nvPr/>
        </p:nvSpPr>
        <p:spPr>
          <a:xfrm>
            <a:off x="4987181" y="688259"/>
            <a:ext cx="4001461" cy="22712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BF282E-B41D-720C-EEBC-DF5ADD527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758" y="764245"/>
            <a:ext cx="3771057" cy="2090766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8D88E4EA-0ED9-7CF5-BC97-53E204A19A5D}"/>
              </a:ext>
            </a:extLst>
          </p:cNvPr>
          <p:cNvSpPr/>
          <p:nvPr/>
        </p:nvSpPr>
        <p:spPr>
          <a:xfrm rot="9183329">
            <a:off x="4235779" y="2981011"/>
            <a:ext cx="631588" cy="3149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0892A1-DBCA-3D2E-0756-BE3905DCDC05}"/>
              </a:ext>
            </a:extLst>
          </p:cNvPr>
          <p:cNvSpPr/>
          <p:nvPr/>
        </p:nvSpPr>
        <p:spPr>
          <a:xfrm>
            <a:off x="86264" y="3094892"/>
            <a:ext cx="4070555" cy="16529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CF0B7C8-2FA6-8E66-62EC-3DACDDF34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23" y="3185336"/>
            <a:ext cx="3470031" cy="1472066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DD9DF45-44A2-1044-A0B0-5493D2AEC240}"/>
              </a:ext>
            </a:extLst>
          </p:cNvPr>
          <p:cNvSpPr txBox="1"/>
          <p:nvPr/>
        </p:nvSpPr>
        <p:spPr>
          <a:xfrm>
            <a:off x="4987181" y="3324454"/>
            <a:ext cx="40841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"/>
              </a:rPr>
              <a:t>Metadata is integrated into the user interface, with tissue type overviews provided. Shiny app enables both gene and cell-level insights/comparisons.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EEFB31-4A54-501A-E4C8-950DAAD42B28}"/>
              </a:ext>
            </a:extLst>
          </p:cNvPr>
          <p:cNvSpPr/>
          <p:nvPr/>
        </p:nvSpPr>
        <p:spPr>
          <a:xfrm>
            <a:off x="6770760" y="1405784"/>
            <a:ext cx="431563" cy="115367"/>
          </a:xfrm>
          <a:prstGeom prst="rect">
            <a:avLst/>
          </a:prstGeom>
          <a:solidFill>
            <a:srgbClr val="FFFF00">
              <a:alpha val="46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96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>
            <a:spLocks noGrp="1"/>
          </p:cNvSpPr>
          <p:nvPr>
            <p:ph type="sldNum" idx="12"/>
          </p:nvPr>
        </p:nvSpPr>
        <p:spPr>
          <a:xfrm>
            <a:off x="285750" y="4841483"/>
            <a:ext cx="1761300" cy="12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800"/>
              <a:buFont typeface="Open Sans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62" name="Google Shape;162;p34"/>
          <p:cNvSpPr txBox="1">
            <a:spLocks noGrp="1"/>
          </p:cNvSpPr>
          <p:nvPr>
            <p:ph type="title"/>
          </p:nvPr>
        </p:nvSpPr>
        <p:spPr>
          <a:xfrm>
            <a:off x="0" y="-1"/>
            <a:ext cx="9144000" cy="601500"/>
          </a:xfrm>
          <a:prstGeom prst="rect">
            <a:avLst/>
          </a:prstGeom>
          <a:solidFill>
            <a:srgbClr val="0075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Team</a:t>
            </a:r>
            <a:endParaRPr/>
          </a:p>
        </p:txBody>
      </p:sp>
      <p:sp>
        <p:nvSpPr>
          <p:cNvPr id="163" name="Google Shape;163;p34"/>
          <p:cNvSpPr txBox="1">
            <a:spLocks noGrp="1"/>
          </p:cNvSpPr>
          <p:nvPr>
            <p:ph type="body" idx="1"/>
          </p:nvPr>
        </p:nvSpPr>
        <p:spPr>
          <a:xfrm>
            <a:off x="285750" y="1009400"/>
            <a:ext cx="8675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</a:rPr>
              <a:t>Nick Nystrom (PI, PSC): </a:t>
            </a:r>
            <a:r>
              <a:rPr lang="en" sz="1200">
                <a:solidFill>
                  <a:schemeClr val="dk1"/>
                </a:solidFill>
              </a:rPr>
              <a:t>PSC Chief Scientist  			</a:t>
            </a:r>
            <a:r>
              <a:rPr lang="en" sz="1200" b="1">
                <a:solidFill>
                  <a:schemeClr val="dk1"/>
                </a:solidFill>
              </a:rPr>
              <a:t>Jonathan C. Silverstein (PI, Pitt): </a:t>
            </a:r>
            <a:r>
              <a:rPr lang="en" sz="1200">
                <a:solidFill>
                  <a:schemeClr val="dk1"/>
                </a:solidFill>
              </a:rPr>
              <a:t>Professor and CRIO, DBMI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wiss">
  <a:themeElements>
    <a:clrScheme name="Swiss">
      <a:dk1>
        <a:srgbClr val="444A65"/>
      </a:dk1>
      <a:lt1>
        <a:srgbClr val="FFFFFF"/>
      </a:lt1>
      <a:dk2>
        <a:srgbClr val="000000"/>
      </a:dk2>
      <a:lt2>
        <a:srgbClr val="757575"/>
      </a:lt2>
      <a:accent1>
        <a:srgbClr val="444A65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9A220B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354</Words>
  <Application>Microsoft Macintosh PowerPoint</Application>
  <PresentationFormat>On-screen Show (16:9)</PresentationFormat>
  <Paragraphs>51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Lato</vt:lpstr>
      <vt:lpstr>Open Sans</vt:lpstr>
      <vt:lpstr>Arial</vt:lpstr>
      <vt:lpstr>Open Sans SemiBold</vt:lpstr>
      <vt:lpstr>Inter</vt:lpstr>
      <vt:lpstr>Simple Light</vt:lpstr>
      <vt:lpstr>Swiss</vt:lpstr>
      <vt:lpstr> HuBMAP Data Processing Pipelines</vt:lpstr>
      <vt:lpstr>Overview</vt:lpstr>
      <vt:lpstr>Introduction</vt:lpstr>
      <vt:lpstr>HuBMAP Consortium Data Portal</vt:lpstr>
      <vt:lpstr>Raw Heart Data - scRNAseq</vt:lpstr>
      <vt:lpstr>Scanpy</vt:lpstr>
      <vt:lpstr>Processed Heart Data – Pipeline Results </vt:lpstr>
      <vt:lpstr>User Interface</vt:lpstr>
      <vt:lpstr>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Lasota, Jack J</cp:lastModifiedBy>
  <cp:revision>11</cp:revision>
  <dcterms:modified xsi:type="dcterms:W3CDTF">2025-07-14T17:53:54Z</dcterms:modified>
</cp:coreProperties>
</file>