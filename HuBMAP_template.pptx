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6" r:id="rId1"/>
    <p:sldMasterId id="2147483677" r:id="rId2"/>
  </p:sldMasterIdLst>
  <p:notesMasterIdLst>
    <p:notesMasterId r:id="rId19"/>
  </p:notesMasterIdLst>
  <p:sldIdLst>
    <p:sldId id="256" r:id="rId3"/>
    <p:sldId id="257" r:id="rId4"/>
    <p:sldId id="265" r:id="rId5"/>
    <p:sldId id="258" r:id="rId6"/>
    <p:sldId id="262" r:id="rId7"/>
    <p:sldId id="270" r:id="rId8"/>
    <p:sldId id="272" r:id="rId9"/>
    <p:sldId id="261" r:id="rId10"/>
    <p:sldId id="260" r:id="rId11"/>
    <p:sldId id="263" r:id="rId12"/>
    <p:sldId id="271" r:id="rId13"/>
    <p:sldId id="266" r:id="rId14"/>
    <p:sldId id="264" r:id="rId15"/>
    <p:sldId id="267" r:id="rId16"/>
    <p:sldId id="274" r:id="rId17"/>
    <p:sldId id="259" r:id="rId18"/>
  </p:sldIdLst>
  <p:sldSz cx="9144000" cy="5143500" type="screen16x9"/>
  <p:notesSz cx="6858000" cy="9144000"/>
  <p:embeddedFontLst>
    <p:embeddedFont>
      <p:font typeface="Inter" panose="02000503000000020004" pitchFamily="2" charset="0"/>
      <p:regular r:id="rId20"/>
      <p:bold r:id="rId21"/>
      <p:italic r:id="rId22"/>
      <p:boldItalic r:id="rId23"/>
    </p:embeddedFont>
    <p:embeddedFont>
      <p:font typeface="Lato" panose="020F0502020204030203" pitchFamily="34" charset="0"/>
      <p:regular r:id="rId24"/>
      <p:bold r:id="rId25"/>
      <p:italic r:id="rId26"/>
      <p:boldItalic r:id="rId27"/>
    </p:embeddedFont>
    <p:embeddedFont>
      <p:font typeface="Open Sans" panose="020B0606030504020204" pitchFamily="34" charset="0"/>
      <p:regular r:id="rId28"/>
      <p:bold r:id="rId29"/>
      <p:italic r:id="rId30"/>
      <p:boldItalic r:id="rId31"/>
    </p:embeddedFont>
    <p:embeddedFont>
      <p:font typeface="Open Sans SemiBold" panose="020F0502020204030204" pitchFamily="34" charset="0"/>
      <p:regular r:id="rId32"/>
      <p:bold r:id="rId33"/>
      <p:italic r:id="rId34"/>
      <p:boldItalic r:id="rId3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asota, Jack J" initials="LJJ" lastIdx="1" clrIdx="0">
    <p:extLst>
      <p:ext uri="{19B8F6BF-5375-455C-9EA6-DF929625EA0E}">
        <p15:presenceInfo xmlns:p15="http://schemas.microsoft.com/office/powerpoint/2012/main" userId="S::JJL120@pitt.edu::cede5063-ddde-4282-b262-6a766c3c94a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228"/>
    <p:restoredTop sz="84156"/>
  </p:normalViewPr>
  <p:slideViewPr>
    <p:cSldViewPr snapToGrid="0">
      <p:cViewPr varScale="1">
        <p:scale>
          <a:sx n="120" d="100"/>
          <a:sy n="120" d="100"/>
        </p:scale>
        <p:origin x="880" y="17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font" Target="fonts/font7.fntdata"/><Relationship Id="rId39" Type="http://schemas.openxmlformats.org/officeDocument/2006/relationships/theme" Target="theme/theme1.xml"/><Relationship Id="rId21" Type="http://schemas.openxmlformats.org/officeDocument/2006/relationships/font" Target="fonts/font2.fntdata"/><Relationship Id="rId34" Type="http://schemas.openxmlformats.org/officeDocument/2006/relationships/font" Target="fonts/font15.fntdata"/><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font" Target="fonts/font6.fntdata"/><Relationship Id="rId33" Type="http://schemas.openxmlformats.org/officeDocument/2006/relationships/font" Target="fonts/font14.fntdata"/><Relationship Id="rId38"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font" Target="fonts/font1.fntdata"/><Relationship Id="rId29"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font" Target="fonts/font5.fntdata"/><Relationship Id="rId32" Type="http://schemas.openxmlformats.org/officeDocument/2006/relationships/font" Target="fonts/font13.fntdata"/><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font" Target="fonts/font4.fntdata"/><Relationship Id="rId28" Type="http://schemas.openxmlformats.org/officeDocument/2006/relationships/font" Target="fonts/font9.fntdata"/><Relationship Id="rId36" Type="http://schemas.openxmlformats.org/officeDocument/2006/relationships/commentAuthors" Target="commentAuthors.xml"/><Relationship Id="rId10" Type="http://schemas.openxmlformats.org/officeDocument/2006/relationships/slide" Target="slides/slide8.xml"/><Relationship Id="rId19" Type="http://schemas.openxmlformats.org/officeDocument/2006/relationships/notesMaster" Target="notesMasters/notesMaster1.xml"/><Relationship Id="rId31" Type="http://schemas.openxmlformats.org/officeDocument/2006/relationships/font" Target="fonts/font12.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font" Target="fonts/font3.fntdata"/><Relationship Id="rId27" Type="http://schemas.openxmlformats.org/officeDocument/2006/relationships/font" Target="fonts/font8.fntdata"/><Relationship Id="rId30" Type="http://schemas.openxmlformats.org/officeDocument/2006/relationships/font" Target="fonts/font11.fntdata"/><Relationship Id="rId35" Type="http://schemas.openxmlformats.org/officeDocument/2006/relationships/font" Target="fonts/font16.fntdata"/><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g33d5cedad05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7" name="Google Shape;137;g33d5cedad05_0_16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171450" marR="0" lvl="0" indent="-171450" algn="l" defTabSz="914400" rtl="0" eaLnBrk="1" fontAlgn="auto" latinLnBrk="0" hangingPunct="1">
              <a:lnSpc>
                <a:spcPct val="100000"/>
              </a:lnSpc>
              <a:spcBef>
                <a:spcPts val="0"/>
              </a:spcBef>
              <a:spcAft>
                <a:spcPts val="0"/>
              </a:spcAft>
              <a:buClr>
                <a:srgbClr val="000000"/>
              </a:buClr>
              <a:buSzPts val="1400"/>
              <a:tabLst/>
              <a:defRPr/>
            </a:pPr>
            <a:r>
              <a:rPr lang="en-US" sz="900" dirty="0"/>
              <a:t>Hello everyone! My name is Jack Lasota and this summer I’ve been working at the Pittsburgh Supercomputing center. My project is on how we process, analyze, and integrate single-cell RNA-seq data within the </a:t>
            </a:r>
            <a:r>
              <a:rPr lang="en-US" sz="900" dirty="0" err="1"/>
              <a:t>HuBMAP</a:t>
            </a:r>
            <a:r>
              <a:rPr lang="en-US" sz="900" dirty="0"/>
              <a:t> framework. This included raw data handling, open source python-based toolkits like Scanpy, and approaches to align and interpret datasets across tissues.</a:t>
            </a:r>
          </a:p>
          <a:p>
            <a:pPr marL="0" marR="0" lvl="0" indent="0" algn="l" rtl="0">
              <a:lnSpc>
                <a:spcPct val="100000"/>
              </a:lnSpc>
              <a:spcBef>
                <a:spcPts val="0"/>
              </a:spcBef>
              <a:spcAft>
                <a:spcPts val="0"/>
              </a:spcAft>
              <a:buSzPts val="1400"/>
              <a:buNone/>
            </a:pPr>
            <a:endParaRPr sz="900" b="0" i="1" u="none" strike="noStrike" cap="none" dirty="0">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33d5cedad05_0_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6" name="Google Shape;146;g33d5cedad05_0_8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457200" indent="-298450"/>
            <a:r>
              <a:rPr lang="en-US" dirty="0"/>
              <a:t>At the Pittsburgh Supercomputing Center, tools like Bridges-2 allow us to process large single-cell datasets quickly and reliably. </a:t>
            </a:r>
          </a:p>
        </p:txBody>
      </p:sp>
    </p:spTree>
    <p:extLst>
      <p:ext uri="{BB962C8B-B14F-4D97-AF65-F5344CB8AC3E}">
        <p14:creationId xmlns:p14="http://schemas.microsoft.com/office/powerpoint/2010/main" val="11856729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33d5cedad05_0_1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2" name="Google Shape;152;g33d5cedad05_0_167: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t" anchorCtr="0">
            <a:noAutofit/>
          </a:bodyPr>
          <a:lstStyle/>
          <a:p>
            <a:pPr marL="171450" marR="0" lvl="0" indent="-171450" algn="l" defTabSz="914400" rtl="0" eaLnBrk="1" fontAlgn="auto" latinLnBrk="0" hangingPunct="1">
              <a:lnSpc>
                <a:spcPct val="100000"/>
              </a:lnSpc>
              <a:spcBef>
                <a:spcPts val="0"/>
              </a:spcBef>
              <a:spcAft>
                <a:spcPts val="0"/>
              </a:spcAft>
              <a:buClr>
                <a:srgbClr val="000000"/>
              </a:buClr>
              <a:buSzPts val="1400"/>
              <a:tabLst/>
              <a:defRPr/>
            </a:pPr>
            <a:r>
              <a:rPr lang="en-US" b="1" dirty="0"/>
              <a:t>Objective: </a:t>
            </a:r>
            <a:r>
              <a:rPr lang="en-US" dirty="0"/>
              <a:t>The overarching goal of my project is to make large biological datasets easier to analyze and interpret. This requires that we {objective}. This meant standardization, using consistent processing across tissue types, and preparing everything for visualization and annotation.</a:t>
            </a:r>
          </a:p>
          <a:p>
            <a:pPr marL="171450" marR="0" lvl="0" indent="-171450" algn="l" defTabSz="914400" rtl="0" eaLnBrk="1" fontAlgn="auto" latinLnBrk="0" hangingPunct="1">
              <a:lnSpc>
                <a:spcPct val="100000"/>
              </a:lnSpc>
              <a:spcBef>
                <a:spcPts val="0"/>
              </a:spcBef>
              <a:spcAft>
                <a:spcPts val="0"/>
              </a:spcAft>
              <a:buClr>
                <a:srgbClr val="000000"/>
              </a:buClr>
              <a:buSzPts val="1400"/>
              <a:tabLst/>
              <a:defRPr/>
            </a:pPr>
            <a:r>
              <a:rPr lang="en-US" b="1" dirty="0"/>
              <a:t>Standardization: </a:t>
            </a:r>
            <a:r>
              <a:rPr lang="en-US" b="0" dirty="0"/>
              <a:t> </a:t>
            </a:r>
            <a:r>
              <a:rPr lang="en-US" dirty="0"/>
              <a:t>This preparation involved standardization or cleaning the data. It must be {standardization}. Once we get a readable file...</a:t>
            </a:r>
          </a:p>
          <a:p>
            <a:pPr marL="171450" marR="0" lvl="0" indent="-171450" algn="l" defTabSz="914400" rtl="0" eaLnBrk="1" fontAlgn="auto" latinLnBrk="0" hangingPunct="1">
              <a:lnSpc>
                <a:spcPct val="100000"/>
              </a:lnSpc>
              <a:spcBef>
                <a:spcPts val="0"/>
              </a:spcBef>
              <a:spcAft>
                <a:spcPts val="0"/>
              </a:spcAft>
              <a:buClr>
                <a:srgbClr val="000000"/>
              </a:buClr>
              <a:buSzPts val="1400"/>
              <a:tabLst/>
              <a:defRPr/>
            </a:pPr>
            <a:r>
              <a:rPr lang="en-US" b="1" dirty="0"/>
              <a:t>Tools: I used python, particularly </a:t>
            </a:r>
            <a:r>
              <a:rPr lang="en-US" b="1" dirty="0" err="1"/>
              <a:t>jupyter</a:t>
            </a:r>
            <a:r>
              <a:rPr lang="en-US" b="1" dirty="0"/>
              <a:t> notebook. Scanpy</a:t>
            </a:r>
            <a:r>
              <a:rPr lang="en-US" dirty="0"/>
              <a:t> = </a:t>
            </a:r>
            <a:r>
              <a:rPr lang="en-US" i="1" dirty="0"/>
              <a:t>open-source Python toolkit</a:t>
            </a:r>
            <a:r>
              <a:rPr lang="en-US" dirty="0"/>
              <a:t> for analyzing single-cell gene expression data, particularly scalable to large datasets. While, </a:t>
            </a:r>
            <a:r>
              <a:rPr lang="en-US" b="1" dirty="0" err="1"/>
              <a:t>AnnData</a:t>
            </a:r>
            <a:r>
              <a:rPr lang="en-US" dirty="0"/>
              <a:t> is an </a:t>
            </a:r>
            <a:r>
              <a:rPr lang="en-US" i="1" dirty="0"/>
              <a:t>open-source Python data structure</a:t>
            </a:r>
            <a:r>
              <a:rPr lang="en-US" dirty="0"/>
              <a:t> (and accompanying I/O toolkit) designed for efficiently handling annotated data matrices, and is the core data structure used by Scanpy.</a:t>
            </a:r>
            <a:endParaRPr lang="en-US" b="1" dirty="0"/>
          </a:p>
          <a:p>
            <a:pPr marL="0" lvl="0" indent="0" algn="l" rtl="0">
              <a:lnSpc>
                <a:spcPct val="100000"/>
              </a:lnSpc>
              <a:spcBef>
                <a:spcPts val="0"/>
              </a:spcBef>
              <a:spcAft>
                <a:spcPts val="0"/>
              </a:spcAft>
              <a:buSzPts val="1400"/>
              <a:buNone/>
            </a:pP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a:t>
            </a:r>
            <a:r>
              <a:rPr lang="en-US" dirty="0" err="1"/>
              <a:t>HuBMAP</a:t>
            </a:r>
            <a:r>
              <a:rPr lang="en-US" dirty="0"/>
              <a:t> Portal provides access to datasets across tissue types, even allowing comparison by various modalities, such as assay type. It lets researchers search and browse spatial and single-cell data, compare data across organs, and download datasets in raw or processed forms. </a:t>
            </a:r>
          </a:p>
          <a:p>
            <a:r>
              <a:rPr lang="en-US" dirty="0"/>
              <a:t>Behind the scenes, creating such an interactive and user-friendly platform requires significant effort — from cleaning and standardizing the data to representing it in a way that’s both readable and meaningful to users.</a:t>
            </a:r>
          </a:p>
          <a:p>
            <a:endParaRPr lang="en-US" dirty="0"/>
          </a:p>
        </p:txBody>
      </p:sp>
    </p:spTree>
    <p:extLst>
      <p:ext uri="{BB962C8B-B14F-4D97-AF65-F5344CB8AC3E}">
        <p14:creationId xmlns:p14="http://schemas.microsoft.com/office/powerpoint/2010/main" val="34654011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a:extLst>
            <a:ext uri="{FF2B5EF4-FFF2-40B4-BE49-F238E27FC236}">
              <a16:creationId xmlns:a16="http://schemas.microsoft.com/office/drawing/2014/main" id="{62F2FBC4-C6B3-BA00-62A1-6BA14E99483C}"/>
            </a:ext>
          </a:extLst>
        </p:cNvPr>
        <p:cNvGrpSpPr/>
        <p:nvPr/>
      </p:nvGrpSpPr>
      <p:grpSpPr>
        <a:xfrm>
          <a:off x="0" y="0"/>
          <a:ext cx="0" cy="0"/>
          <a:chOff x="0" y="0"/>
          <a:chExt cx="0" cy="0"/>
        </a:xfrm>
      </p:grpSpPr>
      <p:sp>
        <p:nvSpPr>
          <p:cNvPr id="145" name="Google Shape;145;g33d5cedad05_0_85:notes">
            <a:extLst>
              <a:ext uri="{FF2B5EF4-FFF2-40B4-BE49-F238E27FC236}">
                <a16:creationId xmlns:a16="http://schemas.microsoft.com/office/drawing/2014/main" id="{49A7EF86-A5A6-DE75-2A22-1617DD0059D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6" name="Google Shape;146;g33d5cedad05_0_85:notes">
            <a:extLst>
              <a:ext uri="{FF2B5EF4-FFF2-40B4-BE49-F238E27FC236}">
                <a16:creationId xmlns:a16="http://schemas.microsoft.com/office/drawing/2014/main" id="{E1420E12-A1C9-C9E3-B57A-0A0E6A5D632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extLst>
      <p:ext uri="{BB962C8B-B14F-4D97-AF65-F5344CB8AC3E}">
        <p14:creationId xmlns:p14="http://schemas.microsoft.com/office/powerpoint/2010/main" val="36745392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This </a:t>
            </a:r>
            <a:r>
              <a:rPr lang="en-US" b="0" dirty="0"/>
              <a:t>pipeline processes raw single-cell RNA-seq data starting from FASTQ format, using the Salmon-Alevin workflow for rapid quality control, quantification, and initial analysis. The result is a clean, high-quality .h5ad file—ideal for integration, visualization, and interpretation within a </a:t>
            </a:r>
            <a:r>
              <a:rPr lang="en-US" b="0" dirty="0" err="1"/>
              <a:t>Jupyter</a:t>
            </a:r>
            <a:r>
              <a:rPr lang="en-US" b="0" dirty="0"/>
              <a:t> notebook.</a:t>
            </a:r>
          </a:p>
          <a:p>
            <a:r>
              <a:rPr lang="en-US" b="0" dirty="0"/>
              <a:t>Each step in the diagram represents a node in the pipeline, where data is sequentially processed or analyzed:</a:t>
            </a:r>
          </a:p>
          <a:p>
            <a:pPr lvl="1"/>
            <a:r>
              <a:rPr lang="en-US" b="1" dirty="0"/>
              <a:t>Start</a:t>
            </a:r>
            <a:r>
              <a:rPr lang="en-US" dirty="0"/>
              <a:t>: Initiates the workflow</a:t>
            </a:r>
          </a:p>
          <a:p>
            <a:pPr lvl="1"/>
            <a:r>
              <a:rPr lang="en-US" b="1" dirty="0" err="1"/>
              <a:t>fastqc</a:t>
            </a:r>
            <a:r>
              <a:rPr lang="en-US" dirty="0"/>
              <a:t>: Performs quality checks on raw FASTQ files</a:t>
            </a:r>
          </a:p>
          <a:p>
            <a:pPr lvl="1"/>
            <a:r>
              <a:rPr lang="en-US" b="1" dirty="0"/>
              <a:t>salmon_quantification</a:t>
            </a:r>
            <a:r>
              <a:rPr lang="en-US" dirty="0"/>
              <a:t>: Quantifies gene expression using the Salmon-Alevin tool</a:t>
            </a:r>
          </a:p>
          <a:p>
            <a:pPr lvl="1"/>
            <a:r>
              <a:rPr lang="en-US" b="1" dirty="0" err="1"/>
              <a:t>compute_qc_results</a:t>
            </a:r>
            <a:r>
              <a:rPr lang="en-US" dirty="0"/>
              <a:t>: Aggregates quality metrics from </a:t>
            </a:r>
            <a:r>
              <a:rPr lang="en-US" dirty="0" err="1"/>
              <a:t>fastqc</a:t>
            </a:r>
            <a:r>
              <a:rPr lang="en-US" dirty="0"/>
              <a:t> and other steps</a:t>
            </a:r>
          </a:p>
          <a:p>
            <a:pPr lvl="1"/>
            <a:r>
              <a:rPr lang="en-US" b="1" dirty="0" err="1"/>
              <a:t>scanpy_analysis</a:t>
            </a:r>
            <a:r>
              <a:rPr lang="en-US" dirty="0"/>
              <a:t>: Handles filtering, normalization, PCA, clustering, and embedding</a:t>
            </a:r>
          </a:p>
          <a:p>
            <a:pPr lvl="1"/>
            <a:r>
              <a:rPr lang="en-US" b="1" dirty="0"/>
              <a:t>scvelo_analysis</a:t>
            </a:r>
            <a:r>
              <a:rPr lang="en-US" dirty="0"/>
              <a:t> </a:t>
            </a:r>
            <a:r>
              <a:rPr lang="en-US" i="1" dirty="0"/>
              <a:t>(optional)</a:t>
            </a:r>
            <a:r>
              <a:rPr lang="en-US" dirty="0"/>
              <a:t>: Performs RNA velocity analysis</a:t>
            </a:r>
          </a:p>
          <a:p>
            <a:pPr lvl="1"/>
            <a:r>
              <a:rPr lang="en-US" b="1" dirty="0" err="1"/>
              <a:t>squidpy_analysis</a:t>
            </a:r>
            <a:r>
              <a:rPr lang="en-US" dirty="0"/>
              <a:t> </a:t>
            </a:r>
            <a:r>
              <a:rPr lang="en-US" i="1" dirty="0"/>
              <a:t>(optional)</a:t>
            </a:r>
            <a:r>
              <a:rPr lang="en-US" dirty="0"/>
              <a:t>: Enables spatial transcriptomics analysis</a:t>
            </a:r>
          </a:p>
          <a:p>
            <a:pPr lvl="1"/>
            <a:r>
              <a:rPr lang="en-US" b="1" dirty="0"/>
              <a:t>End</a:t>
            </a:r>
            <a:r>
              <a:rPr lang="en-US" dirty="0"/>
              <a:t>: All outputs converge here, producing a structured .h5ad file</a:t>
            </a:r>
          </a:p>
          <a:p>
            <a:r>
              <a:rPr lang="en-US" dirty="0"/>
              <a:t>Color legend for the diagram:</a:t>
            </a:r>
          </a:p>
          <a:p>
            <a:pPr lvl="1"/>
            <a:r>
              <a:rPr lang="en-US" b="1" dirty="0"/>
              <a:t>Green</a:t>
            </a:r>
            <a:r>
              <a:rPr lang="en-US" dirty="0"/>
              <a:t> – Input/initiation</a:t>
            </a:r>
          </a:p>
          <a:p>
            <a:pPr lvl="1"/>
            <a:r>
              <a:rPr lang="en-US" b="1" dirty="0"/>
              <a:t>Blue</a:t>
            </a:r>
            <a:r>
              <a:rPr lang="en-US" dirty="0"/>
              <a:t> – QC and quantification</a:t>
            </a:r>
          </a:p>
          <a:p>
            <a:pPr lvl="1"/>
            <a:r>
              <a:rPr lang="en-US" b="1" dirty="0"/>
              <a:t>Purple</a:t>
            </a:r>
            <a:r>
              <a:rPr lang="en-US" dirty="0"/>
              <a:t> – Analysis modules</a:t>
            </a:r>
          </a:p>
          <a:p>
            <a:pPr lvl="1"/>
            <a:r>
              <a:rPr lang="en-US" b="1" dirty="0"/>
              <a:t>Red</a:t>
            </a:r>
            <a:r>
              <a:rPr lang="en-US" dirty="0"/>
              <a:t> – Final output</a:t>
            </a:r>
          </a:p>
          <a:p>
            <a:r>
              <a:rPr lang="en-US" dirty="0"/>
              <a:t>Pipelines like this are crucial for converting raw sequencing data into structured, readable formats, enabling researchers to perform meaningful comparisons, visualizations, and biological interpretations.</a:t>
            </a:r>
          </a:p>
          <a:p>
            <a:endParaRPr lang="en-US" dirty="0"/>
          </a:p>
          <a:p>
            <a:endParaRPr lang="en-US" dirty="0"/>
          </a:p>
        </p:txBody>
      </p:sp>
    </p:spTree>
    <p:extLst>
      <p:ext uri="{BB962C8B-B14F-4D97-AF65-F5344CB8AC3E}">
        <p14:creationId xmlns:p14="http://schemas.microsoft.com/office/powerpoint/2010/main" val="27099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dirty="0"/>
              <a:t>Once we receive our h5ad files, we can start our analysis. Here we begin with raw heart data (includes unfiltered low-quality cells and genes), We load it into Python using </a:t>
            </a:r>
            <a:r>
              <a:rPr lang="en-US" dirty="0" err="1"/>
              <a:t>AnnData</a:t>
            </a:r>
            <a:r>
              <a:rPr lang="en-US" dirty="0"/>
              <a:t>, which helps us track our metadata, counts, and analysis results together. {</a:t>
            </a:r>
            <a:r>
              <a:rPr lang="en-US" dirty="0" err="1"/>
              <a:t>n_obs</a:t>
            </a:r>
            <a:r>
              <a:rPr lang="en-US" dirty="0"/>
              <a:t> x </a:t>
            </a:r>
            <a:r>
              <a:rPr lang="en-US" dirty="0" err="1"/>
              <a:t>n_vars</a:t>
            </a:r>
            <a:r>
              <a:rPr lang="en-US" dirty="0"/>
              <a:t>} </a:t>
            </a:r>
            <a:r>
              <a:rPr lang="en-US" b="0" dirty="0"/>
              <a:t>As you can see</a:t>
            </a:r>
            <a:r>
              <a:rPr lang="en-US" b="1" dirty="0"/>
              <a:t> </a:t>
            </a:r>
            <a:r>
              <a:rPr lang="en-US" b="0" dirty="0"/>
              <a:t>in the first image, there is a large volume of cells x genes in the dataset.</a:t>
            </a:r>
            <a:r>
              <a:rPr lang="en-US" b="1" dirty="0"/>
              <a:t> </a:t>
            </a:r>
            <a:r>
              <a:rPr lang="en-US" dirty="0"/>
              <a:t>Additionally, the pandas library can be </a:t>
            </a:r>
            <a:r>
              <a:rPr lang="en-US" dirty="0" err="1"/>
              <a:t>utilitzed</a:t>
            </a:r>
            <a:r>
              <a:rPr lang="en-US" dirty="0"/>
              <a:t> for target analysis of specific data point. </a:t>
            </a:r>
          </a:p>
          <a:p>
            <a:pPr lvl="1"/>
            <a:r>
              <a:rPr lang="en-US" b="1" dirty="0" err="1"/>
              <a:t>n_obs</a:t>
            </a:r>
            <a:r>
              <a:rPr lang="en-US" b="1" dirty="0"/>
              <a:t> = cells 	</a:t>
            </a:r>
          </a:p>
          <a:p>
            <a:pPr lvl="1"/>
            <a:r>
              <a:rPr lang="en-US" b="1" dirty="0" err="1"/>
              <a:t>n_vars</a:t>
            </a:r>
            <a:r>
              <a:rPr lang="en-US" b="1" dirty="0"/>
              <a:t> = genes</a:t>
            </a:r>
          </a:p>
          <a:p>
            <a:pPr marL="615950" lvl="1" indent="0">
              <a:buNone/>
            </a:pPr>
            <a:endParaRPr lang="en-US" b="1" dirty="0"/>
          </a:p>
        </p:txBody>
      </p:sp>
    </p:spTree>
    <p:extLst>
      <p:ext uri="{BB962C8B-B14F-4D97-AF65-F5344CB8AC3E}">
        <p14:creationId xmlns:p14="http://schemas.microsoft.com/office/powerpoint/2010/main" val="9883888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After filtering, we retain only high-quality data. Using </a:t>
            </a:r>
            <a:r>
              <a:rPr lang="en-US" dirty="0" err="1"/>
              <a:t>AnnData</a:t>
            </a:r>
            <a:r>
              <a:rPr lang="en-US" dirty="0"/>
              <a:t> in the same fashion, looking at the cells x genes (</a:t>
            </a:r>
            <a:r>
              <a:rPr lang="en-US" dirty="0" err="1"/>
              <a:t>obs</a:t>
            </a:r>
            <a:r>
              <a:rPr lang="en-US" dirty="0"/>
              <a:t> x vars) we can see ~99% of cells and 75% of genes have been filtered. </a:t>
            </a:r>
          </a:p>
          <a:p>
            <a:r>
              <a:rPr lang="en-US" dirty="0"/>
              <a:t> We use Scanpy to perform clustering, (in this case with the Leiden algorithm) visualizing cell clusters using UMAPs. </a:t>
            </a:r>
          </a:p>
          <a:p>
            <a:r>
              <a:rPr lang="en-US" dirty="0"/>
              <a:t>Metadata can then be extracted and utilized in other areas, for example…</a:t>
            </a:r>
          </a:p>
        </p:txBody>
      </p:sp>
    </p:spTree>
    <p:extLst>
      <p:ext uri="{BB962C8B-B14F-4D97-AF65-F5344CB8AC3E}">
        <p14:creationId xmlns:p14="http://schemas.microsoft.com/office/powerpoint/2010/main" val="5706109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 the top left, we see our metadata transformed into a friendly portal…which allows researchers to explore tissue types, gene expression levels, and cell-type-specific patterns. </a:t>
            </a:r>
          </a:p>
          <a:p>
            <a:r>
              <a:rPr lang="en-US" dirty="0"/>
              <a:t>If we click on a particular organ, we can utilize tools like </a:t>
            </a:r>
            <a:r>
              <a:rPr lang="en-US" dirty="0" err="1"/>
              <a:t>ShinyApp</a:t>
            </a:r>
            <a:r>
              <a:rPr lang="en-US" dirty="0"/>
              <a:t> to visualize cell and gene information</a:t>
            </a:r>
          </a:p>
          <a:p>
            <a:r>
              <a:rPr lang="en-US" dirty="0"/>
              <a:t>As shown in the bottom left, the shiny app directly uses UMAPs like the ones we were able to output in our processed data!</a:t>
            </a:r>
          </a:p>
        </p:txBody>
      </p:sp>
    </p:spTree>
    <p:extLst>
      <p:ext uri="{BB962C8B-B14F-4D97-AF65-F5344CB8AC3E}">
        <p14:creationId xmlns:p14="http://schemas.microsoft.com/office/powerpoint/2010/main" val="24071537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a:extLst>
            <a:ext uri="{FF2B5EF4-FFF2-40B4-BE49-F238E27FC236}">
              <a16:creationId xmlns:a16="http://schemas.microsoft.com/office/drawing/2014/main" id="{CCD21855-ED44-7263-3777-BC5157E98B1B}"/>
            </a:ext>
          </a:extLst>
        </p:cNvPr>
        <p:cNvGrpSpPr/>
        <p:nvPr/>
      </p:nvGrpSpPr>
      <p:grpSpPr>
        <a:xfrm>
          <a:off x="0" y="0"/>
          <a:ext cx="0" cy="0"/>
          <a:chOff x="0" y="0"/>
          <a:chExt cx="0" cy="0"/>
        </a:xfrm>
      </p:grpSpPr>
      <p:sp>
        <p:nvSpPr>
          <p:cNvPr id="145" name="Google Shape;145;g33d5cedad05_0_85:notes">
            <a:extLst>
              <a:ext uri="{FF2B5EF4-FFF2-40B4-BE49-F238E27FC236}">
                <a16:creationId xmlns:a16="http://schemas.microsoft.com/office/drawing/2014/main" id="{2522F1C4-4402-26D6-14E1-21F0863BD3D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6" name="Google Shape;146;g33d5cedad05_0_85:notes">
            <a:extLst>
              <a:ext uri="{FF2B5EF4-FFF2-40B4-BE49-F238E27FC236}">
                <a16:creationId xmlns:a16="http://schemas.microsoft.com/office/drawing/2014/main" id="{8C5FBDD0-E902-F3E3-C638-EEE1699FA6F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dirty="0"/>
          </a:p>
        </p:txBody>
      </p:sp>
    </p:spTree>
    <p:extLst>
      <p:ext uri="{BB962C8B-B14F-4D97-AF65-F5344CB8AC3E}">
        <p14:creationId xmlns:p14="http://schemas.microsoft.com/office/powerpoint/2010/main" val="7026705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Scanpy is our main toolkit for single-cell analysis. Allows us to go from raw data to interpretable clusters and annotations.</a:t>
            </a:r>
          </a:p>
        </p:txBody>
      </p:sp>
    </p:spTree>
    <p:extLst>
      <p:ext uri="{BB962C8B-B14F-4D97-AF65-F5344CB8AC3E}">
        <p14:creationId xmlns:p14="http://schemas.microsoft.com/office/powerpoint/2010/main" val="6022121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This slide highlights the results of our pre-processing pipeline for heart and kidney single-cell data. It shows how </a:t>
            </a:r>
            <a:r>
              <a:rPr lang="en-US" dirty="0" err="1"/>
              <a:t>Scanpy’s</a:t>
            </a:r>
            <a:r>
              <a:rPr lang="en-US" dirty="0"/>
              <a:t> preprocessing pipeline standardizes two different datasets, in this case, heart and kidney — making them comparable in structure and scale.</a:t>
            </a:r>
          </a:p>
          <a:p>
            <a:r>
              <a:rPr lang="en-US" dirty="0"/>
              <a:t>At this stage, we’ve performed quality control by filtering out low-quality cells and lowly expressed genes.</a:t>
            </a:r>
          </a:p>
          <a:p>
            <a:r>
              <a:rPr lang="en-US" dirty="0"/>
              <a:t>We’ve also normalized the data and log-transformed it to stabilize variance across cells.</a:t>
            </a:r>
          </a:p>
          <a:p>
            <a:r>
              <a:rPr lang="en-US" dirty="0"/>
              <a:t>Furthermore, we can visualize the two organs at this step by using UMAPs, as well as their typical marker genes + highly expressed genes. This allows for some analysis before processing, and the ability to compare the data after processing. </a:t>
            </a:r>
          </a:p>
        </p:txBody>
      </p:sp>
    </p:spTree>
    <p:extLst>
      <p:ext uri="{BB962C8B-B14F-4D97-AF65-F5344CB8AC3E}">
        <p14:creationId xmlns:p14="http://schemas.microsoft.com/office/powerpoint/2010/main" val="31352240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b="0" dirty="0"/>
              <a:t>Batch effects: </a:t>
            </a:r>
            <a:r>
              <a:rPr lang="en-US" b="1" dirty="0"/>
              <a:t>unwanted variations</a:t>
            </a:r>
            <a:r>
              <a:rPr lang="en-US" dirty="0"/>
              <a:t> in your data that are introduced by </a:t>
            </a:r>
            <a:r>
              <a:rPr lang="en-US" b="1" dirty="0"/>
              <a:t>technical differences</a:t>
            </a:r>
            <a:r>
              <a:rPr lang="en-US" dirty="0"/>
              <a:t> rather than true biological differences.</a:t>
            </a:r>
            <a:endParaRPr lang="en-US" b="0" dirty="0"/>
          </a:p>
          <a:p>
            <a:r>
              <a:rPr lang="en-US" b="0" dirty="0"/>
              <a:t>Ingest – typically used for rapid, annotation-aware integration with a reliable reference.</a:t>
            </a:r>
          </a:p>
          <a:p>
            <a:r>
              <a:rPr lang="en-US" b="0" dirty="0"/>
              <a:t>BBKNN – Used for deeper correction and joint analysis when comparing across multiple batches or sources. </a:t>
            </a:r>
          </a:p>
          <a:p>
            <a:r>
              <a:rPr lang="en-US" b="0" dirty="0"/>
              <a:t>Here I used </a:t>
            </a:r>
            <a:r>
              <a:rPr lang="en-US" b="0" dirty="0" err="1"/>
              <a:t>Scanpy’s</a:t>
            </a:r>
            <a:r>
              <a:rPr lang="en-US" b="0" dirty="0"/>
              <a:t> ingest function to project new cells into a reference UMAP. You can see that the overall structure and annotations from the reference are preserved. However, there are signs of batch effect, especially in the monocyte region, where the new data forms a separate cluster. On the other hand, CD4/CD8 T cells and B cells mix well, suggesting that ingest works well when the new data is similar to the reference.</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dirty="0">
                <a:latin typeface="Open Sans" panose="020B0606030504020204" pitchFamily="34" charset="0"/>
                <a:ea typeface="Open Sans" panose="020B0606030504020204" pitchFamily="34" charset="0"/>
                <a:cs typeface="Open Sans" panose="020B0606030504020204" pitchFamily="34" charset="0"/>
              </a:rPr>
              <a:t>Monocytes and dendritic cells integrate well, but the Megakaryocyte cluster is lost… so </a:t>
            </a:r>
            <a:r>
              <a:rPr lang="en-US" dirty="0" err="1">
                <a:latin typeface="Open Sans" panose="020B0606030504020204" pitchFamily="34" charset="0"/>
                <a:ea typeface="Open Sans" panose="020B0606030504020204" pitchFamily="34" charset="0"/>
                <a:cs typeface="Open Sans" panose="020B0606030504020204" pitchFamily="34" charset="0"/>
              </a:rPr>
              <a:t>bbknn</a:t>
            </a:r>
            <a:r>
              <a:rPr lang="en-US" dirty="0">
                <a:latin typeface="Open Sans" panose="020B0606030504020204" pitchFamily="34" charset="0"/>
                <a:ea typeface="Open Sans" panose="020B0606030504020204" pitchFamily="34" charset="0"/>
                <a:cs typeface="Open Sans" panose="020B0606030504020204" pitchFamily="34" charset="0"/>
              </a:rPr>
              <a:t> improves mixing but may obscure rare cell types, such as megakaryocytes</a:t>
            </a:r>
            <a:endParaRPr lang="en-US" b="1" dirty="0">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17732397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712865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g33d5cedad05_0_2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9" name="Google Shape;159;g33d5cedad05_0_282: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 Id="rId4"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2.xml"/><Relationship Id="rId4"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rgbClr val="444A65"/>
        </a:solidFill>
        <a:effectLst/>
      </p:bgPr>
    </p:bg>
    <p:spTree>
      <p:nvGrpSpPr>
        <p:cNvPr id="1" name="Shape 54"/>
        <p:cNvGrpSpPr/>
        <p:nvPr/>
      </p:nvGrpSpPr>
      <p:grpSpPr>
        <a:xfrm>
          <a:off x="0" y="0"/>
          <a:ext cx="0" cy="0"/>
          <a:chOff x="0" y="0"/>
          <a:chExt cx="0" cy="0"/>
        </a:xfrm>
      </p:grpSpPr>
      <p:sp>
        <p:nvSpPr>
          <p:cNvPr id="55" name="Google Shape;55;p14"/>
          <p:cNvSpPr txBox="1">
            <a:spLocks noGrp="1"/>
          </p:cNvSpPr>
          <p:nvPr>
            <p:ph type="ctrTitle"/>
          </p:nvPr>
        </p:nvSpPr>
        <p:spPr>
          <a:xfrm>
            <a:off x="2371725" y="630225"/>
            <a:ext cx="6331500" cy="15420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4800"/>
              <a:buNone/>
              <a:defRPr sz="4800">
                <a:solidFill>
                  <a:schemeClr val="lt1"/>
                </a:solidFill>
              </a:defRPr>
            </a:lvl1pPr>
            <a:lvl2pPr lvl="1" algn="l">
              <a:lnSpc>
                <a:spcPct val="100000"/>
              </a:lnSpc>
              <a:spcBef>
                <a:spcPts val="0"/>
              </a:spcBef>
              <a:spcAft>
                <a:spcPts val="0"/>
              </a:spcAft>
              <a:buClr>
                <a:schemeClr val="lt1"/>
              </a:buClr>
              <a:buSzPts val="4800"/>
              <a:buNone/>
              <a:defRPr sz="4800">
                <a:solidFill>
                  <a:schemeClr val="lt1"/>
                </a:solidFill>
              </a:defRPr>
            </a:lvl2pPr>
            <a:lvl3pPr lvl="2" algn="l">
              <a:lnSpc>
                <a:spcPct val="100000"/>
              </a:lnSpc>
              <a:spcBef>
                <a:spcPts val="0"/>
              </a:spcBef>
              <a:spcAft>
                <a:spcPts val="0"/>
              </a:spcAft>
              <a:buClr>
                <a:schemeClr val="lt1"/>
              </a:buClr>
              <a:buSzPts val="4800"/>
              <a:buNone/>
              <a:defRPr sz="4800">
                <a:solidFill>
                  <a:schemeClr val="lt1"/>
                </a:solidFill>
              </a:defRPr>
            </a:lvl3pPr>
            <a:lvl4pPr lvl="3" algn="l">
              <a:lnSpc>
                <a:spcPct val="100000"/>
              </a:lnSpc>
              <a:spcBef>
                <a:spcPts val="0"/>
              </a:spcBef>
              <a:spcAft>
                <a:spcPts val="0"/>
              </a:spcAft>
              <a:buClr>
                <a:schemeClr val="lt1"/>
              </a:buClr>
              <a:buSzPts val="4800"/>
              <a:buNone/>
              <a:defRPr sz="4800">
                <a:solidFill>
                  <a:schemeClr val="lt1"/>
                </a:solidFill>
              </a:defRPr>
            </a:lvl4pPr>
            <a:lvl5pPr lvl="4" algn="l">
              <a:lnSpc>
                <a:spcPct val="100000"/>
              </a:lnSpc>
              <a:spcBef>
                <a:spcPts val="0"/>
              </a:spcBef>
              <a:spcAft>
                <a:spcPts val="0"/>
              </a:spcAft>
              <a:buClr>
                <a:schemeClr val="lt1"/>
              </a:buClr>
              <a:buSzPts val="4800"/>
              <a:buNone/>
              <a:defRPr sz="4800">
                <a:solidFill>
                  <a:schemeClr val="lt1"/>
                </a:solidFill>
              </a:defRPr>
            </a:lvl5pPr>
            <a:lvl6pPr lvl="5" algn="l">
              <a:lnSpc>
                <a:spcPct val="100000"/>
              </a:lnSpc>
              <a:spcBef>
                <a:spcPts val="0"/>
              </a:spcBef>
              <a:spcAft>
                <a:spcPts val="0"/>
              </a:spcAft>
              <a:buClr>
                <a:schemeClr val="lt1"/>
              </a:buClr>
              <a:buSzPts val="4800"/>
              <a:buNone/>
              <a:defRPr sz="4800">
                <a:solidFill>
                  <a:schemeClr val="lt1"/>
                </a:solidFill>
              </a:defRPr>
            </a:lvl6pPr>
            <a:lvl7pPr lvl="6" algn="l">
              <a:lnSpc>
                <a:spcPct val="100000"/>
              </a:lnSpc>
              <a:spcBef>
                <a:spcPts val="0"/>
              </a:spcBef>
              <a:spcAft>
                <a:spcPts val="0"/>
              </a:spcAft>
              <a:buClr>
                <a:schemeClr val="lt1"/>
              </a:buClr>
              <a:buSzPts val="4800"/>
              <a:buNone/>
              <a:defRPr sz="4800">
                <a:solidFill>
                  <a:schemeClr val="lt1"/>
                </a:solidFill>
              </a:defRPr>
            </a:lvl7pPr>
            <a:lvl8pPr lvl="7" algn="l">
              <a:lnSpc>
                <a:spcPct val="100000"/>
              </a:lnSpc>
              <a:spcBef>
                <a:spcPts val="0"/>
              </a:spcBef>
              <a:spcAft>
                <a:spcPts val="0"/>
              </a:spcAft>
              <a:buClr>
                <a:schemeClr val="lt1"/>
              </a:buClr>
              <a:buSzPts val="4800"/>
              <a:buNone/>
              <a:defRPr sz="4800">
                <a:solidFill>
                  <a:schemeClr val="lt1"/>
                </a:solidFill>
              </a:defRPr>
            </a:lvl8pPr>
            <a:lvl9pPr lvl="8" algn="l">
              <a:lnSpc>
                <a:spcPct val="100000"/>
              </a:lnSpc>
              <a:spcBef>
                <a:spcPts val="0"/>
              </a:spcBef>
              <a:spcAft>
                <a:spcPts val="0"/>
              </a:spcAft>
              <a:buClr>
                <a:schemeClr val="lt1"/>
              </a:buClr>
              <a:buSzPts val="4800"/>
              <a:buNone/>
              <a:defRPr sz="4800">
                <a:solidFill>
                  <a:schemeClr val="lt1"/>
                </a:solidFill>
              </a:defRPr>
            </a:lvl9pPr>
          </a:lstStyle>
          <a:p>
            <a:endParaRPr/>
          </a:p>
        </p:txBody>
      </p:sp>
      <p:sp>
        <p:nvSpPr>
          <p:cNvPr id="56" name="Google Shape;56;p14"/>
          <p:cNvSpPr txBox="1">
            <a:spLocks noGrp="1"/>
          </p:cNvSpPr>
          <p:nvPr>
            <p:ph type="subTitle" idx="1"/>
          </p:nvPr>
        </p:nvSpPr>
        <p:spPr>
          <a:xfrm>
            <a:off x="2390267" y="3238450"/>
            <a:ext cx="6331500" cy="12417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chemeClr val="lt1"/>
              </a:buClr>
              <a:buSzPts val="1800"/>
              <a:buNone/>
              <a:defRPr>
                <a:solidFill>
                  <a:schemeClr val="lt1"/>
                </a:solidFill>
              </a:defRPr>
            </a:lvl1pPr>
            <a:lvl2pPr lvl="1" algn="l">
              <a:lnSpc>
                <a:spcPct val="100000"/>
              </a:lnSpc>
              <a:spcBef>
                <a:spcPts val="0"/>
              </a:spcBef>
              <a:spcAft>
                <a:spcPts val="0"/>
              </a:spcAft>
              <a:buClr>
                <a:schemeClr val="lt1"/>
              </a:buClr>
              <a:buSzPts val="1800"/>
              <a:buNone/>
              <a:defRPr sz="1800">
                <a:solidFill>
                  <a:schemeClr val="lt1"/>
                </a:solidFill>
              </a:defRPr>
            </a:lvl2pPr>
            <a:lvl3pPr lvl="2" algn="l">
              <a:lnSpc>
                <a:spcPct val="100000"/>
              </a:lnSpc>
              <a:spcBef>
                <a:spcPts val="0"/>
              </a:spcBef>
              <a:spcAft>
                <a:spcPts val="0"/>
              </a:spcAft>
              <a:buClr>
                <a:schemeClr val="lt1"/>
              </a:buClr>
              <a:buSzPts val="1800"/>
              <a:buNone/>
              <a:defRPr sz="1800">
                <a:solidFill>
                  <a:schemeClr val="lt1"/>
                </a:solidFill>
              </a:defRPr>
            </a:lvl3pPr>
            <a:lvl4pPr lvl="3" algn="l">
              <a:lnSpc>
                <a:spcPct val="100000"/>
              </a:lnSpc>
              <a:spcBef>
                <a:spcPts val="0"/>
              </a:spcBef>
              <a:spcAft>
                <a:spcPts val="0"/>
              </a:spcAft>
              <a:buClr>
                <a:schemeClr val="lt1"/>
              </a:buClr>
              <a:buSzPts val="1800"/>
              <a:buNone/>
              <a:defRPr sz="1800">
                <a:solidFill>
                  <a:schemeClr val="lt1"/>
                </a:solidFill>
              </a:defRPr>
            </a:lvl4pPr>
            <a:lvl5pPr lvl="4" algn="l">
              <a:lnSpc>
                <a:spcPct val="100000"/>
              </a:lnSpc>
              <a:spcBef>
                <a:spcPts val="0"/>
              </a:spcBef>
              <a:spcAft>
                <a:spcPts val="0"/>
              </a:spcAft>
              <a:buClr>
                <a:schemeClr val="lt1"/>
              </a:buClr>
              <a:buSzPts val="1800"/>
              <a:buNone/>
              <a:defRPr sz="1800">
                <a:solidFill>
                  <a:schemeClr val="lt1"/>
                </a:solidFill>
              </a:defRPr>
            </a:lvl5pPr>
            <a:lvl6pPr lvl="5" algn="l">
              <a:lnSpc>
                <a:spcPct val="100000"/>
              </a:lnSpc>
              <a:spcBef>
                <a:spcPts val="0"/>
              </a:spcBef>
              <a:spcAft>
                <a:spcPts val="0"/>
              </a:spcAft>
              <a:buClr>
                <a:schemeClr val="lt1"/>
              </a:buClr>
              <a:buSzPts val="1800"/>
              <a:buNone/>
              <a:defRPr sz="1800">
                <a:solidFill>
                  <a:schemeClr val="lt1"/>
                </a:solidFill>
              </a:defRPr>
            </a:lvl6pPr>
            <a:lvl7pPr lvl="6" algn="l">
              <a:lnSpc>
                <a:spcPct val="100000"/>
              </a:lnSpc>
              <a:spcBef>
                <a:spcPts val="0"/>
              </a:spcBef>
              <a:spcAft>
                <a:spcPts val="0"/>
              </a:spcAft>
              <a:buClr>
                <a:schemeClr val="lt1"/>
              </a:buClr>
              <a:buSzPts val="1800"/>
              <a:buNone/>
              <a:defRPr sz="1800">
                <a:solidFill>
                  <a:schemeClr val="lt1"/>
                </a:solidFill>
              </a:defRPr>
            </a:lvl7pPr>
            <a:lvl8pPr lvl="7" algn="l">
              <a:lnSpc>
                <a:spcPct val="100000"/>
              </a:lnSpc>
              <a:spcBef>
                <a:spcPts val="0"/>
              </a:spcBef>
              <a:spcAft>
                <a:spcPts val="0"/>
              </a:spcAft>
              <a:buClr>
                <a:schemeClr val="lt1"/>
              </a:buClr>
              <a:buSzPts val="1800"/>
              <a:buNone/>
              <a:defRPr sz="1800">
                <a:solidFill>
                  <a:schemeClr val="lt1"/>
                </a:solidFill>
              </a:defRPr>
            </a:lvl8pPr>
            <a:lvl9pPr lvl="8" algn="l">
              <a:lnSpc>
                <a:spcPct val="100000"/>
              </a:lnSpc>
              <a:spcBef>
                <a:spcPts val="0"/>
              </a:spcBef>
              <a:spcAft>
                <a:spcPts val="0"/>
              </a:spcAft>
              <a:buClr>
                <a:schemeClr val="lt1"/>
              </a:buClr>
              <a:buSzPts val="1800"/>
              <a:buNone/>
              <a:defRPr sz="1800">
                <a:solidFill>
                  <a:schemeClr val="lt1"/>
                </a:solidFill>
              </a:defRPr>
            </a:lvl9pPr>
          </a:lstStyle>
          <a:p>
            <a:endParaRPr/>
          </a:p>
        </p:txBody>
      </p:sp>
      <p:sp>
        <p:nvSpPr>
          <p:cNvPr id="57" name="Google Shape;57;p14"/>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pic>
        <p:nvPicPr>
          <p:cNvPr id="58" name="Google Shape;58;p14"/>
          <p:cNvPicPr preferRelativeResize="0"/>
          <p:nvPr/>
        </p:nvPicPr>
        <p:blipFill rotWithShape="1">
          <a:blip r:embed="rId2">
            <a:alphaModFix/>
          </a:blip>
          <a:srcRect/>
          <a:stretch/>
        </p:blipFill>
        <p:spPr>
          <a:xfrm rot="10800000">
            <a:off x="8955329" y="-14121"/>
            <a:ext cx="197350" cy="517175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59"/>
        <p:cNvGrpSpPr/>
        <p:nvPr/>
      </p:nvGrpSpPr>
      <p:grpSpPr>
        <a:xfrm>
          <a:off x="0" y="0"/>
          <a:ext cx="0" cy="0"/>
          <a:chOff x="0" y="0"/>
          <a:chExt cx="0" cy="0"/>
        </a:xfrm>
      </p:grpSpPr>
      <p:sp>
        <p:nvSpPr>
          <p:cNvPr id="60" name="Google Shape;60;p15"/>
          <p:cNvSpPr txBox="1">
            <a:spLocks noGrp="1"/>
          </p:cNvSpPr>
          <p:nvPr>
            <p:ph type="title"/>
          </p:nvPr>
        </p:nvSpPr>
        <p:spPr>
          <a:xfrm>
            <a:off x="2400250" y="575950"/>
            <a:ext cx="6321600" cy="6354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a:endParaRPr/>
          </a:p>
        </p:txBody>
      </p:sp>
      <p:sp>
        <p:nvSpPr>
          <p:cNvPr id="61" name="Google Shape;61;p15"/>
          <p:cNvSpPr txBox="1">
            <a:spLocks noGrp="1"/>
          </p:cNvSpPr>
          <p:nvPr>
            <p:ph type="body" idx="1"/>
          </p:nvPr>
        </p:nvSpPr>
        <p:spPr>
          <a:xfrm>
            <a:off x="2400303" y="1602675"/>
            <a:ext cx="3071400" cy="3002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62" name="Google Shape;62;p15"/>
          <p:cNvSpPr txBox="1">
            <a:spLocks noGrp="1"/>
          </p:cNvSpPr>
          <p:nvPr>
            <p:ph type="body" idx="2"/>
          </p:nvPr>
        </p:nvSpPr>
        <p:spPr>
          <a:xfrm>
            <a:off x="5650572" y="1602675"/>
            <a:ext cx="3071400" cy="3002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63" name="Google Shape;63;p15"/>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pic>
        <p:nvPicPr>
          <p:cNvPr id="64" name="Google Shape;64;p15"/>
          <p:cNvPicPr preferRelativeResize="0"/>
          <p:nvPr/>
        </p:nvPicPr>
        <p:blipFill rotWithShape="1">
          <a:blip r:embed="rId2">
            <a:alphaModFix/>
          </a:blip>
          <a:srcRect/>
          <a:stretch/>
        </p:blipFill>
        <p:spPr>
          <a:xfrm rot="10800000">
            <a:off x="-8050" y="-14121"/>
            <a:ext cx="197350" cy="5171752"/>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rgbClr val="444A65"/>
        </a:solidFill>
        <a:effectLst/>
      </p:bgPr>
    </p:bg>
    <p:spTree>
      <p:nvGrpSpPr>
        <p:cNvPr id="1" name="Shape 65"/>
        <p:cNvGrpSpPr/>
        <p:nvPr/>
      </p:nvGrpSpPr>
      <p:grpSpPr>
        <a:xfrm>
          <a:off x="0" y="0"/>
          <a:ext cx="0" cy="0"/>
          <a:chOff x="0" y="0"/>
          <a:chExt cx="0" cy="0"/>
        </a:xfrm>
      </p:grpSpPr>
      <p:sp>
        <p:nvSpPr>
          <p:cNvPr id="66" name="Google Shape;66;p16"/>
          <p:cNvSpPr txBox="1">
            <a:spLocks noGrp="1"/>
          </p:cNvSpPr>
          <p:nvPr>
            <p:ph type="title"/>
          </p:nvPr>
        </p:nvSpPr>
        <p:spPr>
          <a:xfrm>
            <a:off x="406425" y="1806825"/>
            <a:ext cx="8296800" cy="15420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Clr>
                <a:schemeClr val="lt1"/>
              </a:buClr>
              <a:buSzPts val="4800"/>
              <a:buNone/>
              <a:defRPr sz="4800">
                <a:solidFill>
                  <a:schemeClr val="lt1"/>
                </a:solidFill>
              </a:defRPr>
            </a:lvl1pPr>
            <a:lvl2pPr lvl="1" algn="ctr">
              <a:lnSpc>
                <a:spcPct val="100000"/>
              </a:lnSpc>
              <a:spcBef>
                <a:spcPts val="0"/>
              </a:spcBef>
              <a:spcAft>
                <a:spcPts val="0"/>
              </a:spcAft>
              <a:buClr>
                <a:schemeClr val="lt1"/>
              </a:buClr>
              <a:buSzPts val="4800"/>
              <a:buNone/>
              <a:defRPr sz="4800">
                <a:solidFill>
                  <a:schemeClr val="lt1"/>
                </a:solidFill>
              </a:defRPr>
            </a:lvl2pPr>
            <a:lvl3pPr lvl="2" algn="ctr">
              <a:lnSpc>
                <a:spcPct val="100000"/>
              </a:lnSpc>
              <a:spcBef>
                <a:spcPts val="0"/>
              </a:spcBef>
              <a:spcAft>
                <a:spcPts val="0"/>
              </a:spcAft>
              <a:buClr>
                <a:schemeClr val="lt1"/>
              </a:buClr>
              <a:buSzPts val="4800"/>
              <a:buNone/>
              <a:defRPr sz="4800">
                <a:solidFill>
                  <a:schemeClr val="lt1"/>
                </a:solidFill>
              </a:defRPr>
            </a:lvl3pPr>
            <a:lvl4pPr lvl="3" algn="ctr">
              <a:lnSpc>
                <a:spcPct val="100000"/>
              </a:lnSpc>
              <a:spcBef>
                <a:spcPts val="0"/>
              </a:spcBef>
              <a:spcAft>
                <a:spcPts val="0"/>
              </a:spcAft>
              <a:buClr>
                <a:schemeClr val="lt1"/>
              </a:buClr>
              <a:buSzPts val="4800"/>
              <a:buNone/>
              <a:defRPr sz="4800">
                <a:solidFill>
                  <a:schemeClr val="lt1"/>
                </a:solidFill>
              </a:defRPr>
            </a:lvl4pPr>
            <a:lvl5pPr lvl="4" algn="ctr">
              <a:lnSpc>
                <a:spcPct val="100000"/>
              </a:lnSpc>
              <a:spcBef>
                <a:spcPts val="0"/>
              </a:spcBef>
              <a:spcAft>
                <a:spcPts val="0"/>
              </a:spcAft>
              <a:buClr>
                <a:schemeClr val="lt1"/>
              </a:buClr>
              <a:buSzPts val="4800"/>
              <a:buNone/>
              <a:defRPr sz="4800">
                <a:solidFill>
                  <a:schemeClr val="lt1"/>
                </a:solidFill>
              </a:defRPr>
            </a:lvl5pPr>
            <a:lvl6pPr lvl="5" algn="ctr">
              <a:lnSpc>
                <a:spcPct val="100000"/>
              </a:lnSpc>
              <a:spcBef>
                <a:spcPts val="0"/>
              </a:spcBef>
              <a:spcAft>
                <a:spcPts val="0"/>
              </a:spcAft>
              <a:buClr>
                <a:schemeClr val="lt1"/>
              </a:buClr>
              <a:buSzPts val="4800"/>
              <a:buNone/>
              <a:defRPr sz="4800">
                <a:solidFill>
                  <a:schemeClr val="lt1"/>
                </a:solidFill>
              </a:defRPr>
            </a:lvl6pPr>
            <a:lvl7pPr lvl="6" algn="ctr">
              <a:lnSpc>
                <a:spcPct val="100000"/>
              </a:lnSpc>
              <a:spcBef>
                <a:spcPts val="0"/>
              </a:spcBef>
              <a:spcAft>
                <a:spcPts val="0"/>
              </a:spcAft>
              <a:buClr>
                <a:schemeClr val="lt1"/>
              </a:buClr>
              <a:buSzPts val="4800"/>
              <a:buNone/>
              <a:defRPr sz="4800">
                <a:solidFill>
                  <a:schemeClr val="lt1"/>
                </a:solidFill>
              </a:defRPr>
            </a:lvl7pPr>
            <a:lvl8pPr lvl="7" algn="ctr">
              <a:lnSpc>
                <a:spcPct val="100000"/>
              </a:lnSpc>
              <a:spcBef>
                <a:spcPts val="0"/>
              </a:spcBef>
              <a:spcAft>
                <a:spcPts val="0"/>
              </a:spcAft>
              <a:buClr>
                <a:schemeClr val="lt1"/>
              </a:buClr>
              <a:buSzPts val="4800"/>
              <a:buNone/>
              <a:defRPr sz="4800">
                <a:solidFill>
                  <a:schemeClr val="lt1"/>
                </a:solidFill>
              </a:defRPr>
            </a:lvl8pPr>
            <a:lvl9pPr lvl="8" algn="ctr">
              <a:lnSpc>
                <a:spcPct val="100000"/>
              </a:lnSpc>
              <a:spcBef>
                <a:spcPts val="0"/>
              </a:spcBef>
              <a:spcAft>
                <a:spcPts val="0"/>
              </a:spcAft>
              <a:buClr>
                <a:schemeClr val="lt1"/>
              </a:buClr>
              <a:buSzPts val="4800"/>
              <a:buNone/>
              <a:defRPr sz="4800">
                <a:solidFill>
                  <a:schemeClr val="lt1"/>
                </a:solidFill>
              </a:defRPr>
            </a:lvl9pPr>
          </a:lstStyle>
          <a:p>
            <a:endParaRPr/>
          </a:p>
        </p:txBody>
      </p:sp>
      <p:sp>
        <p:nvSpPr>
          <p:cNvPr id="67" name="Google Shape;67;p16"/>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pic>
        <p:nvPicPr>
          <p:cNvPr id="68" name="Google Shape;68;p16"/>
          <p:cNvPicPr preferRelativeResize="0"/>
          <p:nvPr/>
        </p:nvPicPr>
        <p:blipFill rotWithShape="1">
          <a:blip r:embed="rId2">
            <a:alphaModFix/>
          </a:blip>
          <a:srcRect r="40419" b="1370"/>
          <a:stretch/>
        </p:blipFill>
        <p:spPr>
          <a:xfrm rot="-5400000">
            <a:off x="4466612" y="-4476012"/>
            <a:ext cx="210775" cy="9143999"/>
          </a:xfrm>
          <a:prstGeom prst="rect">
            <a:avLst/>
          </a:prstGeom>
          <a:noFill/>
          <a:ln>
            <a:noFill/>
          </a:ln>
        </p:spPr>
      </p:pic>
      <p:pic>
        <p:nvPicPr>
          <p:cNvPr id="69" name="Google Shape;69;p16"/>
          <p:cNvPicPr preferRelativeResize="0"/>
          <p:nvPr/>
        </p:nvPicPr>
        <p:blipFill rotWithShape="1">
          <a:blip r:embed="rId2">
            <a:alphaModFix/>
          </a:blip>
          <a:srcRect r="43191" b="1370"/>
          <a:stretch/>
        </p:blipFill>
        <p:spPr>
          <a:xfrm rot="5400000">
            <a:off x="4471513" y="482763"/>
            <a:ext cx="200975" cy="9143999"/>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HuBMAP Portal Style" type="tx">
  <p:cSld name="TITLE_AND_BODY">
    <p:spTree>
      <p:nvGrpSpPr>
        <p:cNvPr id="1" name="Shape 70"/>
        <p:cNvGrpSpPr/>
        <p:nvPr/>
      </p:nvGrpSpPr>
      <p:grpSpPr>
        <a:xfrm>
          <a:off x="0" y="0"/>
          <a:ext cx="0" cy="0"/>
          <a:chOff x="0" y="0"/>
          <a:chExt cx="0" cy="0"/>
        </a:xfrm>
      </p:grpSpPr>
      <p:sp>
        <p:nvSpPr>
          <p:cNvPr id="71" name="Google Shape;71;p17"/>
          <p:cNvSpPr txBox="1">
            <a:spLocks noGrp="1"/>
          </p:cNvSpPr>
          <p:nvPr>
            <p:ph type="title"/>
          </p:nvPr>
        </p:nvSpPr>
        <p:spPr>
          <a:xfrm>
            <a:off x="1638250" y="575950"/>
            <a:ext cx="6321600" cy="6354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a:endParaRPr/>
          </a:p>
        </p:txBody>
      </p:sp>
      <p:sp>
        <p:nvSpPr>
          <p:cNvPr id="72" name="Google Shape;72;p17"/>
          <p:cNvSpPr txBox="1">
            <a:spLocks noGrp="1"/>
          </p:cNvSpPr>
          <p:nvPr>
            <p:ph type="body" idx="1"/>
          </p:nvPr>
        </p:nvSpPr>
        <p:spPr>
          <a:xfrm>
            <a:off x="1648112" y="1595776"/>
            <a:ext cx="6321600" cy="3002400"/>
          </a:xfrm>
          <a:prstGeom prst="rect">
            <a:avLst/>
          </a:prstGeom>
          <a:noFill/>
          <a:ln>
            <a:noFill/>
          </a:ln>
        </p:spPr>
        <p:txBody>
          <a:bodyPr spcFirstLastPara="1" wrap="square" lIns="91425" tIns="91425" rIns="91425" bIns="91425" anchor="t" anchorCtr="0">
            <a:no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1600"/>
              </a:spcBef>
              <a:spcAft>
                <a:spcPts val="0"/>
              </a:spcAft>
              <a:buSzPts val="1400"/>
              <a:buChar char="○"/>
              <a:defRPr/>
            </a:lvl2pPr>
            <a:lvl3pPr marL="1371600" lvl="2" indent="-317500" algn="l">
              <a:lnSpc>
                <a:spcPct val="115000"/>
              </a:lnSpc>
              <a:spcBef>
                <a:spcPts val="1600"/>
              </a:spcBef>
              <a:spcAft>
                <a:spcPts val="0"/>
              </a:spcAft>
              <a:buSzPts val="1400"/>
              <a:buChar char="■"/>
              <a:defRPr/>
            </a:lvl3pPr>
            <a:lvl4pPr marL="1828800" lvl="3" indent="-317500" algn="l">
              <a:lnSpc>
                <a:spcPct val="115000"/>
              </a:lnSpc>
              <a:spcBef>
                <a:spcPts val="1600"/>
              </a:spcBef>
              <a:spcAft>
                <a:spcPts val="0"/>
              </a:spcAft>
              <a:buSzPts val="1400"/>
              <a:buChar char="●"/>
              <a:defRPr/>
            </a:lvl4pPr>
            <a:lvl5pPr marL="2286000" lvl="4" indent="-317500" algn="l">
              <a:lnSpc>
                <a:spcPct val="115000"/>
              </a:lnSpc>
              <a:spcBef>
                <a:spcPts val="1600"/>
              </a:spcBef>
              <a:spcAft>
                <a:spcPts val="0"/>
              </a:spcAft>
              <a:buSzPts val="1400"/>
              <a:buChar char="○"/>
              <a:defRPr/>
            </a:lvl5pPr>
            <a:lvl6pPr marL="2743200" lvl="5" indent="-317500" algn="l">
              <a:lnSpc>
                <a:spcPct val="115000"/>
              </a:lnSpc>
              <a:spcBef>
                <a:spcPts val="1600"/>
              </a:spcBef>
              <a:spcAft>
                <a:spcPts val="0"/>
              </a:spcAft>
              <a:buSzPts val="1400"/>
              <a:buChar char="■"/>
              <a:defRPr/>
            </a:lvl6pPr>
            <a:lvl7pPr marL="3200400" lvl="6" indent="-317500" algn="l">
              <a:lnSpc>
                <a:spcPct val="115000"/>
              </a:lnSpc>
              <a:spcBef>
                <a:spcPts val="1600"/>
              </a:spcBef>
              <a:spcAft>
                <a:spcPts val="0"/>
              </a:spcAft>
              <a:buSzPts val="1400"/>
              <a:buChar char="●"/>
              <a:defRPr/>
            </a:lvl7pPr>
            <a:lvl8pPr marL="3657600" lvl="7" indent="-317500" algn="l">
              <a:lnSpc>
                <a:spcPct val="115000"/>
              </a:lnSpc>
              <a:spcBef>
                <a:spcPts val="1600"/>
              </a:spcBef>
              <a:spcAft>
                <a:spcPts val="0"/>
              </a:spcAft>
              <a:buSzPts val="1400"/>
              <a:buChar char="○"/>
              <a:defRPr/>
            </a:lvl8pPr>
            <a:lvl9pPr marL="4114800" lvl="8" indent="-317500" algn="l">
              <a:lnSpc>
                <a:spcPct val="115000"/>
              </a:lnSpc>
              <a:spcBef>
                <a:spcPts val="1600"/>
              </a:spcBef>
              <a:spcAft>
                <a:spcPts val="1600"/>
              </a:spcAft>
              <a:buSzPts val="1400"/>
              <a:buChar char="■"/>
              <a:defRPr/>
            </a:lvl9pPr>
          </a:lstStyle>
          <a:p>
            <a:endParaRPr/>
          </a:p>
        </p:txBody>
      </p:sp>
      <p:sp>
        <p:nvSpPr>
          <p:cNvPr id="73" name="Google Shape;73;p17"/>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pic>
        <p:nvPicPr>
          <p:cNvPr id="74" name="Google Shape;74;p17"/>
          <p:cNvPicPr preferRelativeResize="0"/>
          <p:nvPr/>
        </p:nvPicPr>
        <p:blipFill rotWithShape="1">
          <a:blip r:embed="rId2">
            <a:alphaModFix/>
          </a:blip>
          <a:srcRect/>
          <a:stretch/>
        </p:blipFill>
        <p:spPr>
          <a:xfrm>
            <a:off x="-9400" y="0"/>
            <a:ext cx="196275" cy="5143498"/>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5"/>
        <p:cNvGrpSpPr/>
        <p:nvPr/>
      </p:nvGrpSpPr>
      <p:grpSpPr>
        <a:xfrm>
          <a:off x="0" y="0"/>
          <a:ext cx="0" cy="0"/>
          <a:chOff x="0" y="0"/>
          <a:chExt cx="0" cy="0"/>
        </a:xfrm>
      </p:grpSpPr>
      <p:pic>
        <p:nvPicPr>
          <p:cNvPr id="76" name="Google Shape;76;p18"/>
          <p:cNvPicPr preferRelativeResize="0"/>
          <p:nvPr/>
        </p:nvPicPr>
        <p:blipFill rotWithShape="1">
          <a:blip r:embed="rId2">
            <a:alphaModFix/>
          </a:blip>
          <a:srcRect l="20584"/>
          <a:stretch/>
        </p:blipFill>
        <p:spPr>
          <a:xfrm>
            <a:off x="10889" y="166975"/>
            <a:ext cx="1493701" cy="4809552"/>
          </a:xfrm>
          <a:prstGeom prst="rect">
            <a:avLst/>
          </a:prstGeom>
          <a:noFill/>
          <a:ln>
            <a:noFill/>
          </a:ln>
        </p:spPr>
      </p:pic>
      <p:sp>
        <p:nvSpPr>
          <p:cNvPr id="77" name="Google Shape;77;p18"/>
          <p:cNvSpPr txBox="1">
            <a:spLocks noGrp="1"/>
          </p:cNvSpPr>
          <p:nvPr>
            <p:ph type="title"/>
          </p:nvPr>
        </p:nvSpPr>
        <p:spPr>
          <a:xfrm>
            <a:off x="303300" y="411575"/>
            <a:ext cx="8520600" cy="639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a:endParaRPr/>
          </a:p>
        </p:txBody>
      </p:sp>
      <p:sp>
        <p:nvSpPr>
          <p:cNvPr id="78" name="Google Shape;78;p18"/>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dark)">
  <p:cSld name="TITLE_ONLY_1">
    <p:bg>
      <p:bgPr>
        <a:solidFill>
          <a:srgbClr val="000000"/>
        </a:solidFill>
        <a:effectLst/>
      </p:bgPr>
    </p:bg>
    <p:spTree>
      <p:nvGrpSpPr>
        <p:cNvPr id="1" name="Shape 79"/>
        <p:cNvGrpSpPr/>
        <p:nvPr/>
      </p:nvGrpSpPr>
      <p:grpSpPr>
        <a:xfrm>
          <a:off x="0" y="0"/>
          <a:ext cx="0" cy="0"/>
          <a:chOff x="0" y="0"/>
          <a:chExt cx="0" cy="0"/>
        </a:xfrm>
      </p:grpSpPr>
      <p:pic>
        <p:nvPicPr>
          <p:cNvPr id="80" name="Google Shape;80;p19"/>
          <p:cNvPicPr preferRelativeResize="0"/>
          <p:nvPr/>
        </p:nvPicPr>
        <p:blipFill rotWithShape="1">
          <a:blip r:embed="rId2">
            <a:alphaModFix/>
          </a:blip>
          <a:srcRect l="20584"/>
          <a:stretch/>
        </p:blipFill>
        <p:spPr>
          <a:xfrm>
            <a:off x="10889" y="166975"/>
            <a:ext cx="1493701" cy="4809552"/>
          </a:xfrm>
          <a:prstGeom prst="rect">
            <a:avLst/>
          </a:prstGeom>
          <a:noFill/>
          <a:ln>
            <a:noFill/>
          </a:ln>
        </p:spPr>
      </p:pic>
      <p:sp>
        <p:nvSpPr>
          <p:cNvPr id="81" name="Google Shape;81;p19"/>
          <p:cNvSpPr txBox="1">
            <a:spLocks noGrp="1"/>
          </p:cNvSpPr>
          <p:nvPr>
            <p:ph type="title"/>
          </p:nvPr>
        </p:nvSpPr>
        <p:spPr>
          <a:xfrm>
            <a:off x="303300" y="411575"/>
            <a:ext cx="8520600" cy="639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FFFFFF"/>
              </a:buClr>
              <a:buSzPts val="3000"/>
              <a:buNone/>
              <a:defRPr>
                <a:solidFill>
                  <a:srgbClr val="FFFFFF"/>
                </a:solidFill>
              </a:defRPr>
            </a:lvl1pPr>
            <a:lvl2pPr lvl="1" algn="l">
              <a:lnSpc>
                <a:spcPct val="100000"/>
              </a:lnSpc>
              <a:spcBef>
                <a:spcPts val="0"/>
              </a:spcBef>
              <a:spcAft>
                <a:spcPts val="0"/>
              </a:spcAft>
              <a:buClr>
                <a:srgbClr val="FFFFFF"/>
              </a:buClr>
              <a:buSzPts val="3000"/>
              <a:buNone/>
              <a:defRPr>
                <a:solidFill>
                  <a:srgbClr val="FFFFFF"/>
                </a:solidFill>
              </a:defRPr>
            </a:lvl2pPr>
            <a:lvl3pPr lvl="2" algn="l">
              <a:lnSpc>
                <a:spcPct val="100000"/>
              </a:lnSpc>
              <a:spcBef>
                <a:spcPts val="0"/>
              </a:spcBef>
              <a:spcAft>
                <a:spcPts val="0"/>
              </a:spcAft>
              <a:buClr>
                <a:srgbClr val="FFFFFF"/>
              </a:buClr>
              <a:buSzPts val="3000"/>
              <a:buNone/>
              <a:defRPr>
                <a:solidFill>
                  <a:srgbClr val="FFFFFF"/>
                </a:solidFill>
              </a:defRPr>
            </a:lvl3pPr>
            <a:lvl4pPr lvl="3" algn="l">
              <a:lnSpc>
                <a:spcPct val="100000"/>
              </a:lnSpc>
              <a:spcBef>
                <a:spcPts val="0"/>
              </a:spcBef>
              <a:spcAft>
                <a:spcPts val="0"/>
              </a:spcAft>
              <a:buClr>
                <a:srgbClr val="FFFFFF"/>
              </a:buClr>
              <a:buSzPts val="3000"/>
              <a:buNone/>
              <a:defRPr>
                <a:solidFill>
                  <a:srgbClr val="FFFFFF"/>
                </a:solidFill>
              </a:defRPr>
            </a:lvl4pPr>
            <a:lvl5pPr lvl="4" algn="l">
              <a:lnSpc>
                <a:spcPct val="100000"/>
              </a:lnSpc>
              <a:spcBef>
                <a:spcPts val="0"/>
              </a:spcBef>
              <a:spcAft>
                <a:spcPts val="0"/>
              </a:spcAft>
              <a:buClr>
                <a:srgbClr val="FFFFFF"/>
              </a:buClr>
              <a:buSzPts val="3000"/>
              <a:buNone/>
              <a:defRPr>
                <a:solidFill>
                  <a:srgbClr val="FFFFFF"/>
                </a:solidFill>
              </a:defRPr>
            </a:lvl5pPr>
            <a:lvl6pPr lvl="5" algn="l">
              <a:lnSpc>
                <a:spcPct val="100000"/>
              </a:lnSpc>
              <a:spcBef>
                <a:spcPts val="0"/>
              </a:spcBef>
              <a:spcAft>
                <a:spcPts val="0"/>
              </a:spcAft>
              <a:buClr>
                <a:srgbClr val="FFFFFF"/>
              </a:buClr>
              <a:buSzPts val="3000"/>
              <a:buNone/>
              <a:defRPr>
                <a:solidFill>
                  <a:srgbClr val="FFFFFF"/>
                </a:solidFill>
              </a:defRPr>
            </a:lvl6pPr>
            <a:lvl7pPr lvl="6" algn="l">
              <a:lnSpc>
                <a:spcPct val="100000"/>
              </a:lnSpc>
              <a:spcBef>
                <a:spcPts val="0"/>
              </a:spcBef>
              <a:spcAft>
                <a:spcPts val="0"/>
              </a:spcAft>
              <a:buClr>
                <a:srgbClr val="FFFFFF"/>
              </a:buClr>
              <a:buSzPts val="3000"/>
              <a:buNone/>
              <a:defRPr>
                <a:solidFill>
                  <a:srgbClr val="FFFFFF"/>
                </a:solidFill>
              </a:defRPr>
            </a:lvl7pPr>
            <a:lvl8pPr lvl="7" algn="l">
              <a:lnSpc>
                <a:spcPct val="100000"/>
              </a:lnSpc>
              <a:spcBef>
                <a:spcPts val="0"/>
              </a:spcBef>
              <a:spcAft>
                <a:spcPts val="0"/>
              </a:spcAft>
              <a:buClr>
                <a:srgbClr val="FFFFFF"/>
              </a:buClr>
              <a:buSzPts val="3000"/>
              <a:buNone/>
              <a:defRPr>
                <a:solidFill>
                  <a:srgbClr val="FFFFFF"/>
                </a:solidFill>
              </a:defRPr>
            </a:lvl8pPr>
            <a:lvl9pPr lvl="8" algn="l">
              <a:lnSpc>
                <a:spcPct val="100000"/>
              </a:lnSpc>
              <a:spcBef>
                <a:spcPts val="0"/>
              </a:spcBef>
              <a:spcAft>
                <a:spcPts val="0"/>
              </a:spcAft>
              <a:buClr>
                <a:srgbClr val="FFFFFF"/>
              </a:buClr>
              <a:buSzPts val="3000"/>
              <a:buNone/>
              <a:defRPr>
                <a:solidFill>
                  <a:srgbClr val="FFFFFF"/>
                </a:solidFill>
              </a:defRPr>
            </a:lvl9pPr>
          </a:lstStyle>
          <a:p>
            <a:endParaRPr/>
          </a:p>
        </p:txBody>
      </p:sp>
      <p:sp>
        <p:nvSpPr>
          <p:cNvPr id="82" name="Google Shape;82;p19"/>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83"/>
        <p:cNvGrpSpPr/>
        <p:nvPr/>
      </p:nvGrpSpPr>
      <p:grpSpPr>
        <a:xfrm>
          <a:off x="0" y="0"/>
          <a:ext cx="0" cy="0"/>
          <a:chOff x="0" y="0"/>
          <a:chExt cx="0" cy="0"/>
        </a:xfrm>
      </p:grpSpPr>
      <p:sp>
        <p:nvSpPr>
          <p:cNvPr id="84" name="Google Shape;84;p20"/>
          <p:cNvSpPr txBox="1">
            <a:spLocks noGrp="1"/>
          </p:cNvSpPr>
          <p:nvPr>
            <p:ph type="title"/>
          </p:nvPr>
        </p:nvSpPr>
        <p:spPr>
          <a:xfrm>
            <a:off x="319500" y="936600"/>
            <a:ext cx="2808000" cy="7557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85" name="Google Shape;85;p20"/>
          <p:cNvSpPr txBox="1">
            <a:spLocks noGrp="1"/>
          </p:cNvSpPr>
          <p:nvPr>
            <p:ph type="body" idx="1"/>
          </p:nvPr>
        </p:nvSpPr>
        <p:spPr>
          <a:xfrm>
            <a:off x="319500" y="1846804"/>
            <a:ext cx="2808000" cy="2806200"/>
          </a:xfrm>
          <a:prstGeom prst="rect">
            <a:avLst/>
          </a:prstGeom>
          <a:noFill/>
          <a:ln>
            <a:noFill/>
          </a:ln>
        </p:spPr>
        <p:txBody>
          <a:bodyPr spcFirstLastPara="1" wrap="square" lIns="91425" tIns="91425" rIns="91425" bIns="91425" anchor="t" anchorCtr="0">
            <a:no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86" name="Google Shape;86;p20"/>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pic>
        <p:nvPicPr>
          <p:cNvPr id="87" name="Google Shape;87;p20"/>
          <p:cNvPicPr preferRelativeResize="0"/>
          <p:nvPr/>
        </p:nvPicPr>
        <p:blipFill rotWithShape="1">
          <a:blip r:embed="rId2">
            <a:alphaModFix/>
          </a:blip>
          <a:srcRect/>
          <a:stretch/>
        </p:blipFill>
        <p:spPr>
          <a:xfrm rot="10800000">
            <a:off x="-8050" y="-14121"/>
            <a:ext cx="197350" cy="5171752"/>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lt2"/>
        </a:solidFill>
        <a:effectLst/>
      </p:bgPr>
    </p:bg>
    <p:spTree>
      <p:nvGrpSpPr>
        <p:cNvPr id="1" name="Shape 88"/>
        <p:cNvGrpSpPr/>
        <p:nvPr/>
      </p:nvGrpSpPr>
      <p:grpSpPr>
        <a:xfrm>
          <a:off x="0" y="0"/>
          <a:ext cx="0" cy="0"/>
          <a:chOff x="0" y="0"/>
          <a:chExt cx="0" cy="0"/>
        </a:xfrm>
      </p:grpSpPr>
      <p:sp>
        <p:nvSpPr>
          <p:cNvPr id="89" name="Google Shape;89;p21"/>
          <p:cNvSpPr txBox="1">
            <a:spLocks noGrp="1"/>
          </p:cNvSpPr>
          <p:nvPr>
            <p:ph type="title"/>
          </p:nvPr>
        </p:nvSpPr>
        <p:spPr>
          <a:xfrm>
            <a:off x="283103" y="712141"/>
            <a:ext cx="6244200" cy="38355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chemeClr val="lt1"/>
              </a:buClr>
              <a:buSzPts val="4800"/>
              <a:buNone/>
              <a:defRPr sz="4800">
                <a:solidFill>
                  <a:schemeClr val="lt1"/>
                </a:solidFill>
              </a:defRPr>
            </a:lvl1pPr>
            <a:lvl2pPr lvl="1" algn="l">
              <a:lnSpc>
                <a:spcPct val="100000"/>
              </a:lnSpc>
              <a:spcBef>
                <a:spcPts val="0"/>
              </a:spcBef>
              <a:spcAft>
                <a:spcPts val="0"/>
              </a:spcAft>
              <a:buClr>
                <a:schemeClr val="lt1"/>
              </a:buClr>
              <a:buSzPts val="4800"/>
              <a:buNone/>
              <a:defRPr sz="4800">
                <a:solidFill>
                  <a:schemeClr val="lt1"/>
                </a:solidFill>
              </a:defRPr>
            </a:lvl2pPr>
            <a:lvl3pPr lvl="2" algn="l">
              <a:lnSpc>
                <a:spcPct val="100000"/>
              </a:lnSpc>
              <a:spcBef>
                <a:spcPts val="0"/>
              </a:spcBef>
              <a:spcAft>
                <a:spcPts val="0"/>
              </a:spcAft>
              <a:buClr>
                <a:schemeClr val="lt1"/>
              </a:buClr>
              <a:buSzPts val="4800"/>
              <a:buNone/>
              <a:defRPr sz="4800">
                <a:solidFill>
                  <a:schemeClr val="lt1"/>
                </a:solidFill>
              </a:defRPr>
            </a:lvl3pPr>
            <a:lvl4pPr lvl="3" algn="l">
              <a:lnSpc>
                <a:spcPct val="100000"/>
              </a:lnSpc>
              <a:spcBef>
                <a:spcPts val="0"/>
              </a:spcBef>
              <a:spcAft>
                <a:spcPts val="0"/>
              </a:spcAft>
              <a:buClr>
                <a:schemeClr val="lt1"/>
              </a:buClr>
              <a:buSzPts val="4800"/>
              <a:buNone/>
              <a:defRPr sz="4800">
                <a:solidFill>
                  <a:schemeClr val="lt1"/>
                </a:solidFill>
              </a:defRPr>
            </a:lvl4pPr>
            <a:lvl5pPr lvl="4" algn="l">
              <a:lnSpc>
                <a:spcPct val="100000"/>
              </a:lnSpc>
              <a:spcBef>
                <a:spcPts val="0"/>
              </a:spcBef>
              <a:spcAft>
                <a:spcPts val="0"/>
              </a:spcAft>
              <a:buClr>
                <a:schemeClr val="lt1"/>
              </a:buClr>
              <a:buSzPts val="4800"/>
              <a:buNone/>
              <a:defRPr sz="4800">
                <a:solidFill>
                  <a:schemeClr val="lt1"/>
                </a:solidFill>
              </a:defRPr>
            </a:lvl5pPr>
            <a:lvl6pPr lvl="5" algn="l">
              <a:lnSpc>
                <a:spcPct val="100000"/>
              </a:lnSpc>
              <a:spcBef>
                <a:spcPts val="0"/>
              </a:spcBef>
              <a:spcAft>
                <a:spcPts val="0"/>
              </a:spcAft>
              <a:buClr>
                <a:schemeClr val="lt1"/>
              </a:buClr>
              <a:buSzPts val="4800"/>
              <a:buNone/>
              <a:defRPr sz="4800">
                <a:solidFill>
                  <a:schemeClr val="lt1"/>
                </a:solidFill>
              </a:defRPr>
            </a:lvl6pPr>
            <a:lvl7pPr lvl="6" algn="l">
              <a:lnSpc>
                <a:spcPct val="100000"/>
              </a:lnSpc>
              <a:spcBef>
                <a:spcPts val="0"/>
              </a:spcBef>
              <a:spcAft>
                <a:spcPts val="0"/>
              </a:spcAft>
              <a:buClr>
                <a:schemeClr val="lt1"/>
              </a:buClr>
              <a:buSzPts val="4800"/>
              <a:buNone/>
              <a:defRPr sz="4800">
                <a:solidFill>
                  <a:schemeClr val="lt1"/>
                </a:solidFill>
              </a:defRPr>
            </a:lvl7pPr>
            <a:lvl8pPr lvl="7" algn="l">
              <a:lnSpc>
                <a:spcPct val="100000"/>
              </a:lnSpc>
              <a:spcBef>
                <a:spcPts val="0"/>
              </a:spcBef>
              <a:spcAft>
                <a:spcPts val="0"/>
              </a:spcAft>
              <a:buClr>
                <a:schemeClr val="lt1"/>
              </a:buClr>
              <a:buSzPts val="4800"/>
              <a:buNone/>
              <a:defRPr sz="4800">
                <a:solidFill>
                  <a:schemeClr val="lt1"/>
                </a:solidFill>
              </a:defRPr>
            </a:lvl8pPr>
            <a:lvl9pPr lvl="8" algn="l">
              <a:lnSpc>
                <a:spcPct val="100000"/>
              </a:lnSpc>
              <a:spcBef>
                <a:spcPts val="0"/>
              </a:spcBef>
              <a:spcAft>
                <a:spcPts val="0"/>
              </a:spcAft>
              <a:buClr>
                <a:schemeClr val="lt1"/>
              </a:buClr>
              <a:buSzPts val="4800"/>
              <a:buNone/>
              <a:defRPr sz="4800">
                <a:solidFill>
                  <a:schemeClr val="lt1"/>
                </a:solidFill>
              </a:defRPr>
            </a:lvl9pPr>
          </a:lstStyle>
          <a:p>
            <a:endParaRPr/>
          </a:p>
        </p:txBody>
      </p:sp>
      <p:sp>
        <p:nvSpPr>
          <p:cNvPr id="90" name="Google Shape;90;p21"/>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91"/>
        <p:cNvGrpSpPr/>
        <p:nvPr/>
      </p:nvGrpSpPr>
      <p:grpSpPr>
        <a:xfrm>
          <a:off x="0" y="0"/>
          <a:ext cx="0" cy="0"/>
          <a:chOff x="0" y="0"/>
          <a:chExt cx="0" cy="0"/>
        </a:xfrm>
      </p:grpSpPr>
      <p:sp>
        <p:nvSpPr>
          <p:cNvPr id="92" name="Google Shape;92;p22"/>
          <p:cNvSpPr/>
          <p:nvPr/>
        </p:nvSpPr>
        <p:spPr>
          <a:xfrm>
            <a:off x="4572000" y="125"/>
            <a:ext cx="4572000" cy="5143500"/>
          </a:xfrm>
          <a:prstGeom prst="rect">
            <a:avLst/>
          </a:prstGeom>
          <a:solidFill>
            <a:srgbClr val="444A65"/>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3" name="Google Shape;93;p22"/>
          <p:cNvSpPr txBox="1">
            <a:spLocks noGrp="1"/>
          </p:cNvSpPr>
          <p:nvPr>
            <p:ph type="title"/>
          </p:nvPr>
        </p:nvSpPr>
        <p:spPr>
          <a:xfrm>
            <a:off x="265500" y="1397350"/>
            <a:ext cx="4045200" cy="13182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Clr>
                <a:srgbClr val="444A65"/>
              </a:buClr>
              <a:buSzPts val="3600"/>
              <a:buNone/>
              <a:defRPr sz="3600">
                <a:solidFill>
                  <a:srgbClr val="444A65"/>
                </a:solidFill>
              </a:defRPr>
            </a:lvl1pPr>
            <a:lvl2pPr lvl="1" algn="ctr">
              <a:lnSpc>
                <a:spcPct val="100000"/>
              </a:lnSpc>
              <a:spcBef>
                <a:spcPts val="0"/>
              </a:spcBef>
              <a:spcAft>
                <a:spcPts val="0"/>
              </a:spcAft>
              <a:buClr>
                <a:srgbClr val="444A65"/>
              </a:buClr>
              <a:buSzPts val="3600"/>
              <a:buNone/>
              <a:defRPr sz="3600">
                <a:solidFill>
                  <a:srgbClr val="444A65"/>
                </a:solidFill>
              </a:defRPr>
            </a:lvl2pPr>
            <a:lvl3pPr lvl="2" algn="ctr">
              <a:lnSpc>
                <a:spcPct val="100000"/>
              </a:lnSpc>
              <a:spcBef>
                <a:spcPts val="0"/>
              </a:spcBef>
              <a:spcAft>
                <a:spcPts val="0"/>
              </a:spcAft>
              <a:buClr>
                <a:srgbClr val="444A65"/>
              </a:buClr>
              <a:buSzPts val="3600"/>
              <a:buNone/>
              <a:defRPr sz="3600">
                <a:solidFill>
                  <a:srgbClr val="444A65"/>
                </a:solidFill>
              </a:defRPr>
            </a:lvl3pPr>
            <a:lvl4pPr lvl="3" algn="ctr">
              <a:lnSpc>
                <a:spcPct val="100000"/>
              </a:lnSpc>
              <a:spcBef>
                <a:spcPts val="0"/>
              </a:spcBef>
              <a:spcAft>
                <a:spcPts val="0"/>
              </a:spcAft>
              <a:buClr>
                <a:srgbClr val="444A65"/>
              </a:buClr>
              <a:buSzPts val="3600"/>
              <a:buNone/>
              <a:defRPr sz="3600">
                <a:solidFill>
                  <a:srgbClr val="444A65"/>
                </a:solidFill>
              </a:defRPr>
            </a:lvl4pPr>
            <a:lvl5pPr lvl="4" algn="ctr">
              <a:lnSpc>
                <a:spcPct val="100000"/>
              </a:lnSpc>
              <a:spcBef>
                <a:spcPts val="0"/>
              </a:spcBef>
              <a:spcAft>
                <a:spcPts val="0"/>
              </a:spcAft>
              <a:buClr>
                <a:srgbClr val="444A65"/>
              </a:buClr>
              <a:buSzPts val="3600"/>
              <a:buNone/>
              <a:defRPr sz="3600">
                <a:solidFill>
                  <a:srgbClr val="444A65"/>
                </a:solidFill>
              </a:defRPr>
            </a:lvl5pPr>
            <a:lvl6pPr lvl="5" algn="ctr">
              <a:lnSpc>
                <a:spcPct val="100000"/>
              </a:lnSpc>
              <a:spcBef>
                <a:spcPts val="0"/>
              </a:spcBef>
              <a:spcAft>
                <a:spcPts val="0"/>
              </a:spcAft>
              <a:buClr>
                <a:srgbClr val="444A65"/>
              </a:buClr>
              <a:buSzPts val="3600"/>
              <a:buNone/>
              <a:defRPr sz="3600">
                <a:solidFill>
                  <a:srgbClr val="444A65"/>
                </a:solidFill>
              </a:defRPr>
            </a:lvl6pPr>
            <a:lvl7pPr lvl="6" algn="ctr">
              <a:lnSpc>
                <a:spcPct val="100000"/>
              </a:lnSpc>
              <a:spcBef>
                <a:spcPts val="0"/>
              </a:spcBef>
              <a:spcAft>
                <a:spcPts val="0"/>
              </a:spcAft>
              <a:buClr>
                <a:srgbClr val="444A65"/>
              </a:buClr>
              <a:buSzPts val="3600"/>
              <a:buNone/>
              <a:defRPr sz="3600">
                <a:solidFill>
                  <a:srgbClr val="444A65"/>
                </a:solidFill>
              </a:defRPr>
            </a:lvl7pPr>
            <a:lvl8pPr lvl="7" algn="ctr">
              <a:lnSpc>
                <a:spcPct val="100000"/>
              </a:lnSpc>
              <a:spcBef>
                <a:spcPts val="0"/>
              </a:spcBef>
              <a:spcAft>
                <a:spcPts val="0"/>
              </a:spcAft>
              <a:buClr>
                <a:srgbClr val="444A65"/>
              </a:buClr>
              <a:buSzPts val="3600"/>
              <a:buNone/>
              <a:defRPr sz="3600">
                <a:solidFill>
                  <a:srgbClr val="444A65"/>
                </a:solidFill>
              </a:defRPr>
            </a:lvl8pPr>
            <a:lvl9pPr lvl="8" algn="ctr">
              <a:lnSpc>
                <a:spcPct val="100000"/>
              </a:lnSpc>
              <a:spcBef>
                <a:spcPts val="0"/>
              </a:spcBef>
              <a:spcAft>
                <a:spcPts val="0"/>
              </a:spcAft>
              <a:buClr>
                <a:srgbClr val="444A65"/>
              </a:buClr>
              <a:buSzPts val="3600"/>
              <a:buNone/>
              <a:defRPr sz="3600">
                <a:solidFill>
                  <a:srgbClr val="444A65"/>
                </a:solidFill>
              </a:defRPr>
            </a:lvl9pPr>
          </a:lstStyle>
          <a:p>
            <a:endParaRPr/>
          </a:p>
        </p:txBody>
      </p:sp>
      <p:sp>
        <p:nvSpPr>
          <p:cNvPr id="94" name="Google Shape;94;p22"/>
          <p:cNvSpPr txBox="1">
            <a:spLocks noGrp="1"/>
          </p:cNvSpPr>
          <p:nvPr>
            <p:ph type="subTitle" idx="1"/>
          </p:nvPr>
        </p:nvSpPr>
        <p:spPr>
          <a:xfrm>
            <a:off x="265500" y="2735371"/>
            <a:ext cx="4045200" cy="13455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95" name="Google Shape;95;p22"/>
          <p:cNvSpPr txBox="1">
            <a:spLocks noGrp="1"/>
          </p:cNvSpPr>
          <p:nvPr>
            <p:ph type="body" idx="2"/>
          </p:nvPr>
        </p:nvSpPr>
        <p:spPr>
          <a:xfrm>
            <a:off x="4939500" y="724200"/>
            <a:ext cx="3837000" cy="3695100"/>
          </a:xfrm>
          <a:prstGeom prst="rect">
            <a:avLst/>
          </a:prstGeom>
          <a:noFill/>
          <a:ln>
            <a:noFill/>
          </a:ln>
        </p:spPr>
        <p:txBody>
          <a:bodyPr spcFirstLastPara="1" wrap="square" lIns="91425" tIns="91425" rIns="91425" bIns="91425" anchor="ctr" anchorCtr="0">
            <a:noAutofit/>
          </a:bodyPr>
          <a:lstStyle>
            <a:lvl1pPr marL="457200" lvl="0" indent="-342900" algn="l">
              <a:lnSpc>
                <a:spcPct val="115000"/>
              </a:lnSpc>
              <a:spcBef>
                <a:spcPts val="0"/>
              </a:spcBef>
              <a:spcAft>
                <a:spcPts val="0"/>
              </a:spcAft>
              <a:buClr>
                <a:schemeClr val="lt1"/>
              </a:buClr>
              <a:buSzPts val="1800"/>
              <a:buChar char="●"/>
              <a:defRPr>
                <a:solidFill>
                  <a:schemeClr val="lt1"/>
                </a:solidFill>
              </a:defRPr>
            </a:lvl1pPr>
            <a:lvl2pPr marL="914400" lvl="1" indent="-317500" algn="l">
              <a:lnSpc>
                <a:spcPct val="115000"/>
              </a:lnSpc>
              <a:spcBef>
                <a:spcPts val="1600"/>
              </a:spcBef>
              <a:spcAft>
                <a:spcPts val="0"/>
              </a:spcAft>
              <a:buClr>
                <a:schemeClr val="lt1"/>
              </a:buClr>
              <a:buSzPts val="1400"/>
              <a:buChar char="○"/>
              <a:defRPr>
                <a:solidFill>
                  <a:schemeClr val="lt1"/>
                </a:solidFill>
              </a:defRPr>
            </a:lvl2pPr>
            <a:lvl3pPr marL="1371600" lvl="2" indent="-317500" algn="l">
              <a:lnSpc>
                <a:spcPct val="115000"/>
              </a:lnSpc>
              <a:spcBef>
                <a:spcPts val="1600"/>
              </a:spcBef>
              <a:spcAft>
                <a:spcPts val="0"/>
              </a:spcAft>
              <a:buClr>
                <a:schemeClr val="lt1"/>
              </a:buClr>
              <a:buSzPts val="1400"/>
              <a:buChar char="■"/>
              <a:defRPr>
                <a:solidFill>
                  <a:schemeClr val="lt1"/>
                </a:solidFill>
              </a:defRPr>
            </a:lvl3pPr>
            <a:lvl4pPr marL="1828800" lvl="3" indent="-317500" algn="l">
              <a:lnSpc>
                <a:spcPct val="115000"/>
              </a:lnSpc>
              <a:spcBef>
                <a:spcPts val="1600"/>
              </a:spcBef>
              <a:spcAft>
                <a:spcPts val="0"/>
              </a:spcAft>
              <a:buClr>
                <a:schemeClr val="lt1"/>
              </a:buClr>
              <a:buSzPts val="1400"/>
              <a:buChar char="●"/>
              <a:defRPr>
                <a:solidFill>
                  <a:schemeClr val="lt1"/>
                </a:solidFill>
              </a:defRPr>
            </a:lvl4pPr>
            <a:lvl5pPr marL="2286000" lvl="4" indent="-317500" algn="l">
              <a:lnSpc>
                <a:spcPct val="115000"/>
              </a:lnSpc>
              <a:spcBef>
                <a:spcPts val="1600"/>
              </a:spcBef>
              <a:spcAft>
                <a:spcPts val="0"/>
              </a:spcAft>
              <a:buClr>
                <a:schemeClr val="lt1"/>
              </a:buClr>
              <a:buSzPts val="1400"/>
              <a:buChar char="○"/>
              <a:defRPr>
                <a:solidFill>
                  <a:schemeClr val="lt1"/>
                </a:solidFill>
              </a:defRPr>
            </a:lvl5pPr>
            <a:lvl6pPr marL="2743200" lvl="5" indent="-317500" algn="l">
              <a:lnSpc>
                <a:spcPct val="115000"/>
              </a:lnSpc>
              <a:spcBef>
                <a:spcPts val="1600"/>
              </a:spcBef>
              <a:spcAft>
                <a:spcPts val="0"/>
              </a:spcAft>
              <a:buClr>
                <a:schemeClr val="lt1"/>
              </a:buClr>
              <a:buSzPts val="1400"/>
              <a:buChar char="■"/>
              <a:defRPr>
                <a:solidFill>
                  <a:schemeClr val="lt1"/>
                </a:solidFill>
              </a:defRPr>
            </a:lvl6pPr>
            <a:lvl7pPr marL="3200400" lvl="6" indent="-317500" algn="l">
              <a:lnSpc>
                <a:spcPct val="115000"/>
              </a:lnSpc>
              <a:spcBef>
                <a:spcPts val="1600"/>
              </a:spcBef>
              <a:spcAft>
                <a:spcPts val="0"/>
              </a:spcAft>
              <a:buClr>
                <a:schemeClr val="lt1"/>
              </a:buClr>
              <a:buSzPts val="1400"/>
              <a:buChar char="●"/>
              <a:defRPr>
                <a:solidFill>
                  <a:schemeClr val="lt1"/>
                </a:solidFill>
              </a:defRPr>
            </a:lvl7pPr>
            <a:lvl8pPr marL="3657600" lvl="7" indent="-317500" algn="l">
              <a:lnSpc>
                <a:spcPct val="115000"/>
              </a:lnSpc>
              <a:spcBef>
                <a:spcPts val="1600"/>
              </a:spcBef>
              <a:spcAft>
                <a:spcPts val="0"/>
              </a:spcAft>
              <a:buClr>
                <a:schemeClr val="lt1"/>
              </a:buClr>
              <a:buSzPts val="1400"/>
              <a:buChar char="○"/>
              <a:defRPr>
                <a:solidFill>
                  <a:schemeClr val="lt1"/>
                </a:solidFill>
              </a:defRPr>
            </a:lvl8pPr>
            <a:lvl9pPr marL="4114800" lvl="8" indent="-317500" algn="l">
              <a:lnSpc>
                <a:spcPct val="115000"/>
              </a:lnSpc>
              <a:spcBef>
                <a:spcPts val="1600"/>
              </a:spcBef>
              <a:spcAft>
                <a:spcPts val="1600"/>
              </a:spcAft>
              <a:buClr>
                <a:schemeClr val="lt1"/>
              </a:buClr>
              <a:buSzPts val="1400"/>
              <a:buChar char="■"/>
              <a:defRPr>
                <a:solidFill>
                  <a:schemeClr val="lt1"/>
                </a:solidFill>
              </a:defRPr>
            </a:lvl9pPr>
          </a:lstStyle>
          <a:p>
            <a:endParaRPr/>
          </a:p>
        </p:txBody>
      </p:sp>
      <p:sp>
        <p:nvSpPr>
          <p:cNvPr id="96" name="Google Shape;96;p22"/>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pic>
        <p:nvPicPr>
          <p:cNvPr id="97" name="Google Shape;97;p22"/>
          <p:cNvPicPr preferRelativeResize="0"/>
          <p:nvPr/>
        </p:nvPicPr>
        <p:blipFill rotWithShape="1">
          <a:blip r:embed="rId2">
            <a:alphaModFix/>
          </a:blip>
          <a:srcRect/>
          <a:stretch/>
        </p:blipFill>
        <p:spPr>
          <a:xfrm rot="10800000">
            <a:off x="-8050" y="-14121"/>
            <a:ext cx="197350" cy="5171752"/>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8"/>
        <p:cNvGrpSpPr/>
        <p:nvPr/>
      </p:nvGrpSpPr>
      <p:grpSpPr>
        <a:xfrm>
          <a:off x="0" y="0"/>
          <a:ext cx="0" cy="0"/>
          <a:chOff x="0" y="0"/>
          <a:chExt cx="0" cy="0"/>
        </a:xfrm>
      </p:grpSpPr>
      <p:sp>
        <p:nvSpPr>
          <p:cNvPr id="99" name="Google Shape;99;p23"/>
          <p:cNvSpPr txBox="1">
            <a:spLocks noGrp="1"/>
          </p:cNvSpPr>
          <p:nvPr>
            <p:ph type="body" idx="1"/>
          </p:nvPr>
        </p:nvSpPr>
        <p:spPr>
          <a:xfrm>
            <a:off x="328017" y="4226025"/>
            <a:ext cx="8388600" cy="393600"/>
          </a:xfrm>
          <a:prstGeom prst="rect">
            <a:avLst/>
          </a:prstGeom>
          <a:noFill/>
          <a:ln>
            <a:noFill/>
          </a:ln>
        </p:spPr>
        <p:txBody>
          <a:bodyPr spcFirstLastPara="1" wrap="square" lIns="91425" tIns="91425" rIns="91425" bIns="91425" anchor="ctr" anchorCtr="0">
            <a:noAutofit/>
          </a:bodyPr>
          <a:lstStyle>
            <a:lvl1pPr marL="457200" lvl="0" indent="-228600" algn="l">
              <a:lnSpc>
                <a:spcPct val="100000"/>
              </a:lnSpc>
              <a:spcBef>
                <a:spcPts val="0"/>
              </a:spcBef>
              <a:spcAft>
                <a:spcPts val="0"/>
              </a:spcAft>
              <a:buSzPts val="1800"/>
              <a:buNone/>
              <a:defRPr/>
            </a:lvl1pPr>
          </a:lstStyle>
          <a:p>
            <a:endParaRPr/>
          </a:p>
        </p:txBody>
      </p:sp>
      <p:sp>
        <p:nvSpPr>
          <p:cNvPr id="100" name="Google Shape;100;p23"/>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01"/>
        <p:cNvGrpSpPr/>
        <p:nvPr/>
      </p:nvGrpSpPr>
      <p:grpSpPr>
        <a:xfrm>
          <a:off x="0" y="0"/>
          <a:ext cx="0" cy="0"/>
          <a:chOff x="0" y="0"/>
          <a:chExt cx="0" cy="0"/>
        </a:xfrm>
      </p:grpSpPr>
      <p:sp>
        <p:nvSpPr>
          <p:cNvPr id="102" name="Google Shape;102;p24"/>
          <p:cNvSpPr txBox="1">
            <a:spLocks noGrp="1"/>
          </p:cNvSpPr>
          <p:nvPr>
            <p:ph type="title" hasCustomPrompt="1"/>
          </p:nvPr>
        </p:nvSpPr>
        <p:spPr>
          <a:xfrm>
            <a:off x="853950" y="1304850"/>
            <a:ext cx="7436100" cy="15384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1pPr>
            <a:lvl2pPr lvl="1"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2pPr>
            <a:lvl3pPr lvl="2"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3pPr>
            <a:lvl4pPr lvl="3"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4pPr>
            <a:lvl5pPr lvl="4"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5pPr>
            <a:lvl6pPr lvl="5"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6pPr>
            <a:lvl7pPr lvl="6"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7pPr>
            <a:lvl8pPr lvl="7"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8pPr>
            <a:lvl9pPr lvl="8"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9pPr>
          </a:lstStyle>
          <a:p>
            <a:r>
              <a:t>xx%</a:t>
            </a:r>
          </a:p>
        </p:txBody>
      </p:sp>
      <p:sp>
        <p:nvSpPr>
          <p:cNvPr id="103" name="Google Shape;103;p24"/>
          <p:cNvSpPr txBox="1">
            <a:spLocks noGrp="1"/>
          </p:cNvSpPr>
          <p:nvPr>
            <p:ph type="body" idx="1"/>
          </p:nvPr>
        </p:nvSpPr>
        <p:spPr>
          <a:xfrm>
            <a:off x="853950" y="2919450"/>
            <a:ext cx="7436100" cy="1071600"/>
          </a:xfrm>
          <a:prstGeom prst="rect">
            <a:avLst/>
          </a:prstGeom>
          <a:noFill/>
          <a:ln>
            <a:noFill/>
          </a:ln>
        </p:spPr>
        <p:txBody>
          <a:bodyPr spcFirstLastPara="1" wrap="square" lIns="91425" tIns="91425" rIns="91425" bIns="91425" anchor="t" anchorCtr="0">
            <a:no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1600"/>
              </a:spcBef>
              <a:spcAft>
                <a:spcPts val="0"/>
              </a:spcAft>
              <a:buSzPts val="1400"/>
              <a:buChar char="○"/>
              <a:defRPr/>
            </a:lvl2pPr>
            <a:lvl3pPr marL="1371600" lvl="2" indent="-317500" algn="ctr">
              <a:lnSpc>
                <a:spcPct val="115000"/>
              </a:lnSpc>
              <a:spcBef>
                <a:spcPts val="1600"/>
              </a:spcBef>
              <a:spcAft>
                <a:spcPts val="0"/>
              </a:spcAft>
              <a:buSzPts val="1400"/>
              <a:buChar char="■"/>
              <a:defRPr/>
            </a:lvl3pPr>
            <a:lvl4pPr marL="1828800" lvl="3" indent="-317500" algn="ctr">
              <a:lnSpc>
                <a:spcPct val="115000"/>
              </a:lnSpc>
              <a:spcBef>
                <a:spcPts val="1600"/>
              </a:spcBef>
              <a:spcAft>
                <a:spcPts val="0"/>
              </a:spcAft>
              <a:buSzPts val="1400"/>
              <a:buChar char="●"/>
              <a:defRPr/>
            </a:lvl4pPr>
            <a:lvl5pPr marL="2286000" lvl="4" indent="-317500" algn="ctr">
              <a:lnSpc>
                <a:spcPct val="115000"/>
              </a:lnSpc>
              <a:spcBef>
                <a:spcPts val="1600"/>
              </a:spcBef>
              <a:spcAft>
                <a:spcPts val="0"/>
              </a:spcAft>
              <a:buSzPts val="1400"/>
              <a:buChar char="○"/>
              <a:defRPr/>
            </a:lvl5pPr>
            <a:lvl6pPr marL="2743200" lvl="5" indent="-317500" algn="ctr">
              <a:lnSpc>
                <a:spcPct val="115000"/>
              </a:lnSpc>
              <a:spcBef>
                <a:spcPts val="1600"/>
              </a:spcBef>
              <a:spcAft>
                <a:spcPts val="0"/>
              </a:spcAft>
              <a:buSzPts val="1400"/>
              <a:buChar char="■"/>
              <a:defRPr/>
            </a:lvl6pPr>
            <a:lvl7pPr marL="3200400" lvl="6" indent="-317500" algn="ctr">
              <a:lnSpc>
                <a:spcPct val="115000"/>
              </a:lnSpc>
              <a:spcBef>
                <a:spcPts val="1600"/>
              </a:spcBef>
              <a:spcAft>
                <a:spcPts val="0"/>
              </a:spcAft>
              <a:buSzPts val="1400"/>
              <a:buChar char="●"/>
              <a:defRPr/>
            </a:lvl7pPr>
            <a:lvl8pPr marL="3657600" lvl="7" indent="-317500" algn="ctr">
              <a:lnSpc>
                <a:spcPct val="115000"/>
              </a:lnSpc>
              <a:spcBef>
                <a:spcPts val="1600"/>
              </a:spcBef>
              <a:spcAft>
                <a:spcPts val="0"/>
              </a:spcAft>
              <a:buSzPts val="1400"/>
              <a:buChar char="○"/>
              <a:defRPr/>
            </a:lvl8pPr>
            <a:lvl9pPr marL="4114800" lvl="8" indent="-317500" algn="ctr">
              <a:lnSpc>
                <a:spcPct val="115000"/>
              </a:lnSpc>
              <a:spcBef>
                <a:spcPts val="1600"/>
              </a:spcBef>
              <a:spcAft>
                <a:spcPts val="1600"/>
              </a:spcAft>
              <a:buSzPts val="1400"/>
              <a:buChar char="■"/>
              <a:defRPr/>
            </a:lvl9pPr>
          </a:lstStyle>
          <a:p>
            <a:endParaRPr/>
          </a:p>
        </p:txBody>
      </p:sp>
      <p:sp>
        <p:nvSpPr>
          <p:cNvPr id="104" name="Google Shape;104;p24"/>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05"/>
        <p:cNvGrpSpPr/>
        <p:nvPr/>
      </p:nvGrpSpPr>
      <p:grpSpPr>
        <a:xfrm>
          <a:off x="0" y="0"/>
          <a:ext cx="0" cy="0"/>
          <a:chOff x="0" y="0"/>
          <a:chExt cx="0" cy="0"/>
        </a:xfrm>
      </p:grpSpPr>
      <p:sp>
        <p:nvSpPr>
          <p:cNvPr id="106" name="Google Shape;106;p25"/>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pic>
        <p:nvPicPr>
          <p:cNvPr id="107" name="Google Shape;107;p25"/>
          <p:cNvPicPr preferRelativeResize="0"/>
          <p:nvPr/>
        </p:nvPicPr>
        <p:blipFill rotWithShape="1">
          <a:blip r:embed="rId2">
            <a:alphaModFix/>
          </a:blip>
          <a:srcRect l="20584"/>
          <a:stretch/>
        </p:blipFill>
        <p:spPr>
          <a:xfrm>
            <a:off x="10889" y="166975"/>
            <a:ext cx="1493701" cy="4809552"/>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Custom Layout 1">
  <p:cSld name="CUSTOM">
    <p:spTree>
      <p:nvGrpSpPr>
        <p:cNvPr id="1" name="Shape 108"/>
        <p:cNvGrpSpPr/>
        <p:nvPr/>
      </p:nvGrpSpPr>
      <p:grpSpPr>
        <a:xfrm>
          <a:off x="0" y="0"/>
          <a:ext cx="0" cy="0"/>
          <a:chOff x="0" y="0"/>
          <a:chExt cx="0" cy="0"/>
        </a:xfrm>
      </p:grpSpPr>
      <p:sp>
        <p:nvSpPr>
          <p:cNvPr id="109" name="Google Shape;109;p26"/>
          <p:cNvSpPr txBox="1">
            <a:spLocks noGrp="1"/>
          </p:cNvSpPr>
          <p:nvPr>
            <p:ph type="title"/>
          </p:nvPr>
        </p:nvSpPr>
        <p:spPr>
          <a:xfrm>
            <a:off x="2400250" y="575950"/>
            <a:ext cx="6321600" cy="6354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000"/>
              <a:buNone/>
              <a:defRPr>
                <a:latin typeface="Inter"/>
                <a:ea typeface="Inter"/>
                <a:cs typeface="Inter"/>
                <a:sym typeface="Inter"/>
              </a:defRPr>
            </a:lvl1pPr>
            <a:lvl2pPr lvl="1" algn="l">
              <a:lnSpc>
                <a:spcPct val="100000"/>
              </a:lnSpc>
              <a:spcBef>
                <a:spcPts val="0"/>
              </a:spcBef>
              <a:spcAft>
                <a:spcPts val="0"/>
              </a:spcAft>
              <a:buSzPts val="3000"/>
              <a:buNone/>
              <a:defRPr>
                <a:latin typeface="Inter"/>
                <a:ea typeface="Inter"/>
                <a:cs typeface="Inter"/>
                <a:sym typeface="Inter"/>
              </a:defRPr>
            </a:lvl2pPr>
            <a:lvl3pPr lvl="2" algn="l">
              <a:lnSpc>
                <a:spcPct val="100000"/>
              </a:lnSpc>
              <a:spcBef>
                <a:spcPts val="0"/>
              </a:spcBef>
              <a:spcAft>
                <a:spcPts val="0"/>
              </a:spcAft>
              <a:buSzPts val="3000"/>
              <a:buNone/>
              <a:defRPr>
                <a:latin typeface="Inter"/>
                <a:ea typeface="Inter"/>
                <a:cs typeface="Inter"/>
                <a:sym typeface="Inter"/>
              </a:defRPr>
            </a:lvl3pPr>
            <a:lvl4pPr lvl="3" algn="l">
              <a:lnSpc>
                <a:spcPct val="100000"/>
              </a:lnSpc>
              <a:spcBef>
                <a:spcPts val="0"/>
              </a:spcBef>
              <a:spcAft>
                <a:spcPts val="0"/>
              </a:spcAft>
              <a:buSzPts val="3000"/>
              <a:buNone/>
              <a:defRPr>
                <a:latin typeface="Inter"/>
                <a:ea typeface="Inter"/>
                <a:cs typeface="Inter"/>
                <a:sym typeface="Inter"/>
              </a:defRPr>
            </a:lvl4pPr>
            <a:lvl5pPr lvl="4" algn="l">
              <a:lnSpc>
                <a:spcPct val="100000"/>
              </a:lnSpc>
              <a:spcBef>
                <a:spcPts val="0"/>
              </a:spcBef>
              <a:spcAft>
                <a:spcPts val="0"/>
              </a:spcAft>
              <a:buSzPts val="3000"/>
              <a:buNone/>
              <a:defRPr>
                <a:latin typeface="Inter"/>
                <a:ea typeface="Inter"/>
                <a:cs typeface="Inter"/>
                <a:sym typeface="Inter"/>
              </a:defRPr>
            </a:lvl5pPr>
            <a:lvl6pPr lvl="5" algn="l">
              <a:lnSpc>
                <a:spcPct val="100000"/>
              </a:lnSpc>
              <a:spcBef>
                <a:spcPts val="0"/>
              </a:spcBef>
              <a:spcAft>
                <a:spcPts val="0"/>
              </a:spcAft>
              <a:buSzPts val="3000"/>
              <a:buNone/>
              <a:defRPr>
                <a:latin typeface="Inter"/>
                <a:ea typeface="Inter"/>
                <a:cs typeface="Inter"/>
                <a:sym typeface="Inter"/>
              </a:defRPr>
            </a:lvl6pPr>
            <a:lvl7pPr lvl="6" algn="l">
              <a:lnSpc>
                <a:spcPct val="100000"/>
              </a:lnSpc>
              <a:spcBef>
                <a:spcPts val="0"/>
              </a:spcBef>
              <a:spcAft>
                <a:spcPts val="0"/>
              </a:spcAft>
              <a:buSzPts val="3000"/>
              <a:buNone/>
              <a:defRPr>
                <a:latin typeface="Inter"/>
                <a:ea typeface="Inter"/>
                <a:cs typeface="Inter"/>
                <a:sym typeface="Inter"/>
              </a:defRPr>
            </a:lvl7pPr>
            <a:lvl8pPr lvl="7" algn="l">
              <a:lnSpc>
                <a:spcPct val="100000"/>
              </a:lnSpc>
              <a:spcBef>
                <a:spcPts val="0"/>
              </a:spcBef>
              <a:spcAft>
                <a:spcPts val="0"/>
              </a:spcAft>
              <a:buSzPts val="3000"/>
              <a:buNone/>
              <a:defRPr>
                <a:latin typeface="Inter"/>
                <a:ea typeface="Inter"/>
                <a:cs typeface="Inter"/>
                <a:sym typeface="Inter"/>
              </a:defRPr>
            </a:lvl8pPr>
            <a:lvl9pPr lvl="8" algn="l">
              <a:lnSpc>
                <a:spcPct val="100000"/>
              </a:lnSpc>
              <a:spcBef>
                <a:spcPts val="0"/>
              </a:spcBef>
              <a:spcAft>
                <a:spcPts val="0"/>
              </a:spcAft>
              <a:buSzPts val="3000"/>
              <a:buNone/>
              <a:defRPr>
                <a:latin typeface="Inter"/>
                <a:ea typeface="Inter"/>
                <a:cs typeface="Inter"/>
                <a:sym typeface="Inter"/>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10"/>
        <p:cNvGrpSpPr/>
        <p:nvPr/>
      </p:nvGrpSpPr>
      <p:grpSpPr>
        <a:xfrm>
          <a:off x="0" y="0"/>
          <a:ext cx="0" cy="0"/>
          <a:chOff x="0" y="0"/>
          <a:chExt cx="0" cy="0"/>
        </a:xfrm>
      </p:grpSpPr>
      <p:sp>
        <p:nvSpPr>
          <p:cNvPr id="111" name="Google Shape;111;p27"/>
          <p:cNvSpPr txBox="1">
            <a:spLocks noGrp="1"/>
          </p:cNvSpPr>
          <p:nvPr>
            <p:ph type="title"/>
          </p:nvPr>
        </p:nvSpPr>
        <p:spPr>
          <a:xfrm>
            <a:off x="628650" y="273844"/>
            <a:ext cx="7886700" cy="994200"/>
          </a:xfrm>
          <a:prstGeom prst="rect">
            <a:avLst/>
          </a:prstGeom>
          <a:noFill/>
          <a:ln>
            <a:noFill/>
          </a:ln>
        </p:spPr>
        <p:txBody>
          <a:bodyPr spcFirstLastPara="1" wrap="square" lIns="91425" tIns="45700" rIns="91425" bIns="45700" anchor="ctr" anchorCtr="0">
            <a:no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a:endParaRPr/>
          </a:p>
        </p:txBody>
      </p:sp>
      <p:sp>
        <p:nvSpPr>
          <p:cNvPr id="112" name="Google Shape;112;p27"/>
          <p:cNvSpPr txBox="1">
            <a:spLocks noGrp="1"/>
          </p:cNvSpPr>
          <p:nvPr>
            <p:ph type="body" idx="1"/>
          </p:nvPr>
        </p:nvSpPr>
        <p:spPr>
          <a:xfrm>
            <a:off x="628650" y="1369219"/>
            <a:ext cx="7886700" cy="3263400"/>
          </a:xfrm>
          <a:prstGeom prst="rect">
            <a:avLst/>
          </a:prstGeom>
          <a:noFill/>
          <a:ln>
            <a:noFill/>
          </a:ln>
        </p:spPr>
        <p:txBody>
          <a:bodyPr spcFirstLastPara="1" wrap="square" lIns="91425" tIns="45700" rIns="91425" bIns="45700" anchor="t" anchorCtr="0">
            <a:noAutofit/>
          </a:bodyPr>
          <a:lstStyle>
            <a:lvl1pPr marL="457200" lvl="0" indent="-342900" algn="l">
              <a:lnSpc>
                <a:spcPct val="90000"/>
              </a:lnSpc>
              <a:spcBef>
                <a:spcPts val="800"/>
              </a:spcBef>
              <a:spcAft>
                <a:spcPts val="0"/>
              </a:spcAft>
              <a:buClr>
                <a:schemeClr val="dk1"/>
              </a:buClr>
              <a:buSzPts val="1800"/>
              <a:buChar char="●"/>
              <a:defRPr/>
            </a:lvl1pPr>
            <a:lvl2pPr marL="914400" lvl="1" indent="-342900" algn="l">
              <a:lnSpc>
                <a:spcPct val="90000"/>
              </a:lnSpc>
              <a:spcBef>
                <a:spcPts val="1600"/>
              </a:spcBef>
              <a:spcAft>
                <a:spcPts val="0"/>
              </a:spcAft>
              <a:buClr>
                <a:schemeClr val="dk1"/>
              </a:buClr>
              <a:buSzPts val="1800"/>
              <a:buChar char="○"/>
              <a:defRPr/>
            </a:lvl2pPr>
            <a:lvl3pPr marL="1371600" lvl="2" indent="-342900" algn="l">
              <a:lnSpc>
                <a:spcPct val="90000"/>
              </a:lnSpc>
              <a:spcBef>
                <a:spcPts val="1600"/>
              </a:spcBef>
              <a:spcAft>
                <a:spcPts val="0"/>
              </a:spcAft>
              <a:buClr>
                <a:schemeClr val="dk1"/>
              </a:buClr>
              <a:buSzPts val="1800"/>
              <a:buChar char="■"/>
              <a:defRPr/>
            </a:lvl3pPr>
            <a:lvl4pPr marL="1828800" lvl="3" indent="-342900" algn="l">
              <a:lnSpc>
                <a:spcPct val="90000"/>
              </a:lnSpc>
              <a:spcBef>
                <a:spcPts val="1600"/>
              </a:spcBef>
              <a:spcAft>
                <a:spcPts val="0"/>
              </a:spcAft>
              <a:buClr>
                <a:schemeClr val="dk1"/>
              </a:buClr>
              <a:buSzPts val="1800"/>
              <a:buChar char="●"/>
              <a:defRPr/>
            </a:lvl4pPr>
            <a:lvl5pPr marL="2286000" lvl="4" indent="-342900" algn="l">
              <a:lnSpc>
                <a:spcPct val="90000"/>
              </a:lnSpc>
              <a:spcBef>
                <a:spcPts val="1600"/>
              </a:spcBef>
              <a:spcAft>
                <a:spcPts val="0"/>
              </a:spcAft>
              <a:buClr>
                <a:schemeClr val="dk1"/>
              </a:buClr>
              <a:buSzPts val="1800"/>
              <a:buChar char="○"/>
              <a:defRPr/>
            </a:lvl5pPr>
            <a:lvl6pPr marL="2743200" lvl="5" indent="-342900" algn="l">
              <a:lnSpc>
                <a:spcPct val="90000"/>
              </a:lnSpc>
              <a:spcBef>
                <a:spcPts val="1600"/>
              </a:spcBef>
              <a:spcAft>
                <a:spcPts val="0"/>
              </a:spcAft>
              <a:buClr>
                <a:schemeClr val="dk1"/>
              </a:buClr>
              <a:buSzPts val="1800"/>
              <a:buChar char="■"/>
              <a:defRPr/>
            </a:lvl6pPr>
            <a:lvl7pPr marL="3200400" lvl="6" indent="-342900" algn="l">
              <a:lnSpc>
                <a:spcPct val="90000"/>
              </a:lnSpc>
              <a:spcBef>
                <a:spcPts val="1600"/>
              </a:spcBef>
              <a:spcAft>
                <a:spcPts val="0"/>
              </a:spcAft>
              <a:buClr>
                <a:schemeClr val="dk1"/>
              </a:buClr>
              <a:buSzPts val="1800"/>
              <a:buChar char="●"/>
              <a:defRPr/>
            </a:lvl7pPr>
            <a:lvl8pPr marL="3657600" lvl="7" indent="-342900" algn="l">
              <a:lnSpc>
                <a:spcPct val="90000"/>
              </a:lnSpc>
              <a:spcBef>
                <a:spcPts val="1600"/>
              </a:spcBef>
              <a:spcAft>
                <a:spcPts val="0"/>
              </a:spcAft>
              <a:buClr>
                <a:schemeClr val="dk1"/>
              </a:buClr>
              <a:buSzPts val="1800"/>
              <a:buChar char="○"/>
              <a:defRPr/>
            </a:lvl8pPr>
            <a:lvl9pPr marL="4114800" lvl="8" indent="-342900" algn="l">
              <a:lnSpc>
                <a:spcPct val="90000"/>
              </a:lnSpc>
              <a:spcBef>
                <a:spcPts val="1600"/>
              </a:spcBef>
              <a:spcAft>
                <a:spcPts val="1600"/>
              </a:spcAft>
              <a:buClr>
                <a:schemeClr val="dk1"/>
              </a:buClr>
              <a:buSzPts val="1800"/>
              <a:buChar char="■"/>
              <a:defRPr/>
            </a:lvl9pPr>
          </a:lstStyle>
          <a:p>
            <a:endParaRPr/>
          </a:p>
        </p:txBody>
      </p:sp>
      <p:sp>
        <p:nvSpPr>
          <p:cNvPr id="113" name="Google Shape;113;p27"/>
          <p:cNvSpPr txBox="1">
            <a:spLocks noGrp="1"/>
          </p:cNvSpPr>
          <p:nvPr>
            <p:ph type="dt" idx="10"/>
          </p:nvPr>
        </p:nvSpPr>
        <p:spPr>
          <a:xfrm>
            <a:off x="628650" y="4767263"/>
            <a:ext cx="2057400" cy="273900"/>
          </a:xfrm>
          <a:prstGeom prst="rect">
            <a:avLst/>
          </a:prstGeom>
          <a:noFill/>
          <a:ln>
            <a:noFill/>
          </a:ln>
        </p:spPr>
        <p:txBody>
          <a:bodyPr spcFirstLastPara="1" wrap="square" lIns="91425" tIns="45700" rIns="91425" bIns="45700" anchor="ctr" anchorCtr="0">
            <a:no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14" name="Google Shape;114;p27"/>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marR="0" lvl="0" algn="ctr">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15" name="Google Shape;115;p27"/>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1_Section Header">
  <p:cSld name="1_Section Header">
    <p:spTree>
      <p:nvGrpSpPr>
        <p:cNvPr id="1" name="Shape 116"/>
        <p:cNvGrpSpPr/>
        <p:nvPr/>
      </p:nvGrpSpPr>
      <p:grpSpPr>
        <a:xfrm>
          <a:off x="0" y="0"/>
          <a:ext cx="0" cy="0"/>
          <a:chOff x="0" y="0"/>
          <a:chExt cx="0" cy="0"/>
        </a:xfrm>
      </p:grpSpPr>
      <p:sp>
        <p:nvSpPr>
          <p:cNvPr id="117" name="Google Shape;117;p28"/>
          <p:cNvSpPr>
            <a:spLocks noGrp="1"/>
          </p:cNvSpPr>
          <p:nvPr>
            <p:ph type="pic" idx="2"/>
          </p:nvPr>
        </p:nvSpPr>
        <p:spPr>
          <a:xfrm>
            <a:off x="6090761" y="2576036"/>
            <a:ext cx="3050400" cy="2560200"/>
          </a:xfrm>
          <a:prstGeom prst="rect">
            <a:avLst/>
          </a:prstGeom>
          <a:noFill/>
          <a:ln>
            <a:noFill/>
          </a:ln>
        </p:spPr>
      </p:sp>
      <p:sp>
        <p:nvSpPr>
          <p:cNvPr id="118" name="Google Shape;118;p28"/>
          <p:cNvSpPr>
            <a:spLocks noGrp="1"/>
          </p:cNvSpPr>
          <p:nvPr>
            <p:ph type="pic" idx="3"/>
          </p:nvPr>
        </p:nvSpPr>
        <p:spPr>
          <a:xfrm>
            <a:off x="-8122" y="2576035"/>
            <a:ext cx="3050400" cy="2560200"/>
          </a:xfrm>
          <a:prstGeom prst="rect">
            <a:avLst/>
          </a:prstGeom>
          <a:noFill/>
          <a:ln>
            <a:noFill/>
          </a:ln>
        </p:spPr>
      </p:sp>
      <p:sp>
        <p:nvSpPr>
          <p:cNvPr id="119" name="Google Shape;119;p28"/>
          <p:cNvSpPr>
            <a:spLocks noGrp="1"/>
          </p:cNvSpPr>
          <p:nvPr>
            <p:ph type="pic" idx="4"/>
          </p:nvPr>
        </p:nvSpPr>
        <p:spPr>
          <a:xfrm>
            <a:off x="3040381" y="2855"/>
            <a:ext cx="3050400" cy="2560200"/>
          </a:xfrm>
          <a:prstGeom prst="rect">
            <a:avLst/>
          </a:prstGeom>
          <a:noFill/>
          <a:ln>
            <a:noFill/>
          </a:ln>
        </p:spPr>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matchingName="Title - Confidential">
  <p:cSld name="Title - Confidential">
    <p:spTree>
      <p:nvGrpSpPr>
        <p:cNvPr id="1" name="Shape 120"/>
        <p:cNvGrpSpPr/>
        <p:nvPr/>
      </p:nvGrpSpPr>
      <p:grpSpPr>
        <a:xfrm>
          <a:off x="0" y="0"/>
          <a:ext cx="0" cy="0"/>
          <a:chOff x="0" y="0"/>
          <a:chExt cx="0" cy="0"/>
        </a:xfrm>
      </p:grpSpPr>
      <p:pic>
        <p:nvPicPr>
          <p:cNvPr id="121" name="Google Shape;121;p29"/>
          <p:cNvPicPr preferRelativeResize="0"/>
          <p:nvPr/>
        </p:nvPicPr>
        <p:blipFill rotWithShape="1">
          <a:blip r:embed="rId2">
            <a:alphaModFix/>
          </a:blip>
          <a:srcRect/>
          <a:stretch/>
        </p:blipFill>
        <p:spPr>
          <a:xfrm>
            <a:off x="91800" y="35775"/>
            <a:ext cx="1995575" cy="798225"/>
          </a:xfrm>
          <a:prstGeom prst="rect">
            <a:avLst/>
          </a:prstGeom>
          <a:noFill/>
          <a:ln>
            <a:noFill/>
          </a:ln>
        </p:spPr>
      </p:pic>
      <p:sp>
        <p:nvSpPr>
          <p:cNvPr id="122" name="Google Shape;122;p29"/>
          <p:cNvSpPr txBox="1">
            <a:spLocks noGrp="1"/>
          </p:cNvSpPr>
          <p:nvPr>
            <p:ph type="sldNum" idx="12"/>
          </p:nvPr>
        </p:nvSpPr>
        <p:spPr>
          <a:xfrm>
            <a:off x="362847" y="4831131"/>
            <a:ext cx="1761300" cy="123000"/>
          </a:xfrm>
          <a:prstGeom prst="rect">
            <a:avLst/>
          </a:prstGeom>
          <a:solidFill>
            <a:srgbClr val="FFFFFF"/>
          </a:solidFill>
          <a:ln>
            <a:noFill/>
          </a:ln>
        </p:spPr>
        <p:txBody>
          <a:bodyPr spcFirstLastPara="1" wrap="square" lIns="0" tIns="0" rIns="0" bIns="0" anchor="b" anchorCtr="0">
            <a:noAutofit/>
          </a:bodyPr>
          <a:lstStyle>
            <a:lvl1pPr marL="0" marR="0" lvl="0"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1pPr>
            <a:lvl2pPr marL="0" marR="0" lvl="1"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2pPr>
            <a:lvl3pPr marL="0" marR="0" lvl="2"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3pPr>
            <a:lvl4pPr marL="0" marR="0" lvl="3"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4pPr>
            <a:lvl5pPr marL="0" marR="0" lvl="4"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5pPr>
            <a:lvl6pPr marL="0" marR="0" lvl="5"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6pPr>
            <a:lvl7pPr marL="0" marR="0" lvl="6"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7pPr>
            <a:lvl8pPr marL="0" marR="0" lvl="7"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8pPr>
            <a:lvl9pPr marL="0" marR="0" lvl="8"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9pPr>
          </a:lstStyle>
          <a:p>
            <a:pPr marL="0" lvl="0" indent="0" algn="l" rtl="0">
              <a:spcBef>
                <a:spcPts val="0"/>
              </a:spcBef>
              <a:spcAft>
                <a:spcPts val="0"/>
              </a:spcAft>
              <a:buNone/>
            </a:pPr>
            <a:fld id="{00000000-1234-1234-1234-123412341234}" type="slidenum">
              <a:rPr lang="en"/>
              <a:t>‹#›</a:t>
            </a:fld>
            <a:endParaRPr/>
          </a:p>
        </p:txBody>
      </p:sp>
      <p:sp>
        <p:nvSpPr>
          <p:cNvPr id="123" name="Google Shape;123;p29"/>
          <p:cNvSpPr txBox="1">
            <a:spLocks noGrp="1"/>
          </p:cNvSpPr>
          <p:nvPr>
            <p:ph type="title"/>
          </p:nvPr>
        </p:nvSpPr>
        <p:spPr>
          <a:xfrm>
            <a:off x="457200" y="2228850"/>
            <a:ext cx="8229600" cy="685800"/>
          </a:xfrm>
          <a:prstGeom prst="rect">
            <a:avLst/>
          </a:prstGeom>
          <a:noFill/>
          <a:ln>
            <a:noFill/>
          </a:ln>
        </p:spPr>
        <p:txBody>
          <a:bodyPr spcFirstLastPara="1" wrap="square" lIns="91425" tIns="91425" rIns="91425" bIns="91425" anchor="ctr" anchorCtr="0">
            <a:noAutofit/>
          </a:bodyPr>
          <a:lstStyle>
            <a:lvl1pPr marR="0" lvl="0"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1pPr>
            <a:lvl2pPr marR="0" lvl="1"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2pPr>
            <a:lvl3pPr marR="0" lvl="2"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3pPr>
            <a:lvl4pPr marR="0" lvl="3"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4pPr>
            <a:lvl5pPr marR="0" lvl="4"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5pPr>
            <a:lvl6pPr marR="0" lvl="5"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6pPr>
            <a:lvl7pPr marR="0" lvl="6"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7pPr>
            <a:lvl8pPr marR="0" lvl="7"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8pPr>
            <a:lvl9pPr marR="0" lvl="8"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9pPr>
          </a:lstStyle>
          <a:p>
            <a:endParaRPr/>
          </a:p>
        </p:txBody>
      </p:sp>
      <p:sp>
        <p:nvSpPr>
          <p:cNvPr id="124" name="Google Shape;124;p29"/>
          <p:cNvSpPr/>
          <p:nvPr/>
        </p:nvSpPr>
        <p:spPr>
          <a:xfrm>
            <a:off x="7367620" y="4791863"/>
            <a:ext cx="1776300" cy="351600"/>
          </a:xfrm>
          <a:prstGeom prst="rect">
            <a:avLst/>
          </a:prstGeom>
          <a:solidFill>
            <a:srgbClr val="FFFFFF"/>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FFFFFF"/>
              </a:buClr>
              <a:buSzPts val="1400"/>
              <a:buFont typeface="Open Sans"/>
              <a:buNone/>
            </a:pPr>
            <a:endParaRPr sz="1400" b="0" i="0" u="none" strike="noStrike" cap="none">
              <a:solidFill>
                <a:srgbClr val="000000"/>
              </a:solidFill>
              <a:latin typeface="Open Sans"/>
              <a:ea typeface="Open Sans"/>
              <a:cs typeface="Open Sans"/>
              <a:sym typeface="Open Sans"/>
            </a:endParaRPr>
          </a:p>
        </p:txBody>
      </p:sp>
      <p:sp>
        <p:nvSpPr>
          <p:cNvPr id="125" name="Google Shape;125;p29"/>
          <p:cNvSpPr/>
          <p:nvPr/>
        </p:nvSpPr>
        <p:spPr>
          <a:xfrm>
            <a:off x="4564242" y="4828127"/>
            <a:ext cx="4287900" cy="126000"/>
          </a:xfrm>
          <a:prstGeom prst="rect">
            <a:avLst/>
          </a:prstGeom>
          <a:solidFill>
            <a:srgbClr val="FFFFFF"/>
          </a:solidFill>
          <a:ln>
            <a:noFill/>
          </a:ln>
        </p:spPr>
        <p:txBody>
          <a:bodyPr spcFirstLastPara="1" wrap="square" lIns="45700" tIns="45700" rIns="45700" bIns="45700" anchor="b" anchorCtr="0">
            <a:noAutofit/>
          </a:bodyPr>
          <a:lstStyle/>
          <a:p>
            <a:pPr marL="0" marR="0" lvl="0" indent="0" algn="r" rtl="0">
              <a:lnSpc>
                <a:spcPct val="100000"/>
              </a:lnSpc>
              <a:spcBef>
                <a:spcPts val="0"/>
              </a:spcBef>
              <a:spcAft>
                <a:spcPts val="0"/>
              </a:spcAft>
              <a:buClr>
                <a:srgbClr val="808080"/>
              </a:buClr>
              <a:buSzPts val="1400"/>
              <a:buFont typeface="Open Sans SemiBold"/>
              <a:buNone/>
            </a:pPr>
            <a:endParaRPr sz="1400" b="0" i="0" u="none" strike="noStrike" cap="none">
              <a:solidFill>
                <a:srgbClr val="000000"/>
              </a:solidFill>
              <a:latin typeface="Open Sans"/>
              <a:ea typeface="Open Sans"/>
              <a:cs typeface="Open Sans"/>
              <a:sym typeface="Open Sans"/>
            </a:endParaRPr>
          </a:p>
        </p:txBody>
      </p:sp>
      <p:pic>
        <p:nvPicPr>
          <p:cNvPr id="126" name="Google Shape;126;p29"/>
          <p:cNvPicPr preferRelativeResize="0"/>
          <p:nvPr/>
        </p:nvPicPr>
        <p:blipFill rotWithShape="1">
          <a:blip r:embed="rId3">
            <a:alphaModFix/>
          </a:blip>
          <a:srcRect/>
          <a:stretch/>
        </p:blipFill>
        <p:spPr>
          <a:xfrm>
            <a:off x="91800" y="889476"/>
            <a:ext cx="2032225" cy="182105"/>
          </a:xfrm>
          <a:prstGeom prst="rect">
            <a:avLst/>
          </a:prstGeom>
          <a:noFill/>
          <a:ln>
            <a:noFill/>
          </a:ln>
        </p:spPr>
      </p:pic>
      <p:pic>
        <p:nvPicPr>
          <p:cNvPr id="127" name="Google Shape;127;p29"/>
          <p:cNvPicPr preferRelativeResize="0"/>
          <p:nvPr/>
        </p:nvPicPr>
        <p:blipFill rotWithShape="1">
          <a:blip r:embed="rId4">
            <a:alphaModFix/>
          </a:blip>
          <a:srcRect/>
          <a:stretch/>
        </p:blipFill>
        <p:spPr>
          <a:xfrm>
            <a:off x="4522038" y="37550"/>
            <a:ext cx="4521986" cy="79822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matchingName="Title - Alternative">
  <p:cSld name="Title - Alternative">
    <p:spTree>
      <p:nvGrpSpPr>
        <p:cNvPr id="1" name="Shape 128"/>
        <p:cNvGrpSpPr/>
        <p:nvPr/>
      </p:nvGrpSpPr>
      <p:grpSpPr>
        <a:xfrm>
          <a:off x="0" y="0"/>
          <a:ext cx="0" cy="0"/>
          <a:chOff x="0" y="0"/>
          <a:chExt cx="0" cy="0"/>
        </a:xfrm>
      </p:grpSpPr>
      <p:pic>
        <p:nvPicPr>
          <p:cNvPr id="129" name="Google Shape;129;p30"/>
          <p:cNvPicPr preferRelativeResize="0"/>
          <p:nvPr/>
        </p:nvPicPr>
        <p:blipFill rotWithShape="1">
          <a:blip r:embed="rId2">
            <a:alphaModFix/>
          </a:blip>
          <a:srcRect/>
          <a:stretch/>
        </p:blipFill>
        <p:spPr>
          <a:xfrm>
            <a:off x="4160301" y="4804157"/>
            <a:ext cx="983201" cy="206570"/>
          </a:xfrm>
          <a:prstGeom prst="rect">
            <a:avLst/>
          </a:prstGeom>
          <a:noFill/>
          <a:ln>
            <a:noFill/>
          </a:ln>
        </p:spPr>
      </p:pic>
      <p:pic>
        <p:nvPicPr>
          <p:cNvPr id="130" name="Google Shape;130;p30"/>
          <p:cNvPicPr preferRelativeResize="0"/>
          <p:nvPr/>
        </p:nvPicPr>
        <p:blipFill rotWithShape="1">
          <a:blip r:embed="rId3">
            <a:alphaModFix/>
          </a:blip>
          <a:srcRect/>
          <a:stretch/>
        </p:blipFill>
        <p:spPr>
          <a:xfrm>
            <a:off x="5332188" y="4762526"/>
            <a:ext cx="1641834" cy="289835"/>
          </a:xfrm>
          <a:prstGeom prst="rect">
            <a:avLst/>
          </a:prstGeom>
          <a:noFill/>
          <a:ln>
            <a:noFill/>
          </a:ln>
        </p:spPr>
      </p:pic>
      <p:pic>
        <p:nvPicPr>
          <p:cNvPr id="131" name="Google Shape;131;p30"/>
          <p:cNvPicPr preferRelativeResize="0"/>
          <p:nvPr/>
        </p:nvPicPr>
        <p:blipFill rotWithShape="1">
          <a:blip r:embed="rId4">
            <a:alphaModFix/>
          </a:blip>
          <a:srcRect/>
          <a:stretch/>
        </p:blipFill>
        <p:spPr>
          <a:xfrm>
            <a:off x="2608280" y="4846354"/>
            <a:ext cx="1363334" cy="122178"/>
          </a:xfrm>
          <a:prstGeom prst="rect">
            <a:avLst/>
          </a:prstGeom>
          <a:noFill/>
          <a:ln>
            <a:noFill/>
          </a:ln>
        </p:spPr>
      </p:pic>
      <p:sp>
        <p:nvSpPr>
          <p:cNvPr id="132" name="Google Shape;132;p30"/>
          <p:cNvSpPr txBox="1">
            <a:spLocks noGrp="1"/>
          </p:cNvSpPr>
          <p:nvPr>
            <p:ph type="sldNum" idx="12"/>
          </p:nvPr>
        </p:nvSpPr>
        <p:spPr>
          <a:xfrm>
            <a:off x="285750" y="4841483"/>
            <a:ext cx="1761300" cy="123000"/>
          </a:xfrm>
          <a:prstGeom prst="rect">
            <a:avLst/>
          </a:prstGeom>
          <a:solidFill>
            <a:srgbClr val="FFFFFF"/>
          </a:solidFill>
          <a:ln>
            <a:noFill/>
          </a:ln>
        </p:spPr>
        <p:txBody>
          <a:bodyPr spcFirstLastPara="1" wrap="square" lIns="0" tIns="0" rIns="0" bIns="0" anchor="b" anchorCtr="0">
            <a:noAutofit/>
          </a:bodyPr>
          <a:lstStyle>
            <a:lvl1pPr marL="0" marR="0" lvl="0"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1pPr>
            <a:lvl2pPr marL="0" marR="0" lvl="1"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2pPr>
            <a:lvl3pPr marL="0" marR="0" lvl="2"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3pPr>
            <a:lvl4pPr marL="0" marR="0" lvl="3"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4pPr>
            <a:lvl5pPr marL="0" marR="0" lvl="4"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5pPr>
            <a:lvl6pPr marL="0" marR="0" lvl="5"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6pPr>
            <a:lvl7pPr marL="0" marR="0" lvl="6"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7pPr>
            <a:lvl8pPr marL="0" marR="0" lvl="7"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8pPr>
            <a:lvl9pPr marL="0" marR="0" lvl="8"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9pPr>
          </a:lstStyle>
          <a:p>
            <a:pPr marL="0" lvl="0" indent="0" algn="l" rtl="0">
              <a:spcBef>
                <a:spcPts val="0"/>
              </a:spcBef>
              <a:spcAft>
                <a:spcPts val="0"/>
              </a:spcAft>
              <a:buNone/>
            </a:pPr>
            <a:fld id="{00000000-1234-1234-1234-123412341234}" type="slidenum">
              <a:rPr lang="en"/>
              <a:t>‹#›</a:t>
            </a:fld>
            <a:endParaRPr/>
          </a:p>
        </p:txBody>
      </p:sp>
      <p:sp>
        <p:nvSpPr>
          <p:cNvPr id="133" name="Google Shape;133;p30"/>
          <p:cNvSpPr txBox="1">
            <a:spLocks noGrp="1"/>
          </p:cNvSpPr>
          <p:nvPr>
            <p:ph type="title"/>
          </p:nvPr>
        </p:nvSpPr>
        <p:spPr>
          <a:xfrm>
            <a:off x="0" y="-1"/>
            <a:ext cx="9144000" cy="601500"/>
          </a:xfrm>
          <a:prstGeom prst="rect">
            <a:avLst/>
          </a:prstGeom>
          <a:solidFill>
            <a:srgbClr val="0075AF"/>
          </a:solidFill>
          <a:ln>
            <a:noFill/>
          </a:ln>
        </p:spPr>
        <p:txBody>
          <a:bodyPr spcFirstLastPara="1" wrap="square" lIns="91425" tIns="91425" rIns="91425" bIns="91425" anchor="ctr" anchorCtr="0">
            <a:noAutofit/>
          </a:bodyPr>
          <a:lstStyle>
            <a:lvl1pPr marR="0" lvl="0" algn="ctr">
              <a:lnSpc>
                <a:spcPct val="100000"/>
              </a:lnSpc>
              <a:spcBef>
                <a:spcPts val="0"/>
              </a:spcBef>
              <a:spcAft>
                <a:spcPts val="0"/>
              </a:spcAft>
              <a:buClr>
                <a:srgbClr val="FFFFFF"/>
              </a:buClr>
              <a:buSzPts val="2700"/>
              <a:buFont typeface="Open Sans"/>
              <a:buNone/>
              <a:defRPr sz="2700" b="0" i="0" u="none" strike="noStrike" cap="none">
                <a:solidFill>
                  <a:srgbClr val="FFFFFF"/>
                </a:solidFill>
                <a:latin typeface="Open Sans"/>
                <a:ea typeface="Open Sans"/>
                <a:cs typeface="Open Sans"/>
                <a:sym typeface="Open Sans"/>
              </a:defRPr>
            </a:lvl1pPr>
            <a:lvl2pPr marR="0" lvl="1"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2pPr>
            <a:lvl3pPr marR="0" lvl="2"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3pPr>
            <a:lvl4pPr marR="0" lvl="3"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4pPr>
            <a:lvl5pPr marR="0" lvl="4"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5pPr>
            <a:lvl6pPr marR="0" lvl="5"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6pPr>
            <a:lvl7pPr marR="0" lvl="6"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7pPr>
            <a:lvl8pPr marR="0" lvl="7"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8pPr>
            <a:lvl9pPr marR="0" lvl="8"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9pPr>
          </a:lstStyle>
          <a:p>
            <a:endParaRPr/>
          </a:p>
        </p:txBody>
      </p:sp>
      <p:sp>
        <p:nvSpPr>
          <p:cNvPr id="134" name="Google Shape;134;p30"/>
          <p:cNvSpPr txBox="1">
            <a:spLocks noGrp="1"/>
          </p:cNvSpPr>
          <p:nvPr>
            <p:ph type="body" idx="1"/>
          </p:nvPr>
        </p:nvSpPr>
        <p:spPr>
          <a:xfrm>
            <a:off x="457200" y="1028701"/>
            <a:ext cx="8229600" cy="3600600"/>
          </a:xfrm>
          <a:prstGeom prst="rect">
            <a:avLst/>
          </a:prstGeom>
          <a:noFill/>
          <a:ln>
            <a:noFill/>
          </a:ln>
        </p:spPr>
        <p:txBody>
          <a:bodyPr spcFirstLastPara="1" wrap="square" lIns="91425" tIns="91425" rIns="91425" bIns="91425" anchor="t" anchorCtr="0">
            <a:noAutofit/>
          </a:bodyPr>
          <a:lstStyle>
            <a:lvl1pPr marL="457200" marR="0" lvl="0" indent="-355600" algn="l">
              <a:lnSpc>
                <a:spcPct val="100000"/>
              </a:lnSpc>
              <a:spcBef>
                <a:spcPts val="450"/>
              </a:spcBef>
              <a:spcAft>
                <a:spcPts val="0"/>
              </a:spcAft>
              <a:buClr>
                <a:srgbClr val="404040"/>
              </a:buClr>
              <a:buSzPts val="2000"/>
              <a:buFont typeface="Arial"/>
              <a:buChar char="•"/>
              <a:defRPr sz="2000" b="0" i="0" u="none" strike="noStrike" cap="none">
                <a:solidFill>
                  <a:srgbClr val="404040"/>
                </a:solidFill>
                <a:latin typeface="Open Sans"/>
                <a:ea typeface="Open Sans"/>
                <a:cs typeface="Open Sans"/>
                <a:sym typeface="Open Sans"/>
              </a:defRPr>
            </a:lvl1pPr>
            <a:lvl2pPr marL="914400" marR="0" lvl="1" indent="-355600" algn="l">
              <a:lnSpc>
                <a:spcPct val="100000"/>
              </a:lnSpc>
              <a:spcBef>
                <a:spcPts val="450"/>
              </a:spcBef>
              <a:spcAft>
                <a:spcPts val="0"/>
              </a:spcAft>
              <a:buClr>
                <a:srgbClr val="404040"/>
              </a:buClr>
              <a:buSzPts val="2000"/>
              <a:buFont typeface="Arial"/>
              <a:buChar char="–"/>
              <a:defRPr sz="2000" b="0" i="0" u="none" strike="noStrike" cap="none">
                <a:solidFill>
                  <a:srgbClr val="404040"/>
                </a:solidFill>
                <a:latin typeface="Open Sans"/>
                <a:ea typeface="Open Sans"/>
                <a:cs typeface="Open Sans"/>
                <a:sym typeface="Open Sans"/>
              </a:defRPr>
            </a:lvl2pPr>
            <a:lvl3pPr marL="1371600" marR="0" lvl="2" indent="-342900" algn="l">
              <a:lnSpc>
                <a:spcPct val="100000"/>
              </a:lnSpc>
              <a:spcBef>
                <a:spcPts val="450"/>
              </a:spcBef>
              <a:spcAft>
                <a:spcPts val="0"/>
              </a:spcAft>
              <a:buClr>
                <a:srgbClr val="404040"/>
              </a:buClr>
              <a:buSzPts val="1800"/>
              <a:buFont typeface="Arial"/>
              <a:buChar char="•"/>
              <a:defRPr sz="1800" b="0" i="0" u="none" strike="noStrike" cap="none">
                <a:solidFill>
                  <a:srgbClr val="404040"/>
                </a:solidFill>
                <a:latin typeface="Open Sans"/>
                <a:ea typeface="Open Sans"/>
                <a:cs typeface="Open Sans"/>
                <a:sym typeface="Open Sans"/>
              </a:defRPr>
            </a:lvl3pPr>
            <a:lvl4pPr marL="1828800" marR="0" lvl="3" indent="-342900" algn="l">
              <a:lnSpc>
                <a:spcPct val="100000"/>
              </a:lnSpc>
              <a:spcBef>
                <a:spcPts val="450"/>
              </a:spcBef>
              <a:spcAft>
                <a:spcPts val="0"/>
              </a:spcAft>
              <a:buClr>
                <a:srgbClr val="404040"/>
              </a:buClr>
              <a:buSzPts val="1800"/>
              <a:buFont typeface="Arial"/>
              <a:buChar char="–"/>
              <a:defRPr sz="1800" b="0" i="0" u="none" strike="noStrike" cap="none">
                <a:solidFill>
                  <a:srgbClr val="404040"/>
                </a:solidFill>
                <a:latin typeface="Open Sans"/>
                <a:ea typeface="Open Sans"/>
                <a:cs typeface="Open Sans"/>
                <a:sym typeface="Open Sans"/>
              </a:defRPr>
            </a:lvl4pPr>
            <a:lvl5pPr marL="2286000" marR="0" lvl="4" indent="-342900" algn="l">
              <a:lnSpc>
                <a:spcPct val="100000"/>
              </a:lnSpc>
              <a:spcBef>
                <a:spcPts val="450"/>
              </a:spcBef>
              <a:spcAft>
                <a:spcPts val="0"/>
              </a:spcAft>
              <a:buClr>
                <a:srgbClr val="404040"/>
              </a:buClr>
              <a:buSzPts val="1800"/>
              <a:buFont typeface="Arial"/>
              <a:buChar char="»"/>
              <a:defRPr sz="1800" b="0" i="0" u="none" strike="noStrike" cap="none">
                <a:solidFill>
                  <a:srgbClr val="404040"/>
                </a:solidFill>
                <a:latin typeface="Open Sans"/>
                <a:ea typeface="Open Sans"/>
                <a:cs typeface="Open Sans"/>
                <a:sym typeface="Open Sans"/>
              </a:defRPr>
            </a:lvl5pPr>
            <a:lvl6pPr marL="2743200" marR="0" lvl="5" indent="-361950" algn="l">
              <a:lnSpc>
                <a:spcPct val="100000"/>
              </a:lnSpc>
              <a:spcBef>
                <a:spcPts val="450"/>
              </a:spcBef>
              <a:spcAft>
                <a:spcPts val="0"/>
              </a:spcAft>
              <a:buClr>
                <a:srgbClr val="404040"/>
              </a:buClr>
              <a:buSzPts val="2100"/>
              <a:buFont typeface="Arial"/>
              <a:buChar char="•"/>
              <a:defRPr sz="2100" b="0" i="0" u="none" strike="noStrike" cap="none">
                <a:solidFill>
                  <a:srgbClr val="404040"/>
                </a:solidFill>
                <a:latin typeface="Open Sans"/>
                <a:ea typeface="Open Sans"/>
                <a:cs typeface="Open Sans"/>
                <a:sym typeface="Open Sans"/>
              </a:defRPr>
            </a:lvl6pPr>
            <a:lvl7pPr marL="3200400" marR="0" lvl="6" indent="-361950" algn="l">
              <a:lnSpc>
                <a:spcPct val="100000"/>
              </a:lnSpc>
              <a:spcBef>
                <a:spcPts val="450"/>
              </a:spcBef>
              <a:spcAft>
                <a:spcPts val="0"/>
              </a:spcAft>
              <a:buClr>
                <a:srgbClr val="404040"/>
              </a:buClr>
              <a:buSzPts val="2100"/>
              <a:buFont typeface="Arial"/>
              <a:buChar char="•"/>
              <a:defRPr sz="2100" b="0" i="0" u="none" strike="noStrike" cap="none">
                <a:solidFill>
                  <a:srgbClr val="404040"/>
                </a:solidFill>
                <a:latin typeface="Open Sans"/>
                <a:ea typeface="Open Sans"/>
                <a:cs typeface="Open Sans"/>
                <a:sym typeface="Open Sans"/>
              </a:defRPr>
            </a:lvl7pPr>
            <a:lvl8pPr marL="3657600" marR="0" lvl="7" indent="-361950" algn="l">
              <a:lnSpc>
                <a:spcPct val="100000"/>
              </a:lnSpc>
              <a:spcBef>
                <a:spcPts val="450"/>
              </a:spcBef>
              <a:spcAft>
                <a:spcPts val="0"/>
              </a:spcAft>
              <a:buClr>
                <a:srgbClr val="404040"/>
              </a:buClr>
              <a:buSzPts val="2100"/>
              <a:buFont typeface="Arial"/>
              <a:buChar char="•"/>
              <a:defRPr sz="2100" b="0" i="0" u="none" strike="noStrike" cap="none">
                <a:solidFill>
                  <a:srgbClr val="404040"/>
                </a:solidFill>
                <a:latin typeface="Open Sans"/>
                <a:ea typeface="Open Sans"/>
                <a:cs typeface="Open Sans"/>
                <a:sym typeface="Open Sans"/>
              </a:defRPr>
            </a:lvl8pPr>
            <a:lvl9pPr marL="4114800" marR="0" lvl="8" indent="-361950" algn="l">
              <a:lnSpc>
                <a:spcPct val="100000"/>
              </a:lnSpc>
              <a:spcBef>
                <a:spcPts val="450"/>
              </a:spcBef>
              <a:spcAft>
                <a:spcPts val="0"/>
              </a:spcAft>
              <a:buClr>
                <a:srgbClr val="404040"/>
              </a:buClr>
              <a:buSzPts val="2100"/>
              <a:buFont typeface="Arial"/>
              <a:buChar char="•"/>
              <a:defRPr sz="2100" b="0" i="0" u="none" strike="noStrike" cap="none">
                <a:solidFill>
                  <a:srgbClr val="404040"/>
                </a:solidFill>
                <a:latin typeface="Open Sans"/>
                <a:ea typeface="Open Sans"/>
                <a:cs typeface="Open Sans"/>
                <a:sym typeface="Open Sans"/>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wiss-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2400250" y="575950"/>
            <a:ext cx="6321600" cy="6354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1pPr>
            <a:lvl2pPr marR="0" lvl="1"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2pPr>
            <a:lvl3pPr marR="0" lvl="2"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3pPr>
            <a:lvl4pPr marR="0" lvl="3"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4pPr>
            <a:lvl5pPr marR="0" lvl="4"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5pPr>
            <a:lvl6pPr marR="0" lvl="5"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6pPr>
            <a:lvl7pPr marR="0" lvl="6"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7pPr>
            <a:lvl8pPr marR="0" lvl="7"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8pPr>
            <a:lvl9pPr marR="0" lvl="8"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9pPr>
          </a:lstStyle>
          <a:p>
            <a:endParaRPr/>
          </a:p>
        </p:txBody>
      </p:sp>
      <p:sp>
        <p:nvSpPr>
          <p:cNvPr id="52" name="Google Shape;52;p13"/>
          <p:cNvSpPr txBox="1">
            <a:spLocks noGrp="1"/>
          </p:cNvSpPr>
          <p:nvPr>
            <p:ph type="body" idx="1"/>
          </p:nvPr>
        </p:nvSpPr>
        <p:spPr>
          <a:xfrm>
            <a:off x="2410112" y="1595776"/>
            <a:ext cx="6321600" cy="3002400"/>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chemeClr val="dk2"/>
              </a:buClr>
              <a:buSzPts val="1800"/>
              <a:buFont typeface="Inter"/>
              <a:buChar char="●"/>
              <a:defRPr sz="1800" b="0" i="0" u="none" strike="noStrike" cap="none">
                <a:solidFill>
                  <a:schemeClr val="dk2"/>
                </a:solidFill>
                <a:latin typeface="Inter"/>
                <a:ea typeface="Inter"/>
                <a:cs typeface="Inter"/>
                <a:sym typeface="Inter"/>
              </a:defRPr>
            </a:lvl1pPr>
            <a:lvl2pPr marL="914400" marR="0" lvl="1" indent="-317500" algn="l">
              <a:lnSpc>
                <a:spcPct val="115000"/>
              </a:lnSpc>
              <a:spcBef>
                <a:spcPts val="1600"/>
              </a:spcBef>
              <a:spcAft>
                <a:spcPts val="0"/>
              </a:spcAft>
              <a:buClr>
                <a:schemeClr val="dk2"/>
              </a:buClr>
              <a:buSzPts val="1400"/>
              <a:buFont typeface="Inter"/>
              <a:buChar char="○"/>
              <a:defRPr sz="1400" b="0" i="0" u="none" strike="noStrike" cap="none">
                <a:solidFill>
                  <a:schemeClr val="dk2"/>
                </a:solidFill>
                <a:latin typeface="Inter"/>
                <a:ea typeface="Inter"/>
                <a:cs typeface="Inter"/>
                <a:sym typeface="Inter"/>
              </a:defRPr>
            </a:lvl2pPr>
            <a:lvl3pPr marL="1371600" marR="0" lvl="2" indent="-317500" algn="l">
              <a:lnSpc>
                <a:spcPct val="115000"/>
              </a:lnSpc>
              <a:spcBef>
                <a:spcPts val="1600"/>
              </a:spcBef>
              <a:spcAft>
                <a:spcPts val="0"/>
              </a:spcAft>
              <a:buClr>
                <a:schemeClr val="dk2"/>
              </a:buClr>
              <a:buSzPts val="1400"/>
              <a:buFont typeface="Inter"/>
              <a:buChar char="■"/>
              <a:defRPr sz="1400" b="0" i="0" u="none" strike="noStrike" cap="none">
                <a:solidFill>
                  <a:schemeClr val="dk2"/>
                </a:solidFill>
                <a:latin typeface="Inter"/>
                <a:ea typeface="Inter"/>
                <a:cs typeface="Inter"/>
                <a:sym typeface="Inter"/>
              </a:defRPr>
            </a:lvl3pPr>
            <a:lvl4pPr marL="1828800" marR="0" lvl="3" indent="-317500" algn="l">
              <a:lnSpc>
                <a:spcPct val="115000"/>
              </a:lnSpc>
              <a:spcBef>
                <a:spcPts val="1600"/>
              </a:spcBef>
              <a:spcAft>
                <a:spcPts val="0"/>
              </a:spcAft>
              <a:buClr>
                <a:schemeClr val="dk2"/>
              </a:buClr>
              <a:buSzPts val="1400"/>
              <a:buFont typeface="Inter"/>
              <a:buChar char="●"/>
              <a:defRPr sz="1400" b="0" i="0" u="none" strike="noStrike" cap="none">
                <a:solidFill>
                  <a:schemeClr val="dk2"/>
                </a:solidFill>
                <a:latin typeface="Inter"/>
                <a:ea typeface="Inter"/>
                <a:cs typeface="Inter"/>
                <a:sym typeface="Inter"/>
              </a:defRPr>
            </a:lvl4pPr>
            <a:lvl5pPr marL="2286000" marR="0" lvl="4" indent="-317500" algn="l">
              <a:lnSpc>
                <a:spcPct val="115000"/>
              </a:lnSpc>
              <a:spcBef>
                <a:spcPts val="1600"/>
              </a:spcBef>
              <a:spcAft>
                <a:spcPts val="0"/>
              </a:spcAft>
              <a:buClr>
                <a:schemeClr val="dk2"/>
              </a:buClr>
              <a:buSzPts val="1400"/>
              <a:buFont typeface="Inter"/>
              <a:buChar char="○"/>
              <a:defRPr sz="1400" b="0" i="0" u="none" strike="noStrike" cap="none">
                <a:solidFill>
                  <a:schemeClr val="dk2"/>
                </a:solidFill>
                <a:latin typeface="Inter"/>
                <a:ea typeface="Inter"/>
                <a:cs typeface="Inter"/>
                <a:sym typeface="Inter"/>
              </a:defRPr>
            </a:lvl5pPr>
            <a:lvl6pPr marL="2743200" marR="0" lvl="5" indent="-317500" algn="l">
              <a:lnSpc>
                <a:spcPct val="115000"/>
              </a:lnSpc>
              <a:spcBef>
                <a:spcPts val="1600"/>
              </a:spcBef>
              <a:spcAft>
                <a:spcPts val="0"/>
              </a:spcAft>
              <a:buClr>
                <a:schemeClr val="dk2"/>
              </a:buClr>
              <a:buSzPts val="1400"/>
              <a:buFont typeface="Inter"/>
              <a:buChar char="■"/>
              <a:defRPr sz="1400" b="0" i="0" u="none" strike="noStrike" cap="none">
                <a:solidFill>
                  <a:schemeClr val="dk2"/>
                </a:solidFill>
                <a:latin typeface="Inter"/>
                <a:ea typeface="Inter"/>
                <a:cs typeface="Inter"/>
                <a:sym typeface="Inter"/>
              </a:defRPr>
            </a:lvl6pPr>
            <a:lvl7pPr marL="3200400" marR="0" lvl="6" indent="-317500" algn="l">
              <a:lnSpc>
                <a:spcPct val="115000"/>
              </a:lnSpc>
              <a:spcBef>
                <a:spcPts val="1600"/>
              </a:spcBef>
              <a:spcAft>
                <a:spcPts val="0"/>
              </a:spcAft>
              <a:buClr>
                <a:schemeClr val="dk2"/>
              </a:buClr>
              <a:buSzPts val="1400"/>
              <a:buFont typeface="Inter"/>
              <a:buChar char="●"/>
              <a:defRPr sz="1400" b="0" i="0" u="none" strike="noStrike" cap="none">
                <a:solidFill>
                  <a:schemeClr val="dk2"/>
                </a:solidFill>
                <a:latin typeface="Inter"/>
                <a:ea typeface="Inter"/>
                <a:cs typeface="Inter"/>
                <a:sym typeface="Inter"/>
              </a:defRPr>
            </a:lvl7pPr>
            <a:lvl8pPr marL="3657600" marR="0" lvl="7" indent="-317500" algn="l">
              <a:lnSpc>
                <a:spcPct val="115000"/>
              </a:lnSpc>
              <a:spcBef>
                <a:spcPts val="1600"/>
              </a:spcBef>
              <a:spcAft>
                <a:spcPts val="0"/>
              </a:spcAft>
              <a:buClr>
                <a:schemeClr val="dk2"/>
              </a:buClr>
              <a:buSzPts val="1400"/>
              <a:buFont typeface="Inter"/>
              <a:buChar char="○"/>
              <a:defRPr sz="1400" b="0" i="0" u="none" strike="noStrike" cap="none">
                <a:solidFill>
                  <a:schemeClr val="dk2"/>
                </a:solidFill>
                <a:latin typeface="Inter"/>
                <a:ea typeface="Inter"/>
                <a:cs typeface="Inter"/>
                <a:sym typeface="Inter"/>
              </a:defRPr>
            </a:lvl8pPr>
            <a:lvl9pPr marL="4114800" marR="0" lvl="8" indent="-317500" algn="l">
              <a:lnSpc>
                <a:spcPct val="115000"/>
              </a:lnSpc>
              <a:spcBef>
                <a:spcPts val="1600"/>
              </a:spcBef>
              <a:spcAft>
                <a:spcPts val="1600"/>
              </a:spcAft>
              <a:buClr>
                <a:schemeClr val="dk2"/>
              </a:buClr>
              <a:buSzPts val="1400"/>
              <a:buFont typeface="Inter"/>
              <a:buChar char="■"/>
              <a:defRPr sz="1400" b="0" i="0" u="none" strike="noStrike" cap="none">
                <a:solidFill>
                  <a:schemeClr val="dk2"/>
                </a:solidFill>
                <a:latin typeface="Inter"/>
                <a:ea typeface="Inter"/>
                <a:cs typeface="Inter"/>
                <a:sym typeface="Inter"/>
              </a:defRPr>
            </a:lvl9pPr>
          </a:lstStyle>
          <a:p>
            <a:endParaRPr/>
          </a:p>
        </p:txBody>
      </p:sp>
      <p:sp>
        <p:nvSpPr>
          <p:cNvPr id="53" name="Google Shape;53;p13"/>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2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8.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8.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28.xml"/><Relationship Id="rId5" Type="http://schemas.openxmlformats.org/officeDocument/2006/relationships/image" Target="../media/image15.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28.xml"/><Relationship Id="rId5" Type="http://schemas.openxmlformats.org/officeDocument/2006/relationships/image" Target="../media/image18.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8.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13.xml"/><Relationship Id="rId1" Type="http://schemas.openxmlformats.org/officeDocument/2006/relationships/slideLayout" Target="../slideLayouts/slideLayout28.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28.xml"/><Relationship Id="rId4" Type="http://schemas.openxmlformats.org/officeDocument/2006/relationships/image" Target="../media/image28.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sp>
        <p:nvSpPr>
          <p:cNvPr id="139" name="Google Shape;139;p31"/>
          <p:cNvSpPr/>
          <p:nvPr/>
        </p:nvSpPr>
        <p:spPr>
          <a:xfrm>
            <a:off x="3181091" y="3340431"/>
            <a:ext cx="3479400" cy="1552200"/>
          </a:xfrm>
          <a:prstGeom prst="rect">
            <a:avLst/>
          </a:prstGeom>
          <a:noFill/>
          <a:ln>
            <a:noFill/>
          </a:ln>
        </p:spPr>
        <p:txBody>
          <a:bodyPr spcFirstLastPara="1" wrap="square" lIns="34275" tIns="34275" rIns="34275" bIns="34275" anchor="t" anchorCtr="0">
            <a:noAutofit/>
          </a:bodyPr>
          <a:lstStyle/>
          <a:p>
            <a:pPr marL="0" marR="0" lvl="0" indent="0" algn="ctr" rtl="0">
              <a:lnSpc>
                <a:spcPct val="100000"/>
              </a:lnSpc>
              <a:spcBef>
                <a:spcPts val="0"/>
              </a:spcBef>
              <a:spcAft>
                <a:spcPts val="0"/>
              </a:spcAft>
              <a:buClr>
                <a:srgbClr val="000000"/>
              </a:buClr>
              <a:buSzPts val="1400"/>
              <a:buFont typeface="Open Sans"/>
              <a:buNone/>
            </a:pPr>
            <a:endParaRPr lang="en" dirty="0">
              <a:latin typeface="Open Sans SemiBold"/>
              <a:ea typeface="Open Sans SemiBold"/>
              <a:cs typeface="Open Sans SemiBold"/>
              <a:sym typeface="Open Sans SemiBold"/>
            </a:endParaRPr>
          </a:p>
          <a:p>
            <a:pPr marL="0" marR="0" lvl="0" indent="0" algn="ctr" rtl="0">
              <a:lnSpc>
                <a:spcPct val="100000"/>
              </a:lnSpc>
              <a:spcBef>
                <a:spcPts val="0"/>
              </a:spcBef>
              <a:spcAft>
                <a:spcPts val="0"/>
              </a:spcAft>
              <a:buClr>
                <a:srgbClr val="000000"/>
              </a:buClr>
              <a:buSzPts val="1400"/>
              <a:buFont typeface="Open Sans"/>
              <a:buNone/>
            </a:pPr>
            <a:r>
              <a:rPr lang="en" dirty="0">
                <a:latin typeface="Open Sans SemiBold"/>
                <a:ea typeface="Open Sans SemiBold"/>
                <a:cs typeface="Open Sans SemiBold"/>
                <a:sym typeface="Open Sans SemiBold"/>
              </a:rPr>
              <a:t>Jack Lasota</a:t>
            </a:r>
            <a:endParaRPr sz="1400" b="0" i="0" u="none" strike="noStrike" cap="none" dirty="0">
              <a:solidFill>
                <a:srgbClr val="000000"/>
              </a:solidFill>
              <a:latin typeface="Open Sans SemiBold"/>
              <a:ea typeface="Open Sans SemiBold"/>
              <a:cs typeface="Open Sans SemiBold"/>
              <a:sym typeface="Open Sans SemiBold"/>
            </a:endParaRPr>
          </a:p>
          <a:p>
            <a:pPr marL="0" marR="0" lvl="0" indent="0" algn="ctr" rtl="0">
              <a:lnSpc>
                <a:spcPct val="100000"/>
              </a:lnSpc>
              <a:spcBef>
                <a:spcPts val="0"/>
              </a:spcBef>
              <a:spcAft>
                <a:spcPts val="0"/>
              </a:spcAft>
              <a:buClr>
                <a:srgbClr val="000000"/>
              </a:buClr>
              <a:buSzPts val="1400"/>
              <a:buFont typeface="Open Sans"/>
              <a:buNone/>
            </a:pPr>
            <a:r>
              <a:rPr lang="en" sz="1400" b="0" i="0" u="none" strike="noStrike" cap="none" dirty="0">
                <a:solidFill>
                  <a:srgbClr val="000000"/>
                </a:solidFill>
                <a:latin typeface="Open Sans"/>
                <a:ea typeface="Open Sans"/>
                <a:cs typeface="Open Sans"/>
                <a:sym typeface="Open Sans"/>
              </a:rPr>
              <a:t>Pittsburgh Supercomputing Center (PSC)</a:t>
            </a:r>
            <a:endParaRPr sz="1400" b="0" i="0" u="none" strike="noStrike" cap="none" dirty="0">
              <a:solidFill>
                <a:srgbClr val="000000"/>
              </a:solidFill>
              <a:latin typeface="Open Sans"/>
              <a:ea typeface="Open Sans"/>
              <a:cs typeface="Open Sans"/>
              <a:sym typeface="Open Sans"/>
            </a:endParaRPr>
          </a:p>
          <a:p>
            <a:pPr marL="0" marR="0" lvl="0" indent="0" algn="ctr" rtl="0">
              <a:lnSpc>
                <a:spcPct val="100000"/>
              </a:lnSpc>
              <a:spcBef>
                <a:spcPts val="0"/>
              </a:spcBef>
              <a:spcAft>
                <a:spcPts val="0"/>
              </a:spcAft>
              <a:buClr>
                <a:srgbClr val="000000"/>
              </a:buClr>
              <a:buSzPts val="1400"/>
              <a:buFont typeface="Open Sans"/>
              <a:buNone/>
            </a:pPr>
            <a:r>
              <a:rPr lang="en" sz="1400" b="0" i="0" u="none" strike="noStrike" cap="none" dirty="0">
                <a:solidFill>
                  <a:srgbClr val="000000"/>
                </a:solidFill>
                <a:latin typeface="Open Sans"/>
                <a:ea typeface="Open Sans"/>
                <a:cs typeface="Open Sans"/>
                <a:sym typeface="Open Sans"/>
              </a:rPr>
              <a:t>Carnegie Mellon University / University of Pittsburgh</a:t>
            </a:r>
            <a:endParaRPr sz="1400" b="0" i="0" u="none" strike="noStrike" cap="none" dirty="0">
              <a:solidFill>
                <a:srgbClr val="000000"/>
              </a:solidFill>
              <a:latin typeface="Open Sans"/>
              <a:ea typeface="Open Sans"/>
              <a:cs typeface="Open Sans"/>
              <a:sym typeface="Open Sans"/>
            </a:endParaRPr>
          </a:p>
        </p:txBody>
      </p:sp>
      <p:sp>
        <p:nvSpPr>
          <p:cNvPr id="140" name="Google Shape;140;p31"/>
          <p:cNvSpPr txBox="1">
            <a:spLocks noGrp="1"/>
          </p:cNvSpPr>
          <p:nvPr>
            <p:ph type="title"/>
          </p:nvPr>
        </p:nvSpPr>
        <p:spPr>
          <a:xfrm>
            <a:off x="999241" y="1371818"/>
            <a:ext cx="7843100" cy="1612800"/>
          </a:xfrm>
          <a:prstGeom prst="rect">
            <a:avLst/>
          </a:prstGeom>
          <a:no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BB0000"/>
              </a:buClr>
              <a:buSzPts val="3280"/>
              <a:buFont typeface="Open Sans"/>
              <a:buNone/>
            </a:pPr>
            <a:br>
              <a:rPr lang="en" sz="3800" dirty="0">
                <a:solidFill>
                  <a:srgbClr val="BB002A"/>
                </a:solidFill>
              </a:rPr>
            </a:br>
            <a:r>
              <a:rPr lang="en" sz="3800" dirty="0">
                <a:solidFill>
                  <a:srgbClr val="BB002A"/>
                </a:solidFill>
              </a:rPr>
              <a:t>Integrating and Interpreting Single-Cell Datasets</a:t>
            </a:r>
            <a:endParaRPr b="0" i="1" u="none" strike="noStrike" cap="none" dirty="0">
              <a:solidFill>
                <a:srgbClr val="BB002A"/>
              </a:solidFill>
              <a:latin typeface="Open Sans"/>
              <a:ea typeface="Open Sans"/>
              <a:cs typeface="Open Sans"/>
              <a:sym typeface="Open Sans"/>
            </a:endParaRPr>
          </a:p>
        </p:txBody>
      </p:sp>
      <p:sp>
        <p:nvSpPr>
          <p:cNvPr id="142" name="Google Shape;142;p31"/>
          <p:cNvSpPr txBox="1">
            <a:spLocks noGrp="1"/>
          </p:cNvSpPr>
          <p:nvPr>
            <p:ph type="sldNum" idx="12"/>
          </p:nvPr>
        </p:nvSpPr>
        <p:spPr>
          <a:xfrm>
            <a:off x="362847" y="4831131"/>
            <a:ext cx="1761300" cy="123000"/>
          </a:xfrm>
          <a:prstGeom prst="rect">
            <a:avLst/>
          </a:prstGeom>
          <a:solidFill>
            <a:srgbClr val="FFFFFF"/>
          </a:solidFill>
          <a:ln>
            <a:noFill/>
          </a:ln>
        </p:spPr>
        <p:txBody>
          <a:bodyPr spcFirstLastPara="1" wrap="square" lIns="0" tIns="0" rIns="0" bIns="0" anchor="b" anchorCtr="0">
            <a:noAutofit/>
          </a:bodyPr>
          <a:lstStyle/>
          <a:p>
            <a:pPr marL="0" lvl="0" indent="0" algn="l" rtl="0">
              <a:lnSpc>
                <a:spcPct val="100000"/>
              </a:lnSpc>
              <a:spcBef>
                <a:spcPts val="0"/>
              </a:spcBef>
              <a:spcAft>
                <a:spcPts val="0"/>
              </a:spcAft>
              <a:buClr>
                <a:srgbClr val="404040"/>
              </a:buClr>
              <a:buSzPts val="800"/>
              <a:buFont typeface="Open Sans"/>
              <a:buNone/>
            </a:pPr>
            <a:fld id="{00000000-1234-1234-1234-123412341234}" type="slidenum">
              <a:rPr lang="en"/>
              <a:t>1</a:t>
            </a:fld>
            <a:endParaRPr/>
          </a:p>
        </p:txBody>
      </p:sp>
      <p:pic>
        <p:nvPicPr>
          <p:cNvPr id="143" name="Google Shape;143;p31"/>
          <p:cNvPicPr preferRelativeResize="0"/>
          <p:nvPr/>
        </p:nvPicPr>
        <p:blipFill rotWithShape="1">
          <a:blip r:embed="rId3">
            <a:alphaModFix/>
          </a:blip>
          <a:srcRect/>
          <a:stretch/>
        </p:blipFill>
        <p:spPr>
          <a:xfrm>
            <a:off x="0" y="1138106"/>
            <a:ext cx="1430850" cy="369302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Google Shape;148;p32"/>
          <p:cNvSpPr txBox="1">
            <a:spLocks noGrp="1"/>
          </p:cNvSpPr>
          <p:nvPr>
            <p:ph type="title"/>
          </p:nvPr>
        </p:nvSpPr>
        <p:spPr>
          <a:xfrm>
            <a:off x="1292720" y="2254050"/>
            <a:ext cx="6558559" cy="6354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000"/>
              <a:buNone/>
            </a:pPr>
            <a:r>
              <a:rPr lang="en" b="1" dirty="0">
                <a:latin typeface="Open Sans" panose="020B0606030504020204" pitchFamily="34" charset="0"/>
                <a:ea typeface="Open Sans" panose="020B0606030504020204" pitchFamily="34" charset="0"/>
                <a:cs typeface="Open Sans" panose="020B0606030504020204" pitchFamily="34" charset="0"/>
              </a:rPr>
              <a:t>Project Overview &amp; Background</a:t>
            </a:r>
            <a:endParaRPr b="1" dirty="0">
              <a:latin typeface="Open Sans" panose="020B0606030504020204" pitchFamily="34" charset="0"/>
              <a:ea typeface="Open Sans" panose="020B0606030504020204" pitchFamily="34" charset="0"/>
              <a:cs typeface="Open Sans" panose="020B060603050402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74DC1A-BADD-CF90-9A1A-1CA771AB7C33}"/>
              </a:ext>
            </a:extLst>
          </p:cNvPr>
          <p:cNvSpPr>
            <a:spLocks noGrp="1"/>
          </p:cNvSpPr>
          <p:nvPr>
            <p:ph type="title"/>
          </p:nvPr>
        </p:nvSpPr>
        <p:spPr/>
        <p:txBody>
          <a:bodyPr/>
          <a:lstStyle/>
          <a:p>
            <a:r>
              <a:rPr lang="en-US" dirty="0"/>
              <a:t>Pittsburgh Supercomputing Center (PSC)</a:t>
            </a:r>
          </a:p>
        </p:txBody>
      </p:sp>
      <p:sp>
        <p:nvSpPr>
          <p:cNvPr id="3" name="Text Placeholder 2">
            <a:extLst>
              <a:ext uri="{FF2B5EF4-FFF2-40B4-BE49-F238E27FC236}">
                <a16:creationId xmlns:a16="http://schemas.microsoft.com/office/drawing/2014/main" id="{DE0D0A49-1DEB-AD0F-AE9B-B0BC510BFD3F}"/>
              </a:ext>
            </a:extLst>
          </p:cNvPr>
          <p:cNvSpPr>
            <a:spLocks noGrp="1"/>
          </p:cNvSpPr>
          <p:nvPr>
            <p:ph type="body" idx="1"/>
          </p:nvPr>
        </p:nvSpPr>
        <p:spPr>
          <a:xfrm>
            <a:off x="161365" y="771449"/>
            <a:ext cx="5204011" cy="3827446"/>
          </a:xfrm>
        </p:spPr>
        <p:txBody>
          <a:bodyPr/>
          <a:lstStyle/>
          <a:p>
            <a:r>
              <a:rPr lang="en-US" sz="1600" dirty="0">
                <a:solidFill>
                  <a:schemeClr val="bg2"/>
                </a:solidFill>
              </a:rPr>
              <a:t>Jointly operated by Carnegie Mellon University &amp; University of Pittsburgh.</a:t>
            </a:r>
          </a:p>
          <a:p>
            <a:r>
              <a:rPr lang="en-US" sz="1600" dirty="0">
                <a:solidFill>
                  <a:schemeClr val="bg2"/>
                </a:solidFill>
              </a:rPr>
              <a:t>Provides high-performance computing and networking for university, government, and industry researchers.</a:t>
            </a:r>
          </a:p>
          <a:p>
            <a:r>
              <a:rPr lang="en-US" sz="1600" dirty="0">
                <a:solidFill>
                  <a:schemeClr val="bg2"/>
                </a:solidFill>
              </a:rPr>
              <a:t>Powers computation-heavy research in:</a:t>
            </a:r>
          </a:p>
          <a:p>
            <a:pPr lvl="1"/>
            <a:r>
              <a:rPr lang="en-US" sz="1600" dirty="0">
                <a:solidFill>
                  <a:schemeClr val="bg2"/>
                </a:solidFill>
              </a:rPr>
              <a:t>Data analytics, machine learning, AI &amp; deep learning.</a:t>
            </a:r>
          </a:p>
          <a:p>
            <a:pPr lvl="1"/>
            <a:r>
              <a:rPr lang="en-US" sz="1600" dirty="0">
                <a:solidFill>
                  <a:schemeClr val="bg2"/>
                </a:solidFill>
              </a:rPr>
              <a:t>Biomolecular simulation and scientific discovery.</a:t>
            </a:r>
          </a:p>
          <a:p>
            <a:r>
              <a:rPr lang="en-US" sz="1600" dirty="0">
                <a:solidFill>
                  <a:schemeClr val="bg2"/>
                </a:solidFill>
              </a:rPr>
              <a:t>Premier supercomputers include Bridges-2 &amp; Anton.</a:t>
            </a:r>
          </a:p>
        </p:txBody>
      </p:sp>
      <p:sp>
        <p:nvSpPr>
          <p:cNvPr id="4" name="Rectangle 3">
            <a:extLst>
              <a:ext uri="{FF2B5EF4-FFF2-40B4-BE49-F238E27FC236}">
                <a16:creationId xmlns:a16="http://schemas.microsoft.com/office/drawing/2014/main" id="{DF43272A-CD5B-CE46-1926-0715167792B8}"/>
              </a:ext>
            </a:extLst>
          </p:cNvPr>
          <p:cNvSpPr/>
          <p:nvPr/>
        </p:nvSpPr>
        <p:spPr>
          <a:xfrm>
            <a:off x="5583140" y="1417786"/>
            <a:ext cx="3211235" cy="22991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Picture 4">
            <a:extLst>
              <a:ext uri="{FF2B5EF4-FFF2-40B4-BE49-F238E27FC236}">
                <a16:creationId xmlns:a16="http://schemas.microsoft.com/office/drawing/2014/main" id="{FDD0BEE6-023C-2F88-8D37-48C89C6D3091}"/>
              </a:ext>
            </a:extLst>
          </p:cNvPr>
          <p:cNvPicPr>
            <a:picLocks noChangeAspect="1"/>
          </p:cNvPicPr>
          <p:nvPr/>
        </p:nvPicPr>
        <p:blipFill>
          <a:blip r:embed="rId3"/>
          <a:stretch>
            <a:fillRect/>
          </a:stretch>
        </p:blipFill>
        <p:spPr>
          <a:xfrm>
            <a:off x="5640400" y="1525363"/>
            <a:ext cx="3086879" cy="2092773"/>
          </a:xfrm>
          <a:prstGeom prst="rect">
            <a:avLst/>
          </a:prstGeom>
          <a:effectLst>
            <a:softEdge rad="25400"/>
          </a:effectLst>
        </p:spPr>
      </p:pic>
    </p:spTree>
    <p:extLst>
      <p:ext uri="{BB962C8B-B14F-4D97-AF65-F5344CB8AC3E}">
        <p14:creationId xmlns:p14="http://schemas.microsoft.com/office/powerpoint/2010/main" val="10984283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5" name="Google Shape;155;p33"/>
          <p:cNvSpPr txBox="1">
            <a:spLocks noGrp="1"/>
          </p:cNvSpPr>
          <p:nvPr>
            <p:ph type="title"/>
          </p:nvPr>
        </p:nvSpPr>
        <p:spPr>
          <a:xfrm>
            <a:off x="0" y="-1"/>
            <a:ext cx="9144000" cy="601500"/>
          </a:xfrm>
          <a:prstGeom prst="rect">
            <a:avLst/>
          </a:prstGeom>
          <a:solidFill>
            <a:srgbClr val="0075AF"/>
          </a:solidFill>
          <a:ln>
            <a:noFill/>
          </a:ln>
        </p:spPr>
        <p:txBody>
          <a:bodyPr spcFirstLastPara="1" wrap="square" lIns="91425" tIns="91425" rIns="91425" bIns="91425" anchor="ctr" anchorCtr="0">
            <a:noAutofit/>
          </a:bodyPr>
          <a:lstStyle/>
          <a:p>
            <a:pPr marL="0" lvl="0" indent="0" algn="ctr" rtl="0">
              <a:lnSpc>
                <a:spcPct val="150000"/>
              </a:lnSpc>
              <a:spcBef>
                <a:spcPts val="0"/>
              </a:spcBef>
              <a:spcAft>
                <a:spcPts val="0"/>
              </a:spcAft>
              <a:buSzPts val="2700"/>
              <a:buNone/>
            </a:pPr>
            <a:r>
              <a:rPr lang="en" dirty="0"/>
              <a:t>From Raw Data to Integration: Project Goals &amp; Tools</a:t>
            </a:r>
            <a:endParaRPr dirty="0"/>
          </a:p>
        </p:txBody>
      </p:sp>
      <p:sp>
        <p:nvSpPr>
          <p:cNvPr id="156" name="Google Shape;156;p33"/>
          <p:cNvSpPr txBox="1">
            <a:spLocks noGrp="1"/>
          </p:cNvSpPr>
          <p:nvPr>
            <p:ph type="body" idx="1"/>
          </p:nvPr>
        </p:nvSpPr>
        <p:spPr>
          <a:xfrm>
            <a:off x="149067" y="601499"/>
            <a:ext cx="8845866" cy="3690136"/>
          </a:xfrm>
          <a:prstGeom prst="rect">
            <a:avLst/>
          </a:prstGeom>
          <a:noFill/>
          <a:ln>
            <a:noFill/>
          </a:ln>
        </p:spPr>
        <p:txBody>
          <a:bodyPr spcFirstLastPara="1" wrap="square" lIns="91425" tIns="91425" rIns="91425" bIns="91425" anchor="t" anchorCtr="0">
            <a:noAutofit/>
          </a:bodyPr>
          <a:lstStyle/>
          <a:p>
            <a:r>
              <a:rPr lang="en-US" sz="1600" b="1" dirty="0">
                <a:solidFill>
                  <a:schemeClr val="bg2"/>
                </a:solidFill>
              </a:rPr>
              <a:t>Objective:</a:t>
            </a:r>
            <a:r>
              <a:rPr lang="en-US" sz="1600" dirty="0">
                <a:solidFill>
                  <a:schemeClr val="bg2"/>
                </a:solidFill>
              </a:rPr>
              <a:t>  Create and utilize pipelines to process and output large-scale biological data, along with providing accessible tools for its interpretation.</a:t>
            </a:r>
          </a:p>
          <a:p>
            <a:endParaRPr lang="en-US" sz="1600" b="1" dirty="0">
              <a:solidFill>
                <a:schemeClr val="bg2"/>
              </a:solidFill>
            </a:endParaRPr>
          </a:p>
          <a:p>
            <a:r>
              <a:rPr lang="en-US" sz="1600" b="1" dirty="0">
                <a:solidFill>
                  <a:schemeClr val="bg2"/>
                </a:solidFill>
              </a:rPr>
              <a:t>Standardization:</a:t>
            </a:r>
            <a:r>
              <a:rPr lang="en-US" sz="1600" dirty="0">
                <a:solidFill>
                  <a:schemeClr val="bg2"/>
                </a:solidFill>
              </a:rPr>
              <a:t> Uniformly process data so results are comparable across datasets and tissue types.</a:t>
            </a:r>
          </a:p>
          <a:p>
            <a:endParaRPr lang="en-US" sz="1600" b="1" dirty="0">
              <a:solidFill>
                <a:schemeClr val="bg2"/>
              </a:solidFill>
            </a:endParaRPr>
          </a:p>
          <a:p>
            <a:r>
              <a:rPr lang="en-US" sz="1600" b="1" dirty="0">
                <a:solidFill>
                  <a:schemeClr val="bg2"/>
                </a:solidFill>
              </a:rPr>
              <a:t>Tools: </a:t>
            </a:r>
            <a:r>
              <a:rPr lang="en-US" sz="1600" dirty="0">
                <a:solidFill>
                  <a:schemeClr val="bg2"/>
                </a:solidFill>
              </a:rPr>
              <a:t>Use Python (</a:t>
            </a:r>
            <a:r>
              <a:rPr lang="en-US" sz="1600" dirty="0" err="1">
                <a:solidFill>
                  <a:schemeClr val="bg2"/>
                </a:solidFill>
              </a:rPr>
              <a:t>Jupyter</a:t>
            </a:r>
            <a:r>
              <a:rPr lang="en-US" sz="1600" dirty="0">
                <a:solidFill>
                  <a:schemeClr val="bg2"/>
                </a:solidFill>
              </a:rPr>
              <a:t> notebook), along with open-source tools such as Scanpy (Python toolkit), and </a:t>
            </a:r>
            <a:r>
              <a:rPr lang="en-US" sz="1600" dirty="0" err="1">
                <a:solidFill>
                  <a:schemeClr val="bg2"/>
                </a:solidFill>
              </a:rPr>
              <a:t>AnnData</a:t>
            </a:r>
            <a:r>
              <a:rPr lang="en-US" sz="1600" dirty="0">
                <a:solidFill>
                  <a:schemeClr val="bg2"/>
                </a:solidFill>
              </a:rPr>
              <a:t> (Python data structure).</a:t>
            </a:r>
          </a:p>
          <a:p>
            <a:endParaRPr lang="en-US" sz="1600" b="1" dirty="0">
              <a:solidFill>
                <a:schemeClr val="bg2"/>
              </a:solidFill>
            </a:endParaRPr>
          </a:p>
          <a:p>
            <a:pPr>
              <a:buClr>
                <a:schemeClr val="bg2"/>
              </a:buClr>
            </a:pPr>
            <a:r>
              <a:rPr lang="en-US" sz="1600" b="1" dirty="0">
                <a:solidFill>
                  <a:schemeClr val="bg2"/>
                </a:solidFill>
              </a:rPr>
              <a:t>Environment:</a:t>
            </a:r>
            <a:r>
              <a:rPr lang="en-US" sz="1600" dirty="0">
                <a:solidFill>
                  <a:schemeClr val="bg2"/>
                </a:solidFill>
              </a:rPr>
              <a:t> All computation is run in high-performance UNIX environments, available at PSC.</a:t>
            </a:r>
          </a:p>
          <a:p>
            <a:endParaRPr lang="en-US" sz="1600" b="1" dirty="0">
              <a:solidFill>
                <a:schemeClr val="bg2"/>
              </a:solidFill>
            </a:endParaRPr>
          </a:p>
          <a:p>
            <a:r>
              <a:rPr lang="en-US" sz="1600" b="1" dirty="0">
                <a:solidFill>
                  <a:schemeClr val="bg2"/>
                </a:solidFill>
              </a:rPr>
              <a:t>Products:</a:t>
            </a:r>
            <a:r>
              <a:rPr lang="en-US" sz="1600" dirty="0">
                <a:solidFill>
                  <a:schemeClr val="bg2"/>
                </a:solidFill>
              </a:rPr>
              <a:t> Strive for outputs that are clean, structured datasets ready to be explored, visualized, or annotated.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3132D9B-C05B-0465-C587-A2DDA1BF3ADA}"/>
              </a:ext>
            </a:extLst>
          </p:cNvPr>
          <p:cNvSpPr/>
          <p:nvPr/>
        </p:nvSpPr>
        <p:spPr>
          <a:xfrm>
            <a:off x="3485271" y="799244"/>
            <a:ext cx="5564460" cy="354501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screenshot of a graph&#10;&#10;AI-generated content may be incorrect.">
            <a:extLst>
              <a:ext uri="{FF2B5EF4-FFF2-40B4-BE49-F238E27FC236}">
                <a16:creationId xmlns:a16="http://schemas.microsoft.com/office/drawing/2014/main" id="{68FDAE75-81CD-0D9A-C4C5-A3D410E2DD29}"/>
              </a:ext>
            </a:extLst>
          </p:cNvPr>
          <p:cNvPicPr>
            <a:picLocks noChangeAspect="1"/>
          </p:cNvPicPr>
          <p:nvPr/>
        </p:nvPicPr>
        <p:blipFill>
          <a:blip r:embed="rId3"/>
          <a:stretch>
            <a:fillRect/>
          </a:stretch>
        </p:blipFill>
        <p:spPr>
          <a:xfrm>
            <a:off x="3649261" y="887145"/>
            <a:ext cx="5246410" cy="2742069"/>
          </a:xfrm>
          <a:prstGeom prst="rect">
            <a:avLst/>
          </a:prstGeom>
          <a:effectLst>
            <a:softEdge rad="38100"/>
          </a:effectLst>
        </p:spPr>
      </p:pic>
      <p:sp>
        <p:nvSpPr>
          <p:cNvPr id="2" name="Title 1">
            <a:extLst>
              <a:ext uri="{FF2B5EF4-FFF2-40B4-BE49-F238E27FC236}">
                <a16:creationId xmlns:a16="http://schemas.microsoft.com/office/drawing/2014/main" id="{4A3FDEF0-0E9E-89FE-9528-247524E878CD}"/>
              </a:ext>
            </a:extLst>
          </p:cNvPr>
          <p:cNvSpPr>
            <a:spLocks noGrp="1"/>
          </p:cNvSpPr>
          <p:nvPr>
            <p:ph type="title"/>
          </p:nvPr>
        </p:nvSpPr>
        <p:spPr/>
        <p:txBody>
          <a:bodyPr/>
          <a:lstStyle/>
          <a:p>
            <a:r>
              <a:rPr lang="en-US" dirty="0" err="1"/>
              <a:t>HuBMAP</a:t>
            </a:r>
            <a:r>
              <a:rPr lang="en-US" dirty="0"/>
              <a:t> Consortium Data Portal</a:t>
            </a:r>
          </a:p>
        </p:txBody>
      </p:sp>
      <p:sp>
        <p:nvSpPr>
          <p:cNvPr id="7" name="TextBox 6">
            <a:extLst>
              <a:ext uri="{FF2B5EF4-FFF2-40B4-BE49-F238E27FC236}">
                <a16:creationId xmlns:a16="http://schemas.microsoft.com/office/drawing/2014/main" id="{4E897383-628D-B6F7-86C1-EB41F28BEB35}"/>
              </a:ext>
            </a:extLst>
          </p:cNvPr>
          <p:cNvSpPr txBox="1"/>
          <p:nvPr/>
        </p:nvSpPr>
        <p:spPr>
          <a:xfrm>
            <a:off x="94269" y="645831"/>
            <a:ext cx="3391000" cy="4278094"/>
          </a:xfrm>
          <a:prstGeom prst="rect">
            <a:avLst/>
          </a:prstGeom>
          <a:noFill/>
        </p:spPr>
        <p:txBody>
          <a:bodyPr wrap="square" rtlCol="0">
            <a:spAutoFit/>
          </a:bodyPr>
          <a:lstStyle/>
          <a:p>
            <a:pPr marL="285750" indent="-285750">
              <a:buFont typeface="Arial" panose="020B0604020202020204" pitchFamily="34" charset="0"/>
              <a:buChar char="•"/>
            </a:pPr>
            <a:r>
              <a:rPr lang="en-US" sz="1600" b="1" dirty="0">
                <a:latin typeface="Open Sans" panose="020B0606030504020204" pitchFamily="34" charset="0"/>
                <a:ea typeface="Open Sans" panose="020B0606030504020204" pitchFamily="34" charset="0"/>
                <a:cs typeface="Open Sans" panose="020B0606030504020204" pitchFamily="34" charset="0"/>
              </a:rPr>
              <a:t>Data Portal:</a:t>
            </a:r>
            <a:r>
              <a:rPr lang="en-US" sz="1600" dirty="0">
                <a:latin typeface="Open Sans" panose="020B0606030504020204" pitchFamily="34" charset="0"/>
                <a:ea typeface="Open Sans" panose="020B0606030504020204" pitchFamily="34" charset="0"/>
                <a:cs typeface="Open Sans" panose="020B0606030504020204" pitchFamily="34" charset="0"/>
              </a:rPr>
              <a:t> Centralized access to datasets with tools for analysis and visualization.</a:t>
            </a:r>
          </a:p>
          <a:p>
            <a:pPr marL="285750" indent="-285750">
              <a:buFont typeface="Arial" panose="020B0604020202020204" pitchFamily="34" charset="0"/>
              <a:buChar char="•"/>
            </a:pPr>
            <a:endParaRPr lang="en-US" sz="1600" b="1" dirty="0">
              <a:latin typeface="Open Sans" panose="020B0606030504020204" pitchFamily="34" charset="0"/>
              <a:ea typeface="Open Sans" panose="020B0606030504020204" pitchFamily="34" charset="0"/>
              <a:cs typeface="Open Sans" panose="020B0606030504020204" pitchFamily="34" charset="0"/>
            </a:endParaRPr>
          </a:p>
          <a:p>
            <a:endParaRPr lang="en-US" sz="1600" b="1"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US" sz="1600" b="1" dirty="0">
                <a:latin typeface="Open Sans" panose="020B0606030504020204" pitchFamily="34" charset="0"/>
                <a:ea typeface="Open Sans" panose="020B0606030504020204" pitchFamily="34" charset="0"/>
                <a:cs typeface="Open Sans" panose="020B0606030504020204" pitchFamily="34" charset="0"/>
              </a:rPr>
              <a:t>Discovery:</a:t>
            </a:r>
            <a:r>
              <a:rPr lang="en-US" sz="1600" dirty="0">
                <a:latin typeface="Open Sans" panose="020B0606030504020204" pitchFamily="34" charset="0"/>
                <a:ea typeface="Open Sans" panose="020B0606030504020204" pitchFamily="34" charset="0"/>
                <a:cs typeface="Open Sans" panose="020B0606030504020204" pitchFamily="34" charset="0"/>
              </a:rPr>
              <a:t> Search or browse by organ, cell type, or molecule.</a:t>
            </a:r>
          </a:p>
          <a:p>
            <a:pPr marL="285750" indent="-285750">
              <a:buFont typeface="Arial" panose="020B0604020202020204" pitchFamily="34" charset="0"/>
              <a:buChar char="•"/>
            </a:pPr>
            <a:endParaRPr lang="en-US" sz="1600" b="1" dirty="0">
              <a:latin typeface="Open Sans" panose="020B0606030504020204" pitchFamily="34" charset="0"/>
              <a:ea typeface="Open Sans" panose="020B0606030504020204" pitchFamily="34" charset="0"/>
              <a:cs typeface="Open Sans" panose="020B0606030504020204" pitchFamily="34" charset="0"/>
            </a:endParaRPr>
          </a:p>
          <a:p>
            <a:endParaRPr lang="en-US" sz="1600" b="1"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US" sz="1600" b="1" dirty="0">
                <a:latin typeface="Open Sans" panose="020B0606030504020204" pitchFamily="34" charset="0"/>
                <a:ea typeface="Open Sans" panose="020B0606030504020204" pitchFamily="34" charset="0"/>
                <a:cs typeface="Open Sans" panose="020B0606030504020204" pitchFamily="34" charset="0"/>
              </a:rPr>
              <a:t>Visualization:</a:t>
            </a:r>
            <a:r>
              <a:rPr lang="en-US" sz="1600" dirty="0">
                <a:latin typeface="Open Sans" panose="020B0606030504020204" pitchFamily="34" charset="0"/>
                <a:ea typeface="Open Sans" panose="020B0606030504020204" pitchFamily="34" charset="0"/>
                <a:cs typeface="Open Sans" panose="020B0606030504020204" pitchFamily="34" charset="0"/>
              </a:rPr>
              <a:t> Interactive tools for spatial and single-cell data.</a:t>
            </a:r>
          </a:p>
          <a:p>
            <a:pPr marL="285750" indent="-285750">
              <a:buFont typeface="Arial" panose="020B0604020202020204" pitchFamily="34" charset="0"/>
              <a:buChar char="•"/>
            </a:pPr>
            <a:endParaRPr lang="en-US" sz="1600" b="1" dirty="0">
              <a:latin typeface="Open Sans" panose="020B0606030504020204" pitchFamily="34" charset="0"/>
              <a:ea typeface="Open Sans" panose="020B0606030504020204" pitchFamily="34" charset="0"/>
              <a:cs typeface="Open Sans" panose="020B0606030504020204" pitchFamily="34" charset="0"/>
            </a:endParaRPr>
          </a:p>
          <a:p>
            <a:endParaRPr lang="en-US" sz="1600" b="1"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US" sz="1600" b="1" dirty="0">
                <a:latin typeface="Open Sans" panose="020B0606030504020204" pitchFamily="34" charset="0"/>
                <a:ea typeface="Open Sans" panose="020B0606030504020204" pitchFamily="34" charset="0"/>
                <a:cs typeface="Open Sans" panose="020B0606030504020204" pitchFamily="34" charset="0"/>
              </a:rPr>
              <a:t>Access:</a:t>
            </a:r>
            <a:r>
              <a:rPr lang="en-US" sz="1600" dirty="0">
                <a:latin typeface="Open Sans" panose="020B0606030504020204" pitchFamily="34" charset="0"/>
                <a:ea typeface="Open Sans" panose="020B0606030504020204" pitchFamily="34" charset="0"/>
                <a:cs typeface="Open Sans" panose="020B0606030504020204" pitchFamily="34" charset="0"/>
              </a:rPr>
              <a:t> Download raw and processed datasets.</a:t>
            </a:r>
          </a:p>
        </p:txBody>
      </p:sp>
      <p:pic>
        <p:nvPicPr>
          <p:cNvPr id="9" name="Picture 8">
            <a:extLst>
              <a:ext uri="{FF2B5EF4-FFF2-40B4-BE49-F238E27FC236}">
                <a16:creationId xmlns:a16="http://schemas.microsoft.com/office/drawing/2014/main" id="{8A3BE830-49FD-7739-F496-9FDFA3CF53BA}"/>
              </a:ext>
            </a:extLst>
          </p:cNvPr>
          <p:cNvPicPr>
            <a:picLocks noChangeAspect="1"/>
          </p:cNvPicPr>
          <p:nvPr/>
        </p:nvPicPr>
        <p:blipFill>
          <a:blip r:embed="rId4"/>
          <a:stretch>
            <a:fillRect/>
          </a:stretch>
        </p:blipFill>
        <p:spPr>
          <a:xfrm>
            <a:off x="3649262" y="3629214"/>
            <a:ext cx="5246411" cy="514354"/>
          </a:xfrm>
          <a:prstGeom prst="rect">
            <a:avLst/>
          </a:prstGeom>
          <a:effectLst>
            <a:softEdge rad="38100"/>
          </a:effectLst>
        </p:spPr>
      </p:pic>
    </p:spTree>
    <p:extLst>
      <p:ext uri="{BB962C8B-B14F-4D97-AF65-F5344CB8AC3E}">
        <p14:creationId xmlns:p14="http://schemas.microsoft.com/office/powerpoint/2010/main" val="3295762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7">
          <a:extLst>
            <a:ext uri="{FF2B5EF4-FFF2-40B4-BE49-F238E27FC236}">
              <a16:creationId xmlns:a16="http://schemas.microsoft.com/office/drawing/2014/main" id="{A56A5B44-32E4-20E1-DA63-C1672EB802A2}"/>
            </a:ext>
          </a:extLst>
        </p:cNvPr>
        <p:cNvGrpSpPr/>
        <p:nvPr/>
      </p:nvGrpSpPr>
      <p:grpSpPr>
        <a:xfrm>
          <a:off x="0" y="0"/>
          <a:ext cx="0" cy="0"/>
          <a:chOff x="0" y="0"/>
          <a:chExt cx="0" cy="0"/>
        </a:xfrm>
      </p:grpSpPr>
      <p:sp>
        <p:nvSpPr>
          <p:cNvPr id="148" name="Google Shape;148;p32">
            <a:extLst>
              <a:ext uri="{FF2B5EF4-FFF2-40B4-BE49-F238E27FC236}">
                <a16:creationId xmlns:a16="http://schemas.microsoft.com/office/drawing/2014/main" id="{6890CAFF-B524-28D6-D00E-CDEC69D1B2EA}"/>
              </a:ext>
            </a:extLst>
          </p:cNvPr>
          <p:cNvSpPr txBox="1">
            <a:spLocks noGrp="1"/>
          </p:cNvSpPr>
          <p:nvPr>
            <p:ph type="title"/>
          </p:nvPr>
        </p:nvSpPr>
        <p:spPr>
          <a:xfrm>
            <a:off x="1035016" y="1869975"/>
            <a:ext cx="7073967" cy="1403550"/>
          </a:xfrm>
          <a:prstGeom prst="rect">
            <a:avLst/>
          </a:prstGeom>
          <a:noFill/>
          <a:ln>
            <a:noFill/>
          </a:ln>
        </p:spPr>
        <p:txBody>
          <a:bodyPr spcFirstLastPara="1" wrap="square" lIns="91425" tIns="91425" rIns="91425" bIns="91425" anchor="t" anchorCtr="0">
            <a:noAutofit/>
          </a:bodyPr>
          <a:lstStyle/>
          <a:p>
            <a:pPr lvl="0" algn="ctr"/>
            <a:r>
              <a:rPr lang="en-US" b="1" dirty="0">
                <a:latin typeface="Open Sans" panose="020B0606030504020204" pitchFamily="34" charset="0"/>
                <a:ea typeface="Open Sans" panose="020B0606030504020204" pitchFamily="34" charset="0"/>
                <a:cs typeface="Open Sans" panose="020B0606030504020204" pitchFamily="34" charset="0"/>
              </a:rPr>
              <a:t>Sequencing Pipelines and Data Interpretation </a:t>
            </a:r>
            <a:endParaRPr b="1" dirty="0">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4411541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EA5CDF6-380A-E24A-757A-7DA4A3AA24DB}"/>
              </a:ext>
            </a:extLst>
          </p:cNvPr>
          <p:cNvPicPr>
            <a:picLocks noChangeAspect="1"/>
          </p:cNvPicPr>
          <p:nvPr/>
        </p:nvPicPr>
        <p:blipFill>
          <a:blip r:embed="rId3"/>
          <a:stretch>
            <a:fillRect/>
          </a:stretch>
        </p:blipFill>
        <p:spPr>
          <a:xfrm>
            <a:off x="736861" y="631152"/>
            <a:ext cx="2706392" cy="4059588"/>
          </a:xfrm>
          <a:prstGeom prst="rect">
            <a:avLst/>
          </a:prstGeom>
        </p:spPr>
      </p:pic>
      <p:sp>
        <p:nvSpPr>
          <p:cNvPr id="2" name="Title 1">
            <a:extLst>
              <a:ext uri="{FF2B5EF4-FFF2-40B4-BE49-F238E27FC236}">
                <a16:creationId xmlns:a16="http://schemas.microsoft.com/office/drawing/2014/main" id="{0E3FB811-EF18-FD6E-3E02-A7ECDEEAF9CE}"/>
              </a:ext>
            </a:extLst>
          </p:cNvPr>
          <p:cNvSpPr>
            <a:spLocks noGrp="1"/>
          </p:cNvSpPr>
          <p:nvPr>
            <p:ph type="title"/>
          </p:nvPr>
        </p:nvSpPr>
        <p:spPr/>
        <p:txBody>
          <a:bodyPr/>
          <a:lstStyle/>
          <a:p>
            <a:r>
              <a:rPr lang="en-US" dirty="0"/>
              <a:t>Pipeline Operation</a:t>
            </a:r>
          </a:p>
        </p:txBody>
      </p:sp>
      <p:sp>
        <p:nvSpPr>
          <p:cNvPr id="8" name="TextBox 7">
            <a:extLst>
              <a:ext uri="{FF2B5EF4-FFF2-40B4-BE49-F238E27FC236}">
                <a16:creationId xmlns:a16="http://schemas.microsoft.com/office/drawing/2014/main" id="{3A1EBAEE-A056-8F8E-4826-7C9414722497}"/>
              </a:ext>
            </a:extLst>
          </p:cNvPr>
          <p:cNvSpPr txBox="1"/>
          <p:nvPr/>
        </p:nvSpPr>
        <p:spPr>
          <a:xfrm>
            <a:off x="2090057" y="5973288"/>
            <a:ext cx="184731" cy="307777"/>
          </a:xfrm>
          <a:prstGeom prst="rect">
            <a:avLst/>
          </a:prstGeom>
          <a:noFill/>
        </p:spPr>
        <p:txBody>
          <a:bodyPr wrap="none" rtlCol="0">
            <a:spAutoFit/>
          </a:bodyPr>
          <a:lstStyle/>
          <a:p>
            <a:endParaRPr lang="en-US" dirty="0"/>
          </a:p>
        </p:txBody>
      </p:sp>
      <p:sp>
        <p:nvSpPr>
          <p:cNvPr id="14" name="TextBox 13">
            <a:extLst>
              <a:ext uri="{FF2B5EF4-FFF2-40B4-BE49-F238E27FC236}">
                <a16:creationId xmlns:a16="http://schemas.microsoft.com/office/drawing/2014/main" id="{D1F73654-5E31-621C-B81A-77E00F95977C}"/>
              </a:ext>
            </a:extLst>
          </p:cNvPr>
          <p:cNvSpPr txBox="1"/>
          <p:nvPr/>
        </p:nvSpPr>
        <p:spPr>
          <a:xfrm>
            <a:off x="3868045" y="631152"/>
            <a:ext cx="4795391" cy="3785652"/>
          </a:xfrm>
          <a:prstGeom prst="rect">
            <a:avLst/>
          </a:prstGeom>
          <a:noFill/>
        </p:spPr>
        <p:txBody>
          <a:bodyPr wrap="square" rtlCol="0">
            <a:spAutoFit/>
          </a:bodyPr>
          <a:lstStyle/>
          <a:p>
            <a:pPr marL="285750" indent="-285750">
              <a:buFont typeface="Arial" panose="020B0604020202020204" pitchFamily="34" charset="0"/>
              <a:buChar char="•"/>
            </a:pPr>
            <a:r>
              <a:rPr lang="en-US" sz="1600" dirty="0">
                <a:latin typeface="Open Sans" panose="020B0606030504020204" pitchFamily="34" charset="0"/>
                <a:ea typeface="Open Sans" panose="020B0606030504020204" pitchFamily="34" charset="0"/>
                <a:cs typeface="Open Sans" panose="020B0606030504020204" pitchFamily="34" charset="0"/>
              </a:rPr>
              <a:t>Datasets were processed from raw FASTQ format using the Salmon-Alevin pipeline, enabling rapid quality control, quantification, initial analysis, and even filtering of low-quality cells and genes.</a:t>
            </a:r>
          </a:p>
          <a:p>
            <a:pPr marL="285750" indent="-285750">
              <a:buFont typeface="Arial" panose="020B0604020202020204" pitchFamily="34" charset="0"/>
              <a:buChar char="•"/>
            </a:pPr>
            <a:endParaRPr lang="en-US" sz="1600" dirty="0">
              <a:latin typeface="Open Sans" panose="020B0606030504020204" pitchFamily="34" charset="0"/>
              <a:ea typeface="Open Sans" panose="020B0606030504020204" pitchFamily="34" charset="0"/>
              <a:cs typeface="Open Sans" panose="020B0606030504020204" pitchFamily="34" charset="0"/>
            </a:endParaRPr>
          </a:p>
          <a:p>
            <a:pPr marL="285750" lvl="1" indent="-285750">
              <a:buFont typeface="Arial" panose="020B0604020202020204" pitchFamily="34" charset="0"/>
              <a:buChar char="•"/>
            </a:pPr>
            <a:r>
              <a:rPr lang="en-US" sz="1600" dirty="0">
                <a:latin typeface="Open Sans" panose="020B0606030504020204" pitchFamily="34" charset="0"/>
                <a:ea typeface="Open Sans" panose="020B0606030504020204" pitchFamily="34" charset="0"/>
                <a:cs typeface="Open Sans" panose="020B0606030504020204" pitchFamily="34" charset="0"/>
              </a:rPr>
              <a:t>This workflow produces clean, high-quality datasets in h5ad format, ready for integration and further exploration in a </a:t>
            </a:r>
            <a:r>
              <a:rPr lang="en-US" sz="1600" dirty="0" err="1">
                <a:latin typeface="Open Sans" panose="020B0606030504020204" pitchFamily="34" charset="0"/>
                <a:ea typeface="Open Sans" panose="020B0606030504020204" pitchFamily="34" charset="0"/>
                <a:cs typeface="Open Sans" panose="020B0606030504020204" pitchFamily="34" charset="0"/>
              </a:rPr>
              <a:t>Jupyter</a:t>
            </a:r>
            <a:r>
              <a:rPr lang="en-US" sz="1600" dirty="0">
                <a:latin typeface="Open Sans" panose="020B0606030504020204" pitchFamily="34" charset="0"/>
                <a:ea typeface="Open Sans" panose="020B0606030504020204" pitchFamily="34" charset="0"/>
                <a:cs typeface="Open Sans" panose="020B0606030504020204" pitchFamily="34" charset="0"/>
              </a:rPr>
              <a:t> notebook.</a:t>
            </a:r>
          </a:p>
          <a:p>
            <a:pPr marL="285750" lvl="1" indent="-285750">
              <a:buFont typeface="Arial" panose="020B0604020202020204" pitchFamily="34" charset="0"/>
              <a:buChar char="•"/>
            </a:pPr>
            <a:endParaRPr lang="en-US" sz="1600" dirty="0">
              <a:latin typeface="Open Sans" panose="020B0606030504020204" pitchFamily="34" charset="0"/>
              <a:ea typeface="Open Sans" panose="020B0606030504020204" pitchFamily="34" charset="0"/>
              <a:cs typeface="Open Sans" panose="020B0606030504020204" pitchFamily="34" charset="0"/>
            </a:endParaRPr>
          </a:p>
          <a:p>
            <a:pPr marL="285750" lvl="1" indent="-285750">
              <a:buFont typeface="Arial" panose="020B0604020202020204" pitchFamily="34" charset="0"/>
              <a:buChar char="•"/>
            </a:pPr>
            <a:r>
              <a:rPr lang="en-US" sz="1600" dirty="0">
                <a:latin typeface="Open Sans" panose="020B0606030504020204" pitchFamily="34" charset="0"/>
                <a:ea typeface="Open Sans" panose="020B0606030504020204" pitchFamily="34" charset="0"/>
                <a:cs typeface="Open Sans" panose="020B0606030504020204" pitchFamily="34" charset="0"/>
              </a:rPr>
              <a:t>Pipelines like this are essential for transforming raw sequencing data into readable, structured formats suitable for interpretation and analysis.</a:t>
            </a:r>
          </a:p>
        </p:txBody>
      </p:sp>
    </p:spTree>
    <p:extLst>
      <p:ext uri="{BB962C8B-B14F-4D97-AF65-F5344CB8AC3E}">
        <p14:creationId xmlns:p14="http://schemas.microsoft.com/office/powerpoint/2010/main" val="11382771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DC81F9-028C-E2EC-772C-06B234652CC6}"/>
              </a:ext>
            </a:extLst>
          </p:cNvPr>
          <p:cNvSpPr>
            <a:spLocks noGrp="1"/>
          </p:cNvSpPr>
          <p:nvPr>
            <p:ph type="title"/>
          </p:nvPr>
        </p:nvSpPr>
        <p:spPr>
          <a:xfrm>
            <a:off x="11150" y="6545"/>
            <a:ext cx="9144000" cy="601500"/>
          </a:xfrm>
        </p:spPr>
        <p:txBody>
          <a:bodyPr/>
          <a:lstStyle/>
          <a:p>
            <a:r>
              <a:rPr lang="en-US" dirty="0"/>
              <a:t>Raw Heart Data - </a:t>
            </a:r>
            <a:r>
              <a:rPr lang="en-US" dirty="0" err="1"/>
              <a:t>scRNAseq</a:t>
            </a:r>
            <a:endParaRPr lang="en-US" dirty="0"/>
          </a:p>
        </p:txBody>
      </p:sp>
      <p:sp>
        <p:nvSpPr>
          <p:cNvPr id="6" name="Rectangle 5">
            <a:extLst>
              <a:ext uri="{FF2B5EF4-FFF2-40B4-BE49-F238E27FC236}">
                <a16:creationId xmlns:a16="http://schemas.microsoft.com/office/drawing/2014/main" id="{3C6C64C8-C76C-B86B-D5DD-AEBEAF017869}"/>
              </a:ext>
            </a:extLst>
          </p:cNvPr>
          <p:cNvSpPr/>
          <p:nvPr/>
        </p:nvSpPr>
        <p:spPr>
          <a:xfrm>
            <a:off x="108466" y="912710"/>
            <a:ext cx="4014095" cy="238045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2"/>
                </a:solidFill>
              </a:rPr>
              <a:t>z</a:t>
            </a:r>
          </a:p>
        </p:txBody>
      </p:sp>
      <p:sp>
        <p:nvSpPr>
          <p:cNvPr id="17" name="Rectangle 16">
            <a:extLst>
              <a:ext uri="{FF2B5EF4-FFF2-40B4-BE49-F238E27FC236}">
                <a16:creationId xmlns:a16="http://schemas.microsoft.com/office/drawing/2014/main" id="{3C746E78-4921-1425-1910-B448A9B74A93}"/>
              </a:ext>
            </a:extLst>
          </p:cNvPr>
          <p:cNvSpPr/>
          <p:nvPr/>
        </p:nvSpPr>
        <p:spPr>
          <a:xfrm>
            <a:off x="4938462" y="912711"/>
            <a:ext cx="4014095" cy="238045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screenshot of a computer&#10;&#10;AI-generated content may be incorrect.">
            <a:extLst>
              <a:ext uri="{FF2B5EF4-FFF2-40B4-BE49-F238E27FC236}">
                <a16:creationId xmlns:a16="http://schemas.microsoft.com/office/drawing/2014/main" id="{5C8C8665-D41C-8027-0B8D-5FF21F99ECFC}"/>
              </a:ext>
            </a:extLst>
          </p:cNvPr>
          <p:cNvPicPr>
            <a:picLocks noChangeAspect="1"/>
          </p:cNvPicPr>
          <p:nvPr/>
        </p:nvPicPr>
        <p:blipFill>
          <a:blip r:embed="rId3"/>
          <a:stretch>
            <a:fillRect/>
          </a:stretch>
        </p:blipFill>
        <p:spPr>
          <a:xfrm>
            <a:off x="191443" y="1190883"/>
            <a:ext cx="3830131" cy="1793654"/>
          </a:xfrm>
          <a:prstGeom prst="rect">
            <a:avLst/>
          </a:prstGeom>
          <a:effectLst>
            <a:softEdge rad="56070"/>
          </a:effectLst>
        </p:spPr>
      </p:pic>
      <p:pic>
        <p:nvPicPr>
          <p:cNvPr id="15" name="Picture 14" descr="A screen shot of a computer&#10;&#10;AI-generated content may be incorrect.">
            <a:extLst>
              <a:ext uri="{FF2B5EF4-FFF2-40B4-BE49-F238E27FC236}">
                <a16:creationId xmlns:a16="http://schemas.microsoft.com/office/drawing/2014/main" id="{14AF36DA-ED82-58D2-AA11-3FE1A565CA18}"/>
              </a:ext>
            </a:extLst>
          </p:cNvPr>
          <p:cNvPicPr>
            <a:picLocks noChangeAspect="1"/>
          </p:cNvPicPr>
          <p:nvPr/>
        </p:nvPicPr>
        <p:blipFill>
          <a:blip r:embed="rId4"/>
          <a:stretch>
            <a:fillRect/>
          </a:stretch>
        </p:blipFill>
        <p:spPr>
          <a:xfrm>
            <a:off x="6812662" y="1206573"/>
            <a:ext cx="1994084" cy="1931475"/>
          </a:xfrm>
          <a:prstGeom prst="rect">
            <a:avLst/>
          </a:prstGeom>
          <a:effectLst>
            <a:softEdge rad="50800"/>
          </a:effectLst>
        </p:spPr>
      </p:pic>
      <p:pic>
        <p:nvPicPr>
          <p:cNvPr id="13" name="Picture 12" descr="A screenshot of a computer screen&#10;&#10;AI-generated content may be incorrect.">
            <a:extLst>
              <a:ext uri="{FF2B5EF4-FFF2-40B4-BE49-F238E27FC236}">
                <a16:creationId xmlns:a16="http://schemas.microsoft.com/office/drawing/2014/main" id="{BBD5B26C-B633-C406-0CBF-C2B7ED6B7291}"/>
              </a:ext>
            </a:extLst>
          </p:cNvPr>
          <p:cNvPicPr>
            <a:picLocks noChangeAspect="1"/>
          </p:cNvPicPr>
          <p:nvPr/>
        </p:nvPicPr>
        <p:blipFill>
          <a:blip r:embed="rId5"/>
          <a:stretch>
            <a:fillRect/>
          </a:stretch>
        </p:blipFill>
        <p:spPr>
          <a:xfrm>
            <a:off x="5063039" y="1008412"/>
            <a:ext cx="1603812" cy="2189047"/>
          </a:xfrm>
          <a:prstGeom prst="rect">
            <a:avLst/>
          </a:prstGeom>
          <a:effectLst>
            <a:softEdge rad="50800"/>
          </a:effectLst>
        </p:spPr>
      </p:pic>
      <p:sp>
        <p:nvSpPr>
          <p:cNvPr id="7" name="TextBox 6">
            <a:extLst>
              <a:ext uri="{FF2B5EF4-FFF2-40B4-BE49-F238E27FC236}">
                <a16:creationId xmlns:a16="http://schemas.microsoft.com/office/drawing/2014/main" id="{2FCF00EB-EC3A-2936-6486-86A0EF59346B}"/>
              </a:ext>
            </a:extLst>
          </p:cNvPr>
          <p:cNvSpPr txBox="1"/>
          <p:nvPr/>
        </p:nvSpPr>
        <p:spPr>
          <a:xfrm>
            <a:off x="124272" y="3536021"/>
            <a:ext cx="8890562"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err="1">
                <a:latin typeface="Open Sans" panose="020B0606030504020204" pitchFamily="34" charset="0"/>
                <a:ea typeface="Open Sans" panose="020B0606030504020204" pitchFamily="34" charset="0"/>
                <a:cs typeface="Open Sans" panose="020B0606030504020204" pitchFamily="34" charset="0"/>
              </a:rPr>
              <a:t>HuBMAP</a:t>
            </a:r>
            <a:r>
              <a:rPr lang="en-US" sz="1600" dirty="0">
                <a:latin typeface="Open Sans" panose="020B0606030504020204" pitchFamily="34" charset="0"/>
                <a:ea typeface="Open Sans" panose="020B0606030504020204" pitchFamily="34" charset="0"/>
                <a:cs typeface="Open Sans" panose="020B0606030504020204" pitchFamily="34" charset="0"/>
              </a:rPr>
              <a:t> raw heart data was read using the </a:t>
            </a:r>
            <a:r>
              <a:rPr lang="en-US" sz="1600" dirty="0" err="1">
                <a:latin typeface="Open Sans" panose="020B0606030504020204" pitchFamily="34" charset="0"/>
                <a:ea typeface="Open Sans" panose="020B0606030504020204" pitchFamily="34" charset="0"/>
                <a:cs typeface="Open Sans" panose="020B0606030504020204" pitchFamily="34" charset="0"/>
              </a:rPr>
              <a:t>AnnData</a:t>
            </a:r>
            <a:r>
              <a:rPr lang="en-US" sz="1600" dirty="0">
                <a:latin typeface="Open Sans" panose="020B0606030504020204" pitchFamily="34" charset="0"/>
                <a:ea typeface="Open Sans" panose="020B0606030504020204" pitchFamily="34" charset="0"/>
                <a:cs typeface="Open Sans" panose="020B0606030504020204" pitchFamily="34" charset="0"/>
              </a:rPr>
              <a:t>, which provides tools for interpreting and working with complex biological datasets.</a:t>
            </a:r>
          </a:p>
          <a:p>
            <a:pPr marL="285750" indent="-285750">
              <a:buFont typeface="Arial" panose="020B0604020202020204" pitchFamily="34" charset="0"/>
              <a:buChar char="•"/>
            </a:pPr>
            <a:endParaRPr lang="en-US" sz="1600"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US" sz="1600" dirty="0">
                <a:latin typeface="Open Sans" panose="020B0606030504020204" pitchFamily="34" charset="0"/>
                <a:ea typeface="Open Sans" panose="020B0606030504020204" pitchFamily="34" charset="0"/>
                <a:cs typeface="Open Sans" panose="020B0606030504020204" pitchFamily="34" charset="0"/>
              </a:rPr>
              <a:t>The pandas library enables targeted analysis of specific data points.</a:t>
            </a:r>
          </a:p>
        </p:txBody>
      </p:sp>
      <p:sp>
        <p:nvSpPr>
          <p:cNvPr id="8" name="Right Arrow 7">
            <a:extLst>
              <a:ext uri="{FF2B5EF4-FFF2-40B4-BE49-F238E27FC236}">
                <a16:creationId xmlns:a16="http://schemas.microsoft.com/office/drawing/2014/main" id="{152EFF39-B3DB-848E-7871-C4B1AFBC0F48}"/>
              </a:ext>
            </a:extLst>
          </p:cNvPr>
          <p:cNvSpPr/>
          <p:nvPr/>
        </p:nvSpPr>
        <p:spPr>
          <a:xfrm>
            <a:off x="4219534" y="2014837"/>
            <a:ext cx="631588" cy="314949"/>
          </a:xfrm>
          <a:prstGeom prst="rightArrow">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359652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679CFD-F975-8A6D-0633-A003838850EE}"/>
              </a:ext>
            </a:extLst>
          </p:cNvPr>
          <p:cNvSpPr>
            <a:spLocks noGrp="1"/>
          </p:cNvSpPr>
          <p:nvPr>
            <p:ph type="title"/>
          </p:nvPr>
        </p:nvSpPr>
        <p:spPr/>
        <p:txBody>
          <a:bodyPr/>
          <a:lstStyle/>
          <a:p>
            <a:r>
              <a:rPr lang="en-US" dirty="0"/>
              <a:t>Processed Heart Data – Pipeline Results </a:t>
            </a:r>
          </a:p>
        </p:txBody>
      </p:sp>
      <p:sp>
        <p:nvSpPr>
          <p:cNvPr id="4" name="Rectangle 3">
            <a:extLst>
              <a:ext uri="{FF2B5EF4-FFF2-40B4-BE49-F238E27FC236}">
                <a16:creationId xmlns:a16="http://schemas.microsoft.com/office/drawing/2014/main" id="{057EF5D1-0974-BD74-BAE3-9C7DFBAE3112}"/>
              </a:ext>
            </a:extLst>
          </p:cNvPr>
          <p:cNvSpPr/>
          <p:nvPr/>
        </p:nvSpPr>
        <p:spPr>
          <a:xfrm>
            <a:off x="474491" y="3389515"/>
            <a:ext cx="4547425" cy="12232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9" name="Rectangle 8">
            <a:extLst>
              <a:ext uri="{FF2B5EF4-FFF2-40B4-BE49-F238E27FC236}">
                <a16:creationId xmlns:a16="http://schemas.microsoft.com/office/drawing/2014/main" id="{EB49BE27-3939-FFA1-4921-41B172AEE078}"/>
              </a:ext>
            </a:extLst>
          </p:cNvPr>
          <p:cNvSpPr/>
          <p:nvPr/>
        </p:nvSpPr>
        <p:spPr>
          <a:xfrm>
            <a:off x="507452" y="660939"/>
            <a:ext cx="3637621" cy="25728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35CC84C-E73B-84D9-DE95-250F9DB6AD98}"/>
              </a:ext>
            </a:extLst>
          </p:cNvPr>
          <p:cNvSpPr/>
          <p:nvPr/>
        </p:nvSpPr>
        <p:spPr>
          <a:xfrm>
            <a:off x="5021917" y="671003"/>
            <a:ext cx="3126004" cy="257287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Picture 5" descr="A screenshot of a computer&#10;&#10;AI-generated content may be incorrect.">
            <a:extLst>
              <a:ext uri="{FF2B5EF4-FFF2-40B4-BE49-F238E27FC236}">
                <a16:creationId xmlns:a16="http://schemas.microsoft.com/office/drawing/2014/main" id="{B0ECB104-444A-6533-BF6D-3CD5EEBE72D2}"/>
              </a:ext>
            </a:extLst>
          </p:cNvPr>
          <p:cNvPicPr>
            <a:picLocks noChangeAspect="1"/>
          </p:cNvPicPr>
          <p:nvPr/>
        </p:nvPicPr>
        <p:blipFill>
          <a:blip r:embed="rId3"/>
          <a:stretch>
            <a:fillRect/>
          </a:stretch>
        </p:blipFill>
        <p:spPr>
          <a:xfrm>
            <a:off x="522625" y="3492460"/>
            <a:ext cx="4451155" cy="1017377"/>
          </a:xfrm>
          <a:prstGeom prst="rect">
            <a:avLst/>
          </a:prstGeom>
          <a:effectLst>
            <a:softEdge rad="38100"/>
          </a:effectLst>
        </p:spPr>
      </p:pic>
      <p:pic>
        <p:nvPicPr>
          <p:cNvPr id="8" name="Picture 7" descr="A screen shot of a computer&#10;&#10;AI-generated content may be incorrect.">
            <a:extLst>
              <a:ext uri="{FF2B5EF4-FFF2-40B4-BE49-F238E27FC236}">
                <a16:creationId xmlns:a16="http://schemas.microsoft.com/office/drawing/2014/main" id="{CCDE5F52-C0EE-AA73-7FFC-7967D43A9C65}"/>
              </a:ext>
            </a:extLst>
          </p:cNvPr>
          <p:cNvPicPr>
            <a:picLocks noChangeAspect="1"/>
          </p:cNvPicPr>
          <p:nvPr/>
        </p:nvPicPr>
        <p:blipFill>
          <a:blip r:embed="rId4"/>
          <a:stretch>
            <a:fillRect/>
          </a:stretch>
        </p:blipFill>
        <p:spPr>
          <a:xfrm>
            <a:off x="614497" y="755921"/>
            <a:ext cx="3423530" cy="2425473"/>
          </a:xfrm>
          <a:prstGeom prst="rect">
            <a:avLst/>
          </a:prstGeom>
          <a:effectLst>
            <a:softEdge rad="50800"/>
          </a:effectLst>
        </p:spPr>
      </p:pic>
      <p:pic>
        <p:nvPicPr>
          <p:cNvPr id="11" name="Picture 10" descr="A screenshot of a computer&#10;&#10;AI-generated content may be incorrect.">
            <a:extLst>
              <a:ext uri="{FF2B5EF4-FFF2-40B4-BE49-F238E27FC236}">
                <a16:creationId xmlns:a16="http://schemas.microsoft.com/office/drawing/2014/main" id="{06398F55-D517-C99B-BF2A-2157979A3B2B}"/>
              </a:ext>
            </a:extLst>
          </p:cNvPr>
          <p:cNvPicPr>
            <a:picLocks noChangeAspect="1"/>
          </p:cNvPicPr>
          <p:nvPr/>
        </p:nvPicPr>
        <p:blipFill>
          <a:blip r:embed="rId5"/>
          <a:stretch>
            <a:fillRect/>
          </a:stretch>
        </p:blipFill>
        <p:spPr>
          <a:xfrm>
            <a:off x="5133050" y="733489"/>
            <a:ext cx="2903738" cy="2447905"/>
          </a:xfrm>
          <a:prstGeom prst="rect">
            <a:avLst/>
          </a:prstGeom>
          <a:effectLst>
            <a:softEdge rad="50800"/>
          </a:effectLst>
        </p:spPr>
      </p:pic>
      <p:sp>
        <p:nvSpPr>
          <p:cNvPr id="3" name="TextBox 2">
            <a:extLst>
              <a:ext uri="{FF2B5EF4-FFF2-40B4-BE49-F238E27FC236}">
                <a16:creationId xmlns:a16="http://schemas.microsoft.com/office/drawing/2014/main" id="{5ED32D7E-5780-63F2-22F2-9D878B8963DF}"/>
              </a:ext>
            </a:extLst>
          </p:cNvPr>
          <p:cNvSpPr txBox="1"/>
          <p:nvPr/>
        </p:nvSpPr>
        <p:spPr>
          <a:xfrm>
            <a:off x="5070050" y="3277246"/>
            <a:ext cx="3666025" cy="1785104"/>
          </a:xfrm>
          <a:prstGeom prst="rect">
            <a:avLst/>
          </a:prstGeom>
          <a:noFill/>
        </p:spPr>
        <p:txBody>
          <a:bodyPr wrap="square" rtlCol="0">
            <a:spAutoFit/>
          </a:bodyPr>
          <a:lstStyle/>
          <a:p>
            <a:pPr marL="285750" indent="-285750">
              <a:buFont typeface="Arial" panose="020B0604020202020204" pitchFamily="34" charset="0"/>
              <a:buChar char="•"/>
            </a:pPr>
            <a:r>
              <a:rPr lang="en-US" sz="1200" dirty="0">
                <a:latin typeface="Open Sans" panose="020B0606030504020204" pitchFamily="34" charset="0"/>
                <a:ea typeface="Open Sans" panose="020B0606030504020204" pitchFamily="34" charset="0"/>
                <a:cs typeface="Open Sans" panose="020B0606030504020204" pitchFamily="34" charset="0"/>
              </a:rPr>
              <a:t>After filtering low-quality cells and weakly expressed genes, about 99% of cells and 75% of genes were filtered out. </a:t>
            </a:r>
          </a:p>
          <a:p>
            <a:pPr marL="285750" indent="-285750">
              <a:buFont typeface="Arial" panose="020B0604020202020204" pitchFamily="34" charset="0"/>
              <a:buChar char="•"/>
            </a:pPr>
            <a:endParaRPr lang="en-US" sz="1200"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US" sz="1200" dirty="0">
                <a:latin typeface="Open Sans" panose="020B0606030504020204" pitchFamily="34" charset="0"/>
                <a:ea typeface="Open Sans" panose="020B0606030504020204" pitchFamily="34" charset="0"/>
                <a:cs typeface="Open Sans" panose="020B0606030504020204" pitchFamily="34" charset="0"/>
              </a:rPr>
              <a:t>Pipeline utilized Leiden clustering, viewed with UMAPs plotted by scanpy. </a:t>
            </a:r>
          </a:p>
          <a:p>
            <a:pPr marL="285750" indent="-285750">
              <a:buFont typeface="Arial" panose="020B0604020202020204" pitchFamily="34" charset="0"/>
              <a:buChar char="•"/>
            </a:pPr>
            <a:endParaRPr lang="en-US" sz="1200"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US" sz="1200" dirty="0">
                <a:latin typeface="Open Sans" panose="020B0606030504020204" pitchFamily="34" charset="0"/>
                <a:ea typeface="Open Sans" panose="020B0606030504020204" pitchFamily="34" charset="0"/>
                <a:cs typeface="Open Sans" panose="020B0606030504020204" pitchFamily="34" charset="0"/>
              </a:rPr>
              <a:t>Metadata gives an overview of the data set.</a:t>
            </a:r>
          </a:p>
          <a:p>
            <a:pPr marL="285750" indent="-285750">
              <a:buFont typeface="Arial" panose="020B0604020202020204" pitchFamily="34" charset="0"/>
              <a:buChar char="•"/>
            </a:pPr>
            <a:endParaRPr lang="en-US" dirty="0"/>
          </a:p>
        </p:txBody>
      </p:sp>
      <p:sp>
        <p:nvSpPr>
          <p:cNvPr id="5" name="Bent Arrow 4">
            <a:extLst>
              <a:ext uri="{FF2B5EF4-FFF2-40B4-BE49-F238E27FC236}">
                <a16:creationId xmlns:a16="http://schemas.microsoft.com/office/drawing/2014/main" id="{5FBE6874-E904-6744-3A34-0F91115D1594}"/>
              </a:ext>
            </a:extLst>
          </p:cNvPr>
          <p:cNvSpPr/>
          <p:nvPr/>
        </p:nvSpPr>
        <p:spPr>
          <a:xfrm rot="18883916">
            <a:off x="33735" y="2940831"/>
            <a:ext cx="553327" cy="652144"/>
          </a:xfrm>
          <a:prstGeom prst="bentArrow">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 name="Right Arrow 6">
            <a:extLst>
              <a:ext uri="{FF2B5EF4-FFF2-40B4-BE49-F238E27FC236}">
                <a16:creationId xmlns:a16="http://schemas.microsoft.com/office/drawing/2014/main" id="{A18DB5E4-7940-6917-0A4E-0CE23C83D4AA}"/>
              </a:ext>
            </a:extLst>
          </p:cNvPr>
          <p:cNvSpPr/>
          <p:nvPr/>
        </p:nvSpPr>
        <p:spPr>
          <a:xfrm>
            <a:off x="4256206" y="1980463"/>
            <a:ext cx="631588" cy="314949"/>
          </a:xfrm>
          <a:prstGeom prst="rightArrow">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959798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A09578-7F69-701A-95ED-47B5D118BE11}"/>
              </a:ext>
            </a:extLst>
          </p:cNvPr>
          <p:cNvSpPr>
            <a:spLocks noGrp="1"/>
          </p:cNvSpPr>
          <p:nvPr>
            <p:ph type="title"/>
          </p:nvPr>
        </p:nvSpPr>
        <p:spPr/>
        <p:txBody>
          <a:bodyPr/>
          <a:lstStyle/>
          <a:p>
            <a:r>
              <a:rPr lang="en-US" dirty="0"/>
              <a:t>User Interface</a:t>
            </a:r>
          </a:p>
        </p:txBody>
      </p:sp>
      <p:sp>
        <p:nvSpPr>
          <p:cNvPr id="13" name="Rectangle 12">
            <a:extLst>
              <a:ext uri="{FF2B5EF4-FFF2-40B4-BE49-F238E27FC236}">
                <a16:creationId xmlns:a16="http://schemas.microsoft.com/office/drawing/2014/main" id="{2BB76799-8B39-6F21-EFEC-3A8E6BA947D6}"/>
              </a:ext>
            </a:extLst>
          </p:cNvPr>
          <p:cNvSpPr/>
          <p:nvPr/>
        </p:nvSpPr>
        <p:spPr>
          <a:xfrm>
            <a:off x="86264" y="688259"/>
            <a:ext cx="4070555" cy="227125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descr="A table with numbers and symbols&#10;&#10;AI-generated content may be incorrect.">
            <a:extLst>
              <a:ext uri="{FF2B5EF4-FFF2-40B4-BE49-F238E27FC236}">
                <a16:creationId xmlns:a16="http://schemas.microsoft.com/office/drawing/2014/main" id="{9CF1F942-7EFD-9EEA-697C-AA83934D7E5D}"/>
              </a:ext>
            </a:extLst>
          </p:cNvPr>
          <p:cNvPicPr>
            <a:picLocks noChangeAspect="1"/>
          </p:cNvPicPr>
          <p:nvPr/>
        </p:nvPicPr>
        <p:blipFill>
          <a:blip r:embed="rId3"/>
          <a:stretch>
            <a:fillRect/>
          </a:stretch>
        </p:blipFill>
        <p:spPr>
          <a:xfrm>
            <a:off x="155358" y="812990"/>
            <a:ext cx="3918722" cy="2042021"/>
          </a:xfrm>
          <a:prstGeom prst="rect">
            <a:avLst/>
          </a:prstGeom>
          <a:effectLst>
            <a:softEdge rad="25400"/>
          </a:effectLst>
        </p:spPr>
      </p:pic>
      <p:sp>
        <p:nvSpPr>
          <p:cNvPr id="11" name="Rectangle 10">
            <a:extLst>
              <a:ext uri="{FF2B5EF4-FFF2-40B4-BE49-F238E27FC236}">
                <a16:creationId xmlns:a16="http://schemas.microsoft.com/office/drawing/2014/main" id="{B94B5B5A-7BA9-E2AE-4501-76F39E862769}"/>
              </a:ext>
            </a:extLst>
          </p:cNvPr>
          <p:cNvSpPr/>
          <p:nvPr/>
        </p:nvSpPr>
        <p:spPr>
          <a:xfrm>
            <a:off x="155358" y="2391755"/>
            <a:ext cx="3918722" cy="223100"/>
          </a:xfrm>
          <a:prstGeom prst="rect">
            <a:avLst/>
          </a:prstGeom>
          <a:solidFill>
            <a:srgbClr val="FFFF00">
              <a:alpha val="45592"/>
            </a:srgb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00"/>
              </a:solidFill>
            </a:endParaRPr>
          </a:p>
        </p:txBody>
      </p:sp>
      <p:sp>
        <p:nvSpPr>
          <p:cNvPr id="12" name="Right Arrow 11">
            <a:extLst>
              <a:ext uri="{FF2B5EF4-FFF2-40B4-BE49-F238E27FC236}">
                <a16:creationId xmlns:a16="http://schemas.microsoft.com/office/drawing/2014/main" id="{9AA954B2-D664-F146-DC77-E6D2556962F8}"/>
              </a:ext>
            </a:extLst>
          </p:cNvPr>
          <p:cNvSpPr/>
          <p:nvPr/>
        </p:nvSpPr>
        <p:spPr>
          <a:xfrm>
            <a:off x="4256206" y="1980463"/>
            <a:ext cx="631588" cy="314949"/>
          </a:xfrm>
          <a:prstGeom prst="rightArrow">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28B18E9-6A35-2DA2-A0F6-E8F0058753CE}"/>
              </a:ext>
            </a:extLst>
          </p:cNvPr>
          <p:cNvSpPr/>
          <p:nvPr/>
        </p:nvSpPr>
        <p:spPr>
          <a:xfrm>
            <a:off x="4987181" y="688259"/>
            <a:ext cx="4001461" cy="227125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screenshot of a computer&#10;&#10;AI-generated content may be incorrect.">
            <a:extLst>
              <a:ext uri="{FF2B5EF4-FFF2-40B4-BE49-F238E27FC236}">
                <a16:creationId xmlns:a16="http://schemas.microsoft.com/office/drawing/2014/main" id="{EBBF282E-B41D-720C-EEBC-DF5ADD527EC6}"/>
              </a:ext>
            </a:extLst>
          </p:cNvPr>
          <p:cNvPicPr>
            <a:picLocks noChangeAspect="1"/>
          </p:cNvPicPr>
          <p:nvPr/>
        </p:nvPicPr>
        <p:blipFill>
          <a:blip r:embed="rId4"/>
          <a:stretch>
            <a:fillRect/>
          </a:stretch>
        </p:blipFill>
        <p:spPr>
          <a:xfrm>
            <a:off x="5094758" y="764245"/>
            <a:ext cx="3771057" cy="2090766"/>
          </a:xfrm>
          <a:prstGeom prst="rect">
            <a:avLst/>
          </a:prstGeom>
          <a:effectLst>
            <a:softEdge rad="25400"/>
          </a:effectLst>
        </p:spPr>
      </p:pic>
      <p:sp>
        <p:nvSpPr>
          <p:cNvPr id="17" name="Right Arrow 16">
            <a:extLst>
              <a:ext uri="{FF2B5EF4-FFF2-40B4-BE49-F238E27FC236}">
                <a16:creationId xmlns:a16="http://schemas.microsoft.com/office/drawing/2014/main" id="{8D88E4EA-0ED9-7CF5-BC97-53E204A19A5D}"/>
              </a:ext>
            </a:extLst>
          </p:cNvPr>
          <p:cNvSpPr/>
          <p:nvPr/>
        </p:nvSpPr>
        <p:spPr>
          <a:xfrm rot="9183329">
            <a:off x="4235779" y="2981011"/>
            <a:ext cx="631588" cy="314949"/>
          </a:xfrm>
          <a:prstGeom prst="rightArrow">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C80892A1-DBCA-3D2E-0756-BE3905DCDC05}"/>
              </a:ext>
            </a:extLst>
          </p:cNvPr>
          <p:cNvSpPr/>
          <p:nvPr/>
        </p:nvSpPr>
        <p:spPr>
          <a:xfrm>
            <a:off x="86264" y="3094892"/>
            <a:ext cx="4070555" cy="16529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Picture 19" descr="A screenshot of a computer screen&#10;&#10;AI-generated content may be incorrect.">
            <a:extLst>
              <a:ext uri="{FF2B5EF4-FFF2-40B4-BE49-F238E27FC236}">
                <a16:creationId xmlns:a16="http://schemas.microsoft.com/office/drawing/2014/main" id="{7CF0B7C8-2FA6-8E66-62EC-3DACDDF3493C}"/>
              </a:ext>
            </a:extLst>
          </p:cNvPr>
          <p:cNvPicPr>
            <a:picLocks noChangeAspect="1"/>
          </p:cNvPicPr>
          <p:nvPr/>
        </p:nvPicPr>
        <p:blipFill>
          <a:blip r:embed="rId5"/>
          <a:stretch>
            <a:fillRect/>
          </a:stretch>
        </p:blipFill>
        <p:spPr>
          <a:xfrm>
            <a:off x="316523" y="3185336"/>
            <a:ext cx="3470031" cy="1472066"/>
          </a:xfrm>
          <a:prstGeom prst="rect">
            <a:avLst/>
          </a:prstGeom>
          <a:effectLst>
            <a:softEdge rad="12700"/>
          </a:effectLst>
        </p:spPr>
      </p:pic>
      <p:sp>
        <p:nvSpPr>
          <p:cNvPr id="24" name="TextBox 23">
            <a:extLst>
              <a:ext uri="{FF2B5EF4-FFF2-40B4-BE49-F238E27FC236}">
                <a16:creationId xmlns:a16="http://schemas.microsoft.com/office/drawing/2014/main" id="{EDD9DF45-44A2-1044-A0B0-5493D2AEC240}"/>
              </a:ext>
            </a:extLst>
          </p:cNvPr>
          <p:cNvSpPr txBox="1"/>
          <p:nvPr/>
        </p:nvSpPr>
        <p:spPr>
          <a:xfrm>
            <a:off x="4887794" y="3185336"/>
            <a:ext cx="4084199" cy="1323439"/>
          </a:xfrm>
          <a:prstGeom prst="rect">
            <a:avLst/>
          </a:prstGeom>
          <a:noFill/>
        </p:spPr>
        <p:txBody>
          <a:bodyPr wrap="square" rtlCol="0">
            <a:spAutoFit/>
          </a:bodyPr>
          <a:lstStyle/>
          <a:p>
            <a:pPr marL="285750" indent="-285750">
              <a:buFont typeface="Arial" panose="020B0604020202020204" pitchFamily="34" charset="0"/>
              <a:buChar char="•"/>
            </a:pPr>
            <a:r>
              <a:rPr lang="en-US" sz="1600" dirty="0">
                <a:latin typeface="Open Sans" panose="020B0606030504020204" pitchFamily="34" charset="0"/>
                <a:ea typeface="Open Sans" panose="020B0606030504020204" pitchFamily="34" charset="0"/>
                <a:cs typeface="Open Sans" panose="020B0606030504020204" pitchFamily="34" charset="0"/>
              </a:rPr>
              <a:t>Metadata is integrated into the user interface, with tissue type overviews provided. Shiny app enables both gene and cell-level insights/comparisons.</a:t>
            </a:r>
          </a:p>
        </p:txBody>
      </p:sp>
      <p:sp>
        <p:nvSpPr>
          <p:cNvPr id="25" name="Rectangle 24">
            <a:extLst>
              <a:ext uri="{FF2B5EF4-FFF2-40B4-BE49-F238E27FC236}">
                <a16:creationId xmlns:a16="http://schemas.microsoft.com/office/drawing/2014/main" id="{D5EEFB31-4A54-501A-E4C8-950DAAD42B28}"/>
              </a:ext>
            </a:extLst>
          </p:cNvPr>
          <p:cNvSpPr/>
          <p:nvPr/>
        </p:nvSpPr>
        <p:spPr>
          <a:xfrm>
            <a:off x="6770760" y="1405784"/>
            <a:ext cx="431563" cy="115367"/>
          </a:xfrm>
          <a:prstGeom prst="rect">
            <a:avLst/>
          </a:prstGeom>
          <a:solidFill>
            <a:srgbClr val="FFFF00">
              <a:alpha val="46196"/>
            </a:srgb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822964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7">
          <a:extLst>
            <a:ext uri="{FF2B5EF4-FFF2-40B4-BE49-F238E27FC236}">
              <a16:creationId xmlns:a16="http://schemas.microsoft.com/office/drawing/2014/main" id="{A4F37D76-66D5-542D-E6A0-6567AE4226B3}"/>
            </a:ext>
          </a:extLst>
        </p:cNvPr>
        <p:cNvGrpSpPr/>
        <p:nvPr/>
      </p:nvGrpSpPr>
      <p:grpSpPr>
        <a:xfrm>
          <a:off x="0" y="0"/>
          <a:ext cx="0" cy="0"/>
          <a:chOff x="0" y="0"/>
          <a:chExt cx="0" cy="0"/>
        </a:xfrm>
      </p:grpSpPr>
      <p:sp>
        <p:nvSpPr>
          <p:cNvPr id="148" name="Google Shape;148;p32">
            <a:extLst>
              <a:ext uri="{FF2B5EF4-FFF2-40B4-BE49-F238E27FC236}">
                <a16:creationId xmlns:a16="http://schemas.microsoft.com/office/drawing/2014/main" id="{9979281D-DD56-2571-ADC3-E3EE884CCD35}"/>
              </a:ext>
            </a:extLst>
          </p:cNvPr>
          <p:cNvSpPr txBox="1">
            <a:spLocks noGrp="1"/>
          </p:cNvSpPr>
          <p:nvPr>
            <p:ph type="title"/>
          </p:nvPr>
        </p:nvSpPr>
        <p:spPr>
          <a:xfrm>
            <a:off x="893298" y="1936350"/>
            <a:ext cx="7357403" cy="635400"/>
          </a:xfrm>
          <a:prstGeom prst="rect">
            <a:avLst/>
          </a:prstGeom>
          <a:noFill/>
          <a:ln>
            <a:noFill/>
          </a:ln>
        </p:spPr>
        <p:txBody>
          <a:bodyPr spcFirstLastPara="1" wrap="square" lIns="91425" tIns="91425" rIns="91425" bIns="91425" anchor="t" anchorCtr="0">
            <a:noAutofit/>
          </a:bodyPr>
          <a:lstStyle/>
          <a:p>
            <a:pPr algn="ctr"/>
            <a:r>
              <a:rPr lang="en-US" b="1" dirty="0">
                <a:latin typeface="Open Sans" panose="020B0606030504020204" pitchFamily="34" charset="0"/>
                <a:ea typeface="Open Sans" panose="020B0606030504020204" pitchFamily="34" charset="0"/>
                <a:cs typeface="Open Sans" panose="020B0606030504020204" pitchFamily="34" charset="0"/>
              </a:rPr>
              <a:t>Leveraging Scanpy for Standardized Single-Cell Analysis</a:t>
            </a:r>
            <a:endParaRPr b="1" dirty="0">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12164167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07D1D-372F-232A-B5DB-699B7EA2C605}"/>
              </a:ext>
            </a:extLst>
          </p:cNvPr>
          <p:cNvSpPr>
            <a:spLocks noGrp="1"/>
          </p:cNvSpPr>
          <p:nvPr>
            <p:ph type="title"/>
          </p:nvPr>
        </p:nvSpPr>
        <p:spPr/>
        <p:txBody>
          <a:bodyPr/>
          <a:lstStyle/>
          <a:p>
            <a:r>
              <a:rPr lang="en-US" dirty="0"/>
              <a:t>Scanpy Pre-processing vs. Integration </a:t>
            </a:r>
          </a:p>
        </p:txBody>
      </p:sp>
      <p:sp>
        <p:nvSpPr>
          <p:cNvPr id="3" name="Text Placeholder 2">
            <a:extLst>
              <a:ext uri="{FF2B5EF4-FFF2-40B4-BE49-F238E27FC236}">
                <a16:creationId xmlns:a16="http://schemas.microsoft.com/office/drawing/2014/main" id="{51E2F891-925B-9095-9BD4-EDEDA331DFEA}"/>
              </a:ext>
            </a:extLst>
          </p:cNvPr>
          <p:cNvSpPr>
            <a:spLocks noGrp="1"/>
          </p:cNvSpPr>
          <p:nvPr>
            <p:ph type="body" idx="1"/>
          </p:nvPr>
        </p:nvSpPr>
        <p:spPr>
          <a:xfrm>
            <a:off x="0" y="4135366"/>
            <a:ext cx="9144000" cy="503820"/>
          </a:xfrm>
        </p:spPr>
        <p:txBody>
          <a:bodyPr/>
          <a:lstStyle/>
          <a:p>
            <a:r>
              <a:rPr lang="en-US" sz="1800" dirty="0">
                <a:solidFill>
                  <a:schemeClr val="bg2"/>
                </a:solidFill>
              </a:rPr>
              <a:t>Overall, scanpy is a Python toolkit used for analysis of large single-cell gene expression datasets.</a:t>
            </a:r>
          </a:p>
          <a:p>
            <a:endParaRPr lang="en-US" sz="1800" b="1" dirty="0">
              <a:solidFill>
                <a:schemeClr val="bg2"/>
              </a:solidFill>
            </a:endParaRPr>
          </a:p>
        </p:txBody>
      </p:sp>
      <p:sp>
        <p:nvSpPr>
          <p:cNvPr id="4" name="TextBox 3">
            <a:extLst>
              <a:ext uri="{FF2B5EF4-FFF2-40B4-BE49-F238E27FC236}">
                <a16:creationId xmlns:a16="http://schemas.microsoft.com/office/drawing/2014/main" id="{31785630-91D2-B490-65E3-E910855DCAC7}"/>
              </a:ext>
            </a:extLst>
          </p:cNvPr>
          <p:cNvSpPr txBox="1"/>
          <p:nvPr/>
        </p:nvSpPr>
        <p:spPr>
          <a:xfrm>
            <a:off x="221064" y="691050"/>
            <a:ext cx="4350936" cy="3908762"/>
          </a:xfrm>
          <a:prstGeom prst="rect">
            <a:avLst/>
          </a:prstGeom>
          <a:noFill/>
        </p:spPr>
        <p:txBody>
          <a:bodyPr wrap="square" rtlCol="0">
            <a:spAutoFit/>
          </a:bodyPr>
          <a:lstStyle/>
          <a:p>
            <a:r>
              <a:rPr lang="en-US" sz="1800" b="1" dirty="0">
                <a:solidFill>
                  <a:schemeClr val="bg2"/>
                </a:solidFill>
                <a:latin typeface="Open Sans" panose="020B0606030504020204" pitchFamily="34" charset="0"/>
                <a:ea typeface="Open Sans" panose="020B0606030504020204" pitchFamily="34" charset="0"/>
                <a:cs typeface="Open Sans" panose="020B0606030504020204" pitchFamily="34" charset="0"/>
              </a:rPr>
              <a:t>Pre-processing of data:</a:t>
            </a:r>
          </a:p>
          <a:p>
            <a:pPr marL="285750" lvl="1" indent="-285750">
              <a:buFont typeface="Arial" panose="020B0604020202020204" pitchFamily="34" charset="0"/>
              <a:buChar char="•"/>
            </a:pPr>
            <a:r>
              <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rPr>
              <a:t>Filters low-quality cells and genes.</a:t>
            </a:r>
          </a:p>
          <a:p>
            <a:pPr lvl="1"/>
            <a:endPar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endParaRPr>
          </a:p>
          <a:p>
            <a:pPr marL="285750" lvl="1" indent="-285750">
              <a:buFont typeface="Arial" panose="020B0604020202020204" pitchFamily="34" charset="0"/>
              <a:buChar char="•"/>
            </a:pPr>
            <a:r>
              <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rPr>
              <a:t>Normalizes data and visualizes gene/cell counts.</a:t>
            </a:r>
          </a:p>
          <a:p>
            <a:pPr lvl="1"/>
            <a:endPar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endParaRPr>
          </a:p>
          <a:p>
            <a:pPr marL="285750" lvl="1" indent="-285750">
              <a:buFont typeface="Arial" panose="020B0604020202020204" pitchFamily="34" charset="0"/>
              <a:buChar char="•"/>
            </a:pPr>
            <a:r>
              <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rPr>
              <a:t>Identifies highly variable genes.</a:t>
            </a:r>
          </a:p>
          <a:p>
            <a:pPr lvl="1"/>
            <a:endPar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endParaRPr>
          </a:p>
          <a:p>
            <a:pPr marL="285750" lvl="1" indent="-285750">
              <a:buFont typeface="Arial" panose="020B0604020202020204" pitchFamily="34" charset="0"/>
              <a:buChar char="•"/>
            </a:pPr>
            <a:r>
              <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rPr>
              <a:t>Computes Principal Component Analysis (PCA) to capture major variation.</a:t>
            </a:r>
          </a:p>
          <a:p>
            <a:endParaRPr lang="en-US" sz="1800" b="1" dirty="0">
              <a:solidFill>
                <a:schemeClr val="bg2"/>
              </a:solidFill>
            </a:endParaRPr>
          </a:p>
          <a:p>
            <a:endParaRPr lang="en-US" sz="1800" dirty="0">
              <a:solidFill>
                <a:schemeClr val="bg2"/>
              </a:solidFill>
            </a:endParaRPr>
          </a:p>
          <a:p>
            <a:r>
              <a:rPr lang="en-US" dirty="0"/>
              <a:t>	</a:t>
            </a:r>
          </a:p>
        </p:txBody>
      </p:sp>
      <p:sp>
        <p:nvSpPr>
          <p:cNvPr id="5" name="TextBox 4">
            <a:extLst>
              <a:ext uri="{FF2B5EF4-FFF2-40B4-BE49-F238E27FC236}">
                <a16:creationId xmlns:a16="http://schemas.microsoft.com/office/drawing/2014/main" id="{8FE64D02-D241-FDD8-09CA-2FDE0E26858B}"/>
              </a:ext>
            </a:extLst>
          </p:cNvPr>
          <p:cNvSpPr txBox="1"/>
          <p:nvPr/>
        </p:nvSpPr>
        <p:spPr>
          <a:xfrm>
            <a:off x="5007339" y="691050"/>
            <a:ext cx="3915597" cy="3077766"/>
          </a:xfrm>
          <a:prstGeom prst="rect">
            <a:avLst/>
          </a:prstGeom>
          <a:noFill/>
        </p:spPr>
        <p:txBody>
          <a:bodyPr wrap="square" rtlCol="0">
            <a:spAutoFit/>
          </a:bodyPr>
          <a:lstStyle/>
          <a:p>
            <a:r>
              <a:rPr lang="en-US" sz="1800" b="1" dirty="0">
                <a:solidFill>
                  <a:schemeClr val="bg2"/>
                </a:solidFill>
                <a:latin typeface="Open Sans" panose="020B0606030504020204" pitchFamily="34" charset="0"/>
                <a:ea typeface="Open Sans" panose="020B0606030504020204" pitchFamily="34" charset="0"/>
                <a:cs typeface="Open Sans" panose="020B0606030504020204" pitchFamily="34" charset="0"/>
              </a:rPr>
              <a:t>Data integration:</a:t>
            </a:r>
          </a:p>
          <a:p>
            <a:pPr marL="285750" lvl="1" indent="-285750">
              <a:buFont typeface="Arial" panose="020B0604020202020204" pitchFamily="34" charset="0"/>
              <a:buChar char="•"/>
            </a:pPr>
            <a:r>
              <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rPr>
              <a:t>Aligns multiple datasets in a shared feature space.</a:t>
            </a:r>
          </a:p>
          <a:p>
            <a:pPr marL="285750" lvl="1" indent="-285750">
              <a:buFont typeface="Arial" panose="020B0604020202020204" pitchFamily="34" charset="0"/>
              <a:buChar char="•"/>
            </a:pPr>
            <a:endPar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endParaRPr>
          </a:p>
          <a:p>
            <a:pPr marL="285750" lvl="1" indent="-285750">
              <a:buFont typeface="Arial" panose="020B0604020202020204" pitchFamily="34" charset="0"/>
              <a:buChar char="•"/>
            </a:pPr>
            <a:r>
              <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rPr>
              <a:t>Projects new cells into existing PCA/UMAP embeddings.</a:t>
            </a:r>
          </a:p>
          <a:p>
            <a:pPr marL="285750" lvl="1" indent="-285750">
              <a:buFont typeface="Arial" panose="020B0604020202020204" pitchFamily="34" charset="0"/>
              <a:buChar char="•"/>
            </a:pPr>
            <a:endPar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endParaRPr>
          </a:p>
          <a:p>
            <a:pPr marL="285750" lvl="1" indent="-285750">
              <a:buFont typeface="Arial" panose="020B0604020202020204" pitchFamily="34" charset="0"/>
              <a:buChar char="•"/>
            </a:pPr>
            <a:r>
              <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rPr>
              <a:t>Transfers annotations (e.g., cell types) from reference to new data.</a:t>
            </a:r>
          </a:p>
          <a:p>
            <a:endParaRPr lang="en-US" dirty="0"/>
          </a:p>
        </p:txBody>
      </p:sp>
    </p:spTree>
    <p:extLst>
      <p:ext uri="{BB962C8B-B14F-4D97-AF65-F5344CB8AC3E}">
        <p14:creationId xmlns:p14="http://schemas.microsoft.com/office/powerpoint/2010/main" val="7955546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138207B-8FEC-24EF-8D3A-7A15723DCF61}"/>
              </a:ext>
            </a:extLst>
          </p:cNvPr>
          <p:cNvSpPr/>
          <p:nvPr/>
        </p:nvSpPr>
        <p:spPr>
          <a:xfrm>
            <a:off x="58552" y="767810"/>
            <a:ext cx="1999224" cy="20390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2" name="Title 1">
            <a:extLst>
              <a:ext uri="{FF2B5EF4-FFF2-40B4-BE49-F238E27FC236}">
                <a16:creationId xmlns:a16="http://schemas.microsoft.com/office/drawing/2014/main" id="{E2C3D45E-3DF2-336B-CD17-BC999D0ABC0F}"/>
              </a:ext>
            </a:extLst>
          </p:cNvPr>
          <p:cNvSpPr>
            <a:spLocks noGrp="1"/>
          </p:cNvSpPr>
          <p:nvPr>
            <p:ph type="title"/>
          </p:nvPr>
        </p:nvSpPr>
        <p:spPr/>
        <p:txBody>
          <a:bodyPr/>
          <a:lstStyle/>
          <a:p>
            <a:r>
              <a:rPr lang="en-US" dirty="0"/>
              <a:t>Scanpy pre-processing: Heart and Kidney</a:t>
            </a:r>
          </a:p>
        </p:txBody>
      </p:sp>
      <p:pic>
        <p:nvPicPr>
          <p:cNvPr id="5" name="Picture 4" descr="A graph of a number of cells&#10;&#10;AI-generated content may be incorrect.">
            <a:extLst>
              <a:ext uri="{FF2B5EF4-FFF2-40B4-BE49-F238E27FC236}">
                <a16:creationId xmlns:a16="http://schemas.microsoft.com/office/drawing/2014/main" id="{BA81AF53-7067-28C4-204A-64616BE0F4BA}"/>
              </a:ext>
            </a:extLst>
          </p:cNvPr>
          <p:cNvPicPr>
            <a:picLocks noChangeAspect="1"/>
          </p:cNvPicPr>
          <p:nvPr/>
        </p:nvPicPr>
        <p:blipFill>
          <a:blip r:embed="rId3"/>
          <a:stretch>
            <a:fillRect/>
          </a:stretch>
        </p:blipFill>
        <p:spPr>
          <a:xfrm>
            <a:off x="92507" y="1141178"/>
            <a:ext cx="1931313" cy="1601877"/>
          </a:xfrm>
          <a:prstGeom prst="rect">
            <a:avLst/>
          </a:prstGeom>
          <a:effectLst>
            <a:softEdge rad="25400"/>
          </a:effectLst>
        </p:spPr>
      </p:pic>
      <p:pic>
        <p:nvPicPr>
          <p:cNvPr id="10" name="Picture 9">
            <a:extLst>
              <a:ext uri="{FF2B5EF4-FFF2-40B4-BE49-F238E27FC236}">
                <a16:creationId xmlns:a16="http://schemas.microsoft.com/office/drawing/2014/main" id="{4F630A48-2F30-01E3-1107-F24D7D38450F}"/>
              </a:ext>
            </a:extLst>
          </p:cNvPr>
          <p:cNvPicPr>
            <a:picLocks noChangeAspect="1"/>
          </p:cNvPicPr>
          <p:nvPr/>
        </p:nvPicPr>
        <p:blipFill>
          <a:blip r:embed="rId4"/>
          <a:stretch>
            <a:fillRect/>
          </a:stretch>
        </p:blipFill>
        <p:spPr>
          <a:xfrm>
            <a:off x="76866" y="853406"/>
            <a:ext cx="1962594" cy="287772"/>
          </a:xfrm>
          <a:prstGeom prst="rect">
            <a:avLst/>
          </a:prstGeom>
          <a:effectLst>
            <a:softEdge rad="25400"/>
          </a:effectLst>
        </p:spPr>
      </p:pic>
      <p:sp>
        <p:nvSpPr>
          <p:cNvPr id="12" name="Rectangle 11">
            <a:extLst>
              <a:ext uri="{FF2B5EF4-FFF2-40B4-BE49-F238E27FC236}">
                <a16:creationId xmlns:a16="http://schemas.microsoft.com/office/drawing/2014/main" id="{6701A205-FEA3-B77D-4021-A098A4DAB0F1}"/>
              </a:ext>
            </a:extLst>
          </p:cNvPr>
          <p:cNvSpPr/>
          <p:nvPr/>
        </p:nvSpPr>
        <p:spPr>
          <a:xfrm>
            <a:off x="2939840" y="767810"/>
            <a:ext cx="2256482" cy="20390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1" name="Picture 10">
            <a:extLst>
              <a:ext uri="{FF2B5EF4-FFF2-40B4-BE49-F238E27FC236}">
                <a16:creationId xmlns:a16="http://schemas.microsoft.com/office/drawing/2014/main" id="{6E9EC87B-9892-EDAE-474E-1F4AB58EA3A5}"/>
              </a:ext>
            </a:extLst>
          </p:cNvPr>
          <p:cNvPicPr>
            <a:picLocks noChangeAspect="1"/>
          </p:cNvPicPr>
          <p:nvPr/>
        </p:nvPicPr>
        <p:blipFill>
          <a:blip r:embed="rId5"/>
          <a:stretch>
            <a:fillRect/>
          </a:stretch>
        </p:blipFill>
        <p:spPr>
          <a:xfrm>
            <a:off x="3047463" y="811194"/>
            <a:ext cx="2041236" cy="1945544"/>
          </a:xfrm>
          <a:prstGeom prst="rect">
            <a:avLst/>
          </a:prstGeom>
          <a:effectLst>
            <a:softEdge rad="12700"/>
          </a:effectLst>
        </p:spPr>
      </p:pic>
      <p:sp>
        <p:nvSpPr>
          <p:cNvPr id="17" name="Rectangle 16">
            <a:extLst>
              <a:ext uri="{FF2B5EF4-FFF2-40B4-BE49-F238E27FC236}">
                <a16:creationId xmlns:a16="http://schemas.microsoft.com/office/drawing/2014/main" id="{C0E55BDC-063B-6352-56B0-42645E15A7BE}"/>
              </a:ext>
            </a:extLst>
          </p:cNvPr>
          <p:cNvSpPr/>
          <p:nvPr/>
        </p:nvSpPr>
        <p:spPr>
          <a:xfrm>
            <a:off x="6061097" y="820221"/>
            <a:ext cx="3024351" cy="19365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6" name="Picture 15" descr="A computer screen shot of text&#10;&#10;AI-generated content may be incorrect.">
            <a:extLst>
              <a:ext uri="{FF2B5EF4-FFF2-40B4-BE49-F238E27FC236}">
                <a16:creationId xmlns:a16="http://schemas.microsoft.com/office/drawing/2014/main" id="{A553DA06-0665-0BFC-4E98-E4519FE32F76}"/>
              </a:ext>
            </a:extLst>
          </p:cNvPr>
          <p:cNvPicPr>
            <a:picLocks noChangeAspect="1"/>
          </p:cNvPicPr>
          <p:nvPr/>
        </p:nvPicPr>
        <p:blipFill>
          <a:blip r:embed="rId6"/>
          <a:stretch>
            <a:fillRect/>
          </a:stretch>
        </p:blipFill>
        <p:spPr>
          <a:xfrm>
            <a:off x="6113506" y="936569"/>
            <a:ext cx="2927887" cy="1693894"/>
          </a:xfrm>
          <a:prstGeom prst="rect">
            <a:avLst/>
          </a:prstGeom>
        </p:spPr>
      </p:pic>
      <p:sp>
        <p:nvSpPr>
          <p:cNvPr id="20" name="Rectangle 19">
            <a:extLst>
              <a:ext uri="{FF2B5EF4-FFF2-40B4-BE49-F238E27FC236}">
                <a16:creationId xmlns:a16="http://schemas.microsoft.com/office/drawing/2014/main" id="{8E68DF03-721B-F144-4133-225399F21F01}"/>
              </a:ext>
            </a:extLst>
          </p:cNvPr>
          <p:cNvSpPr/>
          <p:nvPr/>
        </p:nvSpPr>
        <p:spPr>
          <a:xfrm>
            <a:off x="2123849" y="2923228"/>
            <a:ext cx="6849545" cy="17891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pic>
        <p:nvPicPr>
          <p:cNvPr id="19" name="Picture 18">
            <a:extLst>
              <a:ext uri="{FF2B5EF4-FFF2-40B4-BE49-F238E27FC236}">
                <a16:creationId xmlns:a16="http://schemas.microsoft.com/office/drawing/2014/main" id="{6C84DCDC-E6A9-0CCD-29B2-D5262CBA5A30}"/>
              </a:ext>
            </a:extLst>
          </p:cNvPr>
          <p:cNvPicPr>
            <a:picLocks noChangeAspect="1"/>
          </p:cNvPicPr>
          <p:nvPr/>
        </p:nvPicPr>
        <p:blipFill>
          <a:blip r:embed="rId7"/>
          <a:stretch>
            <a:fillRect/>
          </a:stretch>
        </p:blipFill>
        <p:spPr>
          <a:xfrm>
            <a:off x="2242679" y="2996672"/>
            <a:ext cx="6612471" cy="1649645"/>
          </a:xfrm>
          <a:prstGeom prst="rect">
            <a:avLst/>
          </a:prstGeom>
        </p:spPr>
      </p:pic>
      <p:sp>
        <p:nvSpPr>
          <p:cNvPr id="21" name="Plus 20">
            <a:extLst>
              <a:ext uri="{FF2B5EF4-FFF2-40B4-BE49-F238E27FC236}">
                <a16:creationId xmlns:a16="http://schemas.microsoft.com/office/drawing/2014/main" id="{BB9947BB-0195-D515-AB25-76C9C72EA490}"/>
              </a:ext>
            </a:extLst>
          </p:cNvPr>
          <p:cNvSpPr/>
          <p:nvPr/>
        </p:nvSpPr>
        <p:spPr>
          <a:xfrm>
            <a:off x="2100617" y="1496122"/>
            <a:ext cx="711181" cy="723482"/>
          </a:xfrm>
          <a:prstGeom prst="mathPlus">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23" name="Equal 22">
            <a:extLst>
              <a:ext uri="{FF2B5EF4-FFF2-40B4-BE49-F238E27FC236}">
                <a16:creationId xmlns:a16="http://schemas.microsoft.com/office/drawing/2014/main" id="{101AEF14-F9E6-1F70-8967-E973AF967A87}"/>
              </a:ext>
            </a:extLst>
          </p:cNvPr>
          <p:cNvSpPr/>
          <p:nvPr/>
        </p:nvSpPr>
        <p:spPr>
          <a:xfrm>
            <a:off x="709864" y="3404935"/>
            <a:ext cx="733926" cy="788905"/>
          </a:xfrm>
          <a:prstGeom prst="mathEqual">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4" name="Plus 23">
            <a:extLst>
              <a:ext uri="{FF2B5EF4-FFF2-40B4-BE49-F238E27FC236}">
                <a16:creationId xmlns:a16="http://schemas.microsoft.com/office/drawing/2014/main" id="{3699A3A1-8CB3-6627-1A75-929227700E3E}"/>
              </a:ext>
            </a:extLst>
          </p:cNvPr>
          <p:cNvSpPr/>
          <p:nvPr/>
        </p:nvSpPr>
        <p:spPr>
          <a:xfrm>
            <a:off x="5273119" y="1496122"/>
            <a:ext cx="711181" cy="723482"/>
          </a:xfrm>
          <a:prstGeom prst="mathPlus">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extLst>
      <p:ext uri="{BB962C8B-B14F-4D97-AF65-F5344CB8AC3E}">
        <p14:creationId xmlns:p14="http://schemas.microsoft.com/office/powerpoint/2010/main" val="14973381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BBEC55-CC28-C8ED-C8A7-1F72FD179DFD}"/>
              </a:ext>
            </a:extLst>
          </p:cNvPr>
          <p:cNvSpPr/>
          <p:nvPr/>
        </p:nvSpPr>
        <p:spPr>
          <a:xfrm>
            <a:off x="188045" y="1575189"/>
            <a:ext cx="4231342" cy="14514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2"/>
              </a:solidFill>
            </a:endParaRPr>
          </a:p>
        </p:txBody>
      </p:sp>
      <p:sp>
        <p:nvSpPr>
          <p:cNvPr id="2" name="Title 1">
            <a:extLst>
              <a:ext uri="{FF2B5EF4-FFF2-40B4-BE49-F238E27FC236}">
                <a16:creationId xmlns:a16="http://schemas.microsoft.com/office/drawing/2014/main" id="{73AAD514-004F-8EF9-CBD0-B92ED9CE76FB}"/>
              </a:ext>
            </a:extLst>
          </p:cNvPr>
          <p:cNvSpPr>
            <a:spLocks noGrp="1"/>
          </p:cNvSpPr>
          <p:nvPr>
            <p:ph type="title"/>
          </p:nvPr>
        </p:nvSpPr>
        <p:spPr/>
        <p:txBody>
          <a:bodyPr/>
          <a:lstStyle/>
          <a:p>
            <a:r>
              <a:rPr lang="en-US" dirty="0"/>
              <a:t>Scanpy – Data Integration with Ingest + BBKNN  </a:t>
            </a:r>
          </a:p>
        </p:txBody>
      </p:sp>
      <p:sp>
        <p:nvSpPr>
          <p:cNvPr id="3" name="Text Placeholder 2">
            <a:extLst>
              <a:ext uri="{FF2B5EF4-FFF2-40B4-BE49-F238E27FC236}">
                <a16:creationId xmlns:a16="http://schemas.microsoft.com/office/drawing/2014/main" id="{D34F7570-C9AE-8B45-A068-FAE054778B13}"/>
              </a:ext>
            </a:extLst>
          </p:cNvPr>
          <p:cNvSpPr>
            <a:spLocks noGrp="1"/>
          </p:cNvSpPr>
          <p:nvPr>
            <p:ph type="body" idx="1"/>
          </p:nvPr>
        </p:nvSpPr>
        <p:spPr>
          <a:xfrm>
            <a:off x="0" y="672353"/>
            <a:ext cx="9144000" cy="831982"/>
          </a:xfrm>
        </p:spPr>
        <p:txBody>
          <a:bodyPr/>
          <a:lstStyle/>
          <a:p>
            <a:r>
              <a:rPr lang="en-US" sz="1800" dirty="0">
                <a:solidFill>
                  <a:schemeClr val="bg2"/>
                </a:solidFill>
              </a:rPr>
              <a:t>Purpose: To map new single-cell data (Peripheral Blood Mononuclear Cells) onto a reference dataset while correcting for batch effects across datasets.</a:t>
            </a:r>
          </a:p>
        </p:txBody>
      </p:sp>
      <p:pic>
        <p:nvPicPr>
          <p:cNvPr id="4" name="Picture 3">
            <a:extLst>
              <a:ext uri="{FF2B5EF4-FFF2-40B4-BE49-F238E27FC236}">
                <a16:creationId xmlns:a16="http://schemas.microsoft.com/office/drawing/2014/main" id="{F9CA5714-5105-2C9A-E808-8B80BCEE6377}"/>
              </a:ext>
            </a:extLst>
          </p:cNvPr>
          <p:cNvPicPr>
            <a:picLocks noChangeAspect="1"/>
          </p:cNvPicPr>
          <p:nvPr/>
        </p:nvPicPr>
        <p:blipFill>
          <a:blip r:embed="rId3"/>
          <a:stretch>
            <a:fillRect/>
          </a:stretch>
        </p:blipFill>
        <p:spPr>
          <a:xfrm>
            <a:off x="270221" y="1682214"/>
            <a:ext cx="4077447" cy="1260965"/>
          </a:xfrm>
          <a:prstGeom prst="rect">
            <a:avLst/>
          </a:prstGeom>
          <a:effectLst>
            <a:softEdge rad="25400"/>
          </a:effectLst>
        </p:spPr>
      </p:pic>
      <p:sp>
        <p:nvSpPr>
          <p:cNvPr id="8" name="Rectangle 7">
            <a:extLst>
              <a:ext uri="{FF2B5EF4-FFF2-40B4-BE49-F238E27FC236}">
                <a16:creationId xmlns:a16="http://schemas.microsoft.com/office/drawing/2014/main" id="{131E3ED8-B918-97FB-45EA-0EFB0F5C1D45}"/>
              </a:ext>
            </a:extLst>
          </p:cNvPr>
          <p:cNvSpPr/>
          <p:nvPr/>
        </p:nvSpPr>
        <p:spPr>
          <a:xfrm>
            <a:off x="4763019" y="1575190"/>
            <a:ext cx="4231342" cy="14514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2"/>
              </a:solidFill>
            </a:endParaRPr>
          </a:p>
        </p:txBody>
      </p:sp>
      <p:sp>
        <p:nvSpPr>
          <p:cNvPr id="6" name="TextBox 5">
            <a:extLst>
              <a:ext uri="{FF2B5EF4-FFF2-40B4-BE49-F238E27FC236}">
                <a16:creationId xmlns:a16="http://schemas.microsoft.com/office/drawing/2014/main" id="{28B620DA-78F7-4E01-A671-05F569B0B05D}"/>
              </a:ext>
            </a:extLst>
          </p:cNvPr>
          <p:cNvSpPr txBox="1"/>
          <p:nvPr/>
        </p:nvSpPr>
        <p:spPr>
          <a:xfrm>
            <a:off x="188045" y="3106930"/>
            <a:ext cx="4231342" cy="1815882"/>
          </a:xfrm>
          <a:prstGeom prst="rect">
            <a:avLst/>
          </a:prstGeom>
          <a:noFill/>
        </p:spPr>
        <p:txBody>
          <a:bodyPr wrap="square" rtlCol="0">
            <a:spAutoFit/>
          </a:bodyPr>
          <a:lstStyle/>
          <a:p>
            <a:r>
              <a:rPr lang="en-US" b="1" dirty="0">
                <a:latin typeface="Open Sans" panose="020B0606030504020204" pitchFamily="34" charset="0"/>
                <a:ea typeface="Open Sans" panose="020B0606030504020204" pitchFamily="34" charset="0"/>
                <a:cs typeface="Open Sans" panose="020B0606030504020204" pitchFamily="34" charset="0"/>
              </a:rPr>
              <a:t>Ingest Mapping: </a:t>
            </a:r>
          </a:p>
          <a:p>
            <a:pPr marL="285750" indent="-285750">
              <a:buFont typeface="Arial" panose="020B0604020202020204" pitchFamily="34" charset="0"/>
              <a:buChar char="•"/>
            </a:pPr>
            <a:r>
              <a:rPr lang="en-US" dirty="0">
                <a:latin typeface="Open Sans" panose="020B0606030504020204" pitchFamily="34" charset="0"/>
                <a:ea typeface="Open Sans" panose="020B0606030504020204" pitchFamily="34" charset="0"/>
                <a:cs typeface="Open Sans" panose="020B0606030504020204" pitchFamily="34" charset="0"/>
              </a:rPr>
              <a:t>New cells are projected into the reference UMAP and inherit its clustering and annotations. </a:t>
            </a:r>
          </a:p>
          <a:p>
            <a:pPr marL="285750" indent="-285750">
              <a:buFont typeface="Arial" panose="020B0604020202020204" pitchFamily="34" charset="0"/>
              <a:buChar char="•"/>
            </a:pPr>
            <a:r>
              <a:rPr lang="en-US" dirty="0">
                <a:latin typeface="Open Sans" panose="020B0606030504020204" pitchFamily="34" charset="0"/>
                <a:ea typeface="Open Sans" panose="020B0606030504020204" pitchFamily="34" charset="0"/>
                <a:cs typeface="Open Sans" panose="020B0606030504020204" pitchFamily="34" charset="0"/>
              </a:rPr>
              <a:t>Some separation remains (e.g., in monocytes), but key cell types like T and B cells mix well, indicating partial batch alignment.</a:t>
            </a:r>
            <a:endParaRPr lang="en-US" b="1" dirty="0">
              <a:latin typeface="Open Sans" panose="020B0606030504020204" pitchFamily="34" charset="0"/>
              <a:ea typeface="Open Sans" panose="020B0606030504020204" pitchFamily="34" charset="0"/>
              <a:cs typeface="Open Sans" panose="020B0606030504020204" pitchFamily="34" charset="0"/>
            </a:endParaRPr>
          </a:p>
        </p:txBody>
      </p:sp>
      <p:pic>
        <p:nvPicPr>
          <p:cNvPr id="7" name="Picture 6">
            <a:extLst>
              <a:ext uri="{FF2B5EF4-FFF2-40B4-BE49-F238E27FC236}">
                <a16:creationId xmlns:a16="http://schemas.microsoft.com/office/drawing/2014/main" id="{87AE0D40-F264-9C12-942C-E71B96DC8E00}"/>
              </a:ext>
            </a:extLst>
          </p:cNvPr>
          <p:cNvPicPr>
            <a:picLocks noChangeAspect="1"/>
          </p:cNvPicPr>
          <p:nvPr/>
        </p:nvPicPr>
        <p:blipFill>
          <a:blip r:embed="rId4"/>
          <a:stretch>
            <a:fillRect/>
          </a:stretch>
        </p:blipFill>
        <p:spPr>
          <a:xfrm>
            <a:off x="4839966" y="1670449"/>
            <a:ext cx="4077447" cy="1260965"/>
          </a:xfrm>
          <a:prstGeom prst="rect">
            <a:avLst/>
          </a:prstGeom>
          <a:effectLst>
            <a:softEdge rad="25400"/>
          </a:effectLst>
        </p:spPr>
      </p:pic>
      <p:sp>
        <p:nvSpPr>
          <p:cNvPr id="9" name="TextBox 8">
            <a:extLst>
              <a:ext uri="{FF2B5EF4-FFF2-40B4-BE49-F238E27FC236}">
                <a16:creationId xmlns:a16="http://schemas.microsoft.com/office/drawing/2014/main" id="{13416775-7E11-2305-ACF9-429B47598E03}"/>
              </a:ext>
            </a:extLst>
          </p:cNvPr>
          <p:cNvSpPr txBox="1"/>
          <p:nvPr/>
        </p:nvSpPr>
        <p:spPr>
          <a:xfrm>
            <a:off x="4763019" y="3106930"/>
            <a:ext cx="4231342" cy="1384995"/>
          </a:xfrm>
          <a:prstGeom prst="rect">
            <a:avLst/>
          </a:prstGeom>
          <a:noFill/>
        </p:spPr>
        <p:txBody>
          <a:bodyPr wrap="square" rtlCol="0">
            <a:spAutoFit/>
          </a:bodyPr>
          <a:lstStyle/>
          <a:p>
            <a:r>
              <a:rPr lang="en-US" b="1" dirty="0">
                <a:latin typeface="Open Sans" panose="020B0606030504020204" pitchFamily="34" charset="0"/>
                <a:ea typeface="Open Sans" panose="020B0606030504020204" pitchFamily="34" charset="0"/>
                <a:cs typeface="Open Sans" panose="020B0606030504020204" pitchFamily="34" charset="0"/>
              </a:rPr>
              <a:t>BBKNN Mapping: </a:t>
            </a:r>
          </a:p>
          <a:p>
            <a:pPr marL="285750" indent="-285750">
              <a:buFont typeface="Arial" panose="020B0604020202020204" pitchFamily="34" charset="0"/>
              <a:buChar char="•"/>
            </a:pPr>
            <a:r>
              <a:rPr lang="en-US" dirty="0">
                <a:latin typeface="Open Sans" panose="020B0606030504020204" pitchFamily="34" charset="0"/>
                <a:ea typeface="Open Sans" panose="020B0606030504020204" pitchFamily="34" charset="0"/>
                <a:cs typeface="Open Sans" panose="020B0606030504020204" pitchFamily="34" charset="0"/>
              </a:rPr>
              <a:t>BBKNN corrects batch effects by rebuilding the neighbor graph, improving mixing across datasets. </a:t>
            </a:r>
          </a:p>
          <a:p>
            <a:pPr marL="285750" indent="-285750">
              <a:buFont typeface="Arial" panose="020B0604020202020204" pitchFamily="34" charset="0"/>
              <a:buChar char="•"/>
            </a:pPr>
            <a:r>
              <a:rPr lang="en-US" dirty="0">
                <a:latin typeface="Open Sans" panose="020B0606030504020204" pitchFamily="34" charset="0"/>
                <a:ea typeface="Open Sans" panose="020B0606030504020204" pitchFamily="34" charset="0"/>
                <a:cs typeface="Open Sans" panose="020B0606030504020204" pitchFamily="34" charset="0"/>
              </a:rPr>
              <a:t>Monocytes and dendritic cells integrate well, but the Megakaryocyte cluster is lost.</a:t>
            </a:r>
            <a:endParaRPr lang="en-US" b="1" dirty="0">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785024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95ECE3-E955-9D0B-1589-124A5A19A765}"/>
              </a:ext>
            </a:extLst>
          </p:cNvPr>
          <p:cNvSpPr>
            <a:spLocks noGrp="1"/>
          </p:cNvSpPr>
          <p:nvPr>
            <p:ph type="title"/>
          </p:nvPr>
        </p:nvSpPr>
        <p:spPr>
          <a:xfrm>
            <a:off x="290663" y="199460"/>
            <a:ext cx="8725745" cy="635400"/>
          </a:xfrm>
        </p:spPr>
        <p:txBody>
          <a:bodyPr/>
          <a:lstStyle/>
          <a:p>
            <a:pPr algn="ctr"/>
            <a:r>
              <a:rPr lang="en-US" b="1" dirty="0">
                <a:latin typeface="Open Sans" panose="020B0606030504020204" pitchFamily="34" charset="0"/>
                <a:ea typeface="Open Sans" panose="020B0606030504020204" pitchFamily="34" charset="0"/>
                <a:cs typeface="Open Sans" panose="020B0606030504020204" pitchFamily="34" charset="0"/>
              </a:rPr>
              <a:t>Key Takeaways </a:t>
            </a:r>
          </a:p>
        </p:txBody>
      </p:sp>
      <p:sp>
        <p:nvSpPr>
          <p:cNvPr id="3" name="Text Placeholder 2">
            <a:extLst>
              <a:ext uri="{FF2B5EF4-FFF2-40B4-BE49-F238E27FC236}">
                <a16:creationId xmlns:a16="http://schemas.microsoft.com/office/drawing/2014/main" id="{4B26E651-2633-342C-4950-D52D526A2DF1}"/>
              </a:ext>
            </a:extLst>
          </p:cNvPr>
          <p:cNvSpPr>
            <a:spLocks noGrp="1"/>
          </p:cNvSpPr>
          <p:nvPr>
            <p:ph type="body" idx="1"/>
          </p:nvPr>
        </p:nvSpPr>
        <p:spPr>
          <a:xfrm>
            <a:off x="380063" y="1070550"/>
            <a:ext cx="8725745" cy="3002400"/>
          </a:xfrm>
        </p:spPr>
        <p:txBody>
          <a:bodyPr/>
          <a:lstStyle/>
          <a:p>
            <a:pPr>
              <a:buFont typeface="Arial" panose="020B0604020202020204" pitchFamily="34" charset="0"/>
              <a:buChar char="•"/>
            </a:pPr>
            <a:r>
              <a:rPr lang="en-US" sz="1600" dirty="0">
                <a:latin typeface="Open Sans" panose="020B0606030504020204" pitchFamily="34" charset="0"/>
                <a:ea typeface="Open Sans" panose="020B0606030504020204" pitchFamily="34" charset="0"/>
                <a:cs typeface="Open Sans" panose="020B0606030504020204" pitchFamily="34" charset="0"/>
              </a:rPr>
              <a:t>Applied pipelines to process and interpret single-cell RNA-seq data.</a:t>
            </a:r>
          </a:p>
          <a:p>
            <a:pPr>
              <a:buFont typeface="Arial" panose="020B0604020202020204" pitchFamily="34" charset="0"/>
              <a:buChar char="•"/>
            </a:pPr>
            <a:r>
              <a:rPr lang="en-US" sz="1600" dirty="0">
                <a:latin typeface="Open Sans" panose="020B0606030504020204" pitchFamily="34" charset="0"/>
                <a:ea typeface="Open Sans" panose="020B0606030504020204" pitchFamily="34" charset="0"/>
                <a:cs typeface="Open Sans" panose="020B0606030504020204" pitchFamily="34" charset="0"/>
              </a:rPr>
              <a:t>Used Scanpy for standardized preprocessing, clustering, and visualization.</a:t>
            </a:r>
          </a:p>
          <a:p>
            <a:pPr>
              <a:buFont typeface="Arial" panose="020B0604020202020204" pitchFamily="34" charset="0"/>
              <a:buChar char="•"/>
            </a:pPr>
            <a:r>
              <a:rPr lang="en-US" sz="1600" dirty="0">
                <a:latin typeface="Open Sans" panose="020B0606030504020204" pitchFamily="34" charset="0"/>
                <a:ea typeface="Open Sans" panose="020B0606030504020204" pitchFamily="34" charset="0"/>
                <a:cs typeface="Open Sans" panose="020B0606030504020204" pitchFamily="34" charset="0"/>
              </a:rPr>
              <a:t>Demonstrated integration of datasets using Ingest and BBKNN, highlighting the impact of batch correction.</a:t>
            </a:r>
          </a:p>
          <a:p>
            <a:pPr>
              <a:buFont typeface="Arial" panose="020B0604020202020204" pitchFamily="34" charset="0"/>
              <a:buChar char="•"/>
            </a:pPr>
            <a:r>
              <a:rPr lang="en-US" sz="1600" dirty="0">
                <a:latin typeface="Open Sans" panose="020B0606030504020204" pitchFamily="34" charset="0"/>
                <a:ea typeface="Open Sans" panose="020B0606030504020204" pitchFamily="34" charset="0"/>
                <a:cs typeface="Open Sans" panose="020B0606030504020204" pitchFamily="34" charset="0"/>
              </a:rPr>
              <a:t>Explored real heart, kidney, and blood data to reveal biological structure and improve comparability.</a:t>
            </a:r>
          </a:p>
          <a:p>
            <a:pPr>
              <a:buFont typeface="Arial" panose="020B0604020202020204" pitchFamily="34" charset="0"/>
              <a:buChar char="•"/>
            </a:pPr>
            <a:r>
              <a:rPr lang="en-US" sz="1600" dirty="0">
                <a:latin typeface="Open Sans" panose="020B0606030504020204" pitchFamily="34" charset="0"/>
                <a:ea typeface="Open Sans" panose="020B0606030504020204" pitchFamily="34" charset="0"/>
                <a:cs typeface="Open Sans" panose="020B0606030504020204" pitchFamily="34" charset="0"/>
              </a:rPr>
              <a:t>Leveraged the </a:t>
            </a:r>
            <a:r>
              <a:rPr lang="en-US" sz="1600" dirty="0" err="1">
                <a:latin typeface="Open Sans" panose="020B0606030504020204" pitchFamily="34" charset="0"/>
                <a:ea typeface="Open Sans" panose="020B0606030504020204" pitchFamily="34" charset="0"/>
                <a:cs typeface="Open Sans" panose="020B0606030504020204" pitchFamily="34" charset="0"/>
              </a:rPr>
              <a:t>HuBMAP</a:t>
            </a:r>
            <a:r>
              <a:rPr lang="en-US" sz="1600" dirty="0">
                <a:latin typeface="Open Sans" panose="020B0606030504020204" pitchFamily="34" charset="0"/>
                <a:ea typeface="Open Sans" panose="020B0606030504020204" pitchFamily="34" charset="0"/>
                <a:cs typeface="Open Sans" panose="020B0606030504020204" pitchFamily="34" charset="0"/>
              </a:rPr>
              <a:t> portal and PSC resources for scalable, high-performance analysis.</a:t>
            </a:r>
          </a:p>
          <a:p>
            <a:pPr marL="139700" indent="0">
              <a:buNone/>
            </a:pPr>
            <a:endParaRPr lang="en-US" dirty="0"/>
          </a:p>
        </p:txBody>
      </p:sp>
    </p:spTree>
    <p:extLst>
      <p:ext uri="{BB962C8B-B14F-4D97-AF65-F5344CB8AC3E}">
        <p14:creationId xmlns:p14="http://schemas.microsoft.com/office/powerpoint/2010/main" val="12327199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34"/>
          <p:cNvSpPr txBox="1">
            <a:spLocks noGrp="1"/>
          </p:cNvSpPr>
          <p:nvPr>
            <p:ph type="sldNum" idx="12"/>
          </p:nvPr>
        </p:nvSpPr>
        <p:spPr>
          <a:xfrm>
            <a:off x="285750" y="4841483"/>
            <a:ext cx="1761300" cy="123000"/>
          </a:xfrm>
          <a:prstGeom prst="rect">
            <a:avLst/>
          </a:prstGeom>
          <a:solidFill>
            <a:srgbClr val="FFFFFF"/>
          </a:solidFill>
          <a:ln>
            <a:noFill/>
          </a:ln>
        </p:spPr>
        <p:txBody>
          <a:bodyPr spcFirstLastPara="1" wrap="square" lIns="0" tIns="0" rIns="0" bIns="0" anchor="b" anchorCtr="0">
            <a:noAutofit/>
          </a:bodyPr>
          <a:lstStyle/>
          <a:p>
            <a:pPr marL="0" lvl="0" indent="0" algn="l" rtl="0">
              <a:spcBef>
                <a:spcPts val="0"/>
              </a:spcBef>
              <a:spcAft>
                <a:spcPts val="0"/>
              </a:spcAft>
              <a:buClr>
                <a:srgbClr val="404040"/>
              </a:buClr>
              <a:buSzPts val="800"/>
              <a:buFont typeface="Open Sans"/>
              <a:buNone/>
            </a:pPr>
            <a:fld id="{00000000-1234-1234-1234-123412341234}" type="slidenum">
              <a:rPr lang="en"/>
              <a:t>16</a:t>
            </a:fld>
            <a:endParaRPr/>
          </a:p>
        </p:txBody>
      </p:sp>
      <p:sp>
        <p:nvSpPr>
          <p:cNvPr id="162" name="Google Shape;162;p34"/>
          <p:cNvSpPr txBox="1">
            <a:spLocks noGrp="1"/>
          </p:cNvSpPr>
          <p:nvPr>
            <p:ph type="title"/>
          </p:nvPr>
        </p:nvSpPr>
        <p:spPr>
          <a:xfrm>
            <a:off x="0" y="-1"/>
            <a:ext cx="9144000" cy="601500"/>
          </a:xfrm>
          <a:prstGeom prst="rect">
            <a:avLst/>
          </a:prstGeom>
          <a:solidFill>
            <a:srgbClr val="0075AF"/>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700"/>
              <a:buNone/>
            </a:pPr>
            <a:r>
              <a:rPr lang="en" dirty="0"/>
              <a:t>Acknowledgements</a:t>
            </a:r>
            <a:endParaRPr dirty="0"/>
          </a:p>
        </p:txBody>
      </p:sp>
      <p:sp>
        <p:nvSpPr>
          <p:cNvPr id="163" name="Google Shape;163;p34"/>
          <p:cNvSpPr txBox="1">
            <a:spLocks noGrp="1"/>
          </p:cNvSpPr>
          <p:nvPr>
            <p:ph type="body" idx="1"/>
          </p:nvPr>
        </p:nvSpPr>
        <p:spPr>
          <a:xfrm>
            <a:off x="285750" y="1009400"/>
            <a:ext cx="8675400" cy="3600600"/>
          </a:xfrm>
          <a:prstGeom prst="rect">
            <a:avLst/>
          </a:prstGeom>
          <a:noFill/>
          <a:ln>
            <a:noFill/>
          </a:ln>
        </p:spPr>
        <p:txBody>
          <a:bodyPr spcFirstLastPara="1" wrap="square" lIns="91425" tIns="91425" rIns="91425" bIns="91425" anchor="t" anchorCtr="0">
            <a:noAutofit/>
          </a:bodyPr>
          <a:lstStyle/>
          <a:p>
            <a:r>
              <a:rPr lang="en-US" sz="1600" dirty="0">
                <a:solidFill>
                  <a:schemeClr val="bg2"/>
                </a:solidFill>
                <a:latin typeface="Open Sans" panose="020B0606030504020204" pitchFamily="34" charset="0"/>
                <a:ea typeface="Open Sans" panose="020B0606030504020204" pitchFamily="34" charset="0"/>
                <a:cs typeface="Open Sans" panose="020B0606030504020204" pitchFamily="34" charset="0"/>
              </a:rPr>
              <a:t>Thank you to the </a:t>
            </a:r>
            <a:r>
              <a:rPr lang="en-US" sz="1600" dirty="0" err="1">
                <a:solidFill>
                  <a:schemeClr val="bg2"/>
                </a:solidFill>
                <a:latin typeface="Open Sans" panose="020B0606030504020204" pitchFamily="34" charset="0"/>
                <a:ea typeface="Open Sans" panose="020B0606030504020204" pitchFamily="34" charset="0"/>
                <a:cs typeface="Open Sans" panose="020B0606030504020204" pitchFamily="34" charset="0"/>
              </a:rPr>
              <a:t>HuBMAP</a:t>
            </a:r>
            <a:r>
              <a:rPr lang="en-US" sz="1600" dirty="0">
                <a:solidFill>
                  <a:schemeClr val="bg2"/>
                </a:solidFill>
                <a:latin typeface="Open Sans" panose="020B0606030504020204" pitchFamily="34" charset="0"/>
                <a:ea typeface="Open Sans" panose="020B0606030504020204" pitchFamily="34" charset="0"/>
                <a:cs typeface="Open Sans" panose="020B0606030504020204" pitchFamily="34" charset="0"/>
              </a:rPr>
              <a:t> HIVE teams, particularly </a:t>
            </a:r>
            <a:r>
              <a:rPr lang="en-US" sz="1600" dirty="0">
                <a:solidFill>
                  <a:schemeClr val="bg2"/>
                </a:solidFill>
              </a:rPr>
              <a:t>the CMU Tools Component team and the PSC IEC team for their guidance, technical support, and the tools that enabled my research. They have been instrumental in helping me explore, analyze, and interpret the complex biological data I used throughout this project.</a:t>
            </a:r>
            <a:br>
              <a:rPr lang="en-US" sz="1600" dirty="0">
                <a:solidFill>
                  <a:schemeClr val="bg2"/>
                </a:solidFill>
              </a:rPr>
            </a:br>
            <a:endParaRPr lang="en-US" sz="1600" dirty="0">
              <a:solidFill>
                <a:schemeClr val="bg2"/>
              </a:solidFill>
            </a:endParaRPr>
          </a:p>
          <a:p>
            <a:r>
              <a:rPr lang="en-US" sz="1600" dirty="0">
                <a:solidFill>
                  <a:schemeClr val="bg2"/>
                </a:solidFill>
              </a:rPr>
              <a:t>I want to give a special thanks to:</a:t>
            </a:r>
          </a:p>
          <a:p>
            <a:pPr lvl="1"/>
            <a:r>
              <a:rPr lang="en-US" sz="1600" dirty="0">
                <a:solidFill>
                  <a:schemeClr val="bg2"/>
                </a:solidFill>
              </a:rPr>
              <a:t>Matt Ruffalo (CMU): Principal Investigator, Systems Scientist</a:t>
            </a:r>
          </a:p>
          <a:p>
            <a:pPr lvl="1"/>
            <a:r>
              <a:rPr lang="en-US" sz="1600" dirty="0">
                <a:solidFill>
                  <a:schemeClr val="bg2"/>
                </a:solidFill>
              </a:rPr>
              <a:t>Penny Cuda (CMU): Research Programmer, HIVE Tools Component</a:t>
            </a:r>
          </a:p>
          <a:p>
            <a:pPr lvl="1"/>
            <a:r>
              <a:rPr lang="en-US" sz="1600" dirty="0">
                <a:solidFill>
                  <a:schemeClr val="bg2"/>
                </a:solidFill>
              </a:rPr>
              <a:t>Xiang Li (PSC): Senior Bioinformatics Support Specialist</a:t>
            </a: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wiss">
  <a:themeElements>
    <a:clrScheme name="Swiss">
      <a:dk1>
        <a:srgbClr val="444A65"/>
      </a:dk1>
      <a:lt1>
        <a:srgbClr val="FFFFFF"/>
      </a:lt1>
      <a:dk2>
        <a:srgbClr val="000000"/>
      </a:dk2>
      <a:lt2>
        <a:srgbClr val="757575"/>
      </a:lt2>
      <a:accent1>
        <a:srgbClr val="444A65"/>
      </a:accent1>
      <a:accent2>
        <a:srgbClr val="27C7BD"/>
      </a:accent2>
      <a:accent3>
        <a:srgbClr val="0099E8"/>
      </a:accent3>
      <a:accent4>
        <a:srgbClr val="51B9A3"/>
      </a:accent4>
      <a:accent5>
        <a:srgbClr val="FB8C00"/>
      </a:accent5>
      <a:accent6>
        <a:srgbClr val="FFAE88"/>
      </a:accent6>
      <a:hlink>
        <a:srgbClr val="9A220B"/>
      </a:hlink>
      <a:folHlink>
        <a:srgbClr val="0277B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5930</TotalTime>
  <Words>1913</Words>
  <Application>Microsoft Macintosh PowerPoint</Application>
  <PresentationFormat>On-screen Show (16:9)</PresentationFormat>
  <Paragraphs>139</Paragraphs>
  <Slides>16</Slides>
  <Notes>16</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16</vt:i4>
      </vt:variant>
    </vt:vector>
  </HeadingPairs>
  <TitlesOfParts>
    <vt:vector size="24" baseType="lpstr">
      <vt:lpstr>Calibri</vt:lpstr>
      <vt:lpstr>Lato</vt:lpstr>
      <vt:lpstr>Open Sans</vt:lpstr>
      <vt:lpstr>Arial</vt:lpstr>
      <vt:lpstr>Open Sans SemiBold</vt:lpstr>
      <vt:lpstr>Inter</vt:lpstr>
      <vt:lpstr>Simple Light</vt:lpstr>
      <vt:lpstr>Swiss</vt:lpstr>
      <vt:lpstr> Integrating and Interpreting Single-Cell Datasets</vt:lpstr>
      <vt:lpstr>Project Overview &amp; Background</vt:lpstr>
      <vt:lpstr>Pittsburgh Supercomputing Center (PSC)</vt:lpstr>
      <vt:lpstr>From Raw Data to Integration: Project Goals &amp; Tools</vt:lpstr>
      <vt:lpstr>HuBMAP Consortium Data Portal</vt:lpstr>
      <vt:lpstr>Sequencing Pipelines and Data Interpretation </vt:lpstr>
      <vt:lpstr>Pipeline Operation</vt:lpstr>
      <vt:lpstr>Raw Heart Data - scRNAseq</vt:lpstr>
      <vt:lpstr>Processed Heart Data – Pipeline Results </vt:lpstr>
      <vt:lpstr>User Interface</vt:lpstr>
      <vt:lpstr>Leveraging Scanpy for Standardized Single-Cell Analysis</vt:lpstr>
      <vt:lpstr>Scanpy Pre-processing vs. Integration </vt:lpstr>
      <vt:lpstr>Scanpy pre-processing: Heart and Kidney</vt:lpstr>
      <vt:lpstr>Scanpy – Data Integration with Ingest + BBKNN  </vt:lpstr>
      <vt:lpstr>Key Takeaways </vt:lpstr>
      <vt:lpstr>Acknowledgements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Lasota, Jack J</cp:lastModifiedBy>
  <cp:revision>27</cp:revision>
  <dcterms:modified xsi:type="dcterms:W3CDTF">2025-07-28T18:00:01Z</dcterms:modified>
</cp:coreProperties>
</file>